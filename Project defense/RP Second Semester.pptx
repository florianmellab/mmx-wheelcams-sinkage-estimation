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6"/>
  </p:notesMasterIdLst>
  <p:sldIdLst>
    <p:sldId id="256" r:id="rId5"/>
    <p:sldId id="262" r:id="rId6"/>
    <p:sldId id="263" r:id="rId7"/>
    <p:sldId id="287" r:id="rId8"/>
    <p:sldId id="286" r:id="rId9"/>
    <p:sldId id="264" r:id="rId10"/>
    <p:sldId id="265" r:id="rId11"/>
    <p:sldId id="266" r:id="rId12"/>
    <p:sldId id="273" r:id="rId13"/>
    <p:sldId id="276" r:id="rId14"/>
    <p:sldId id="277" r:id="rId15"/>
    <p:sldId id="268" r:id="rId16"/>
    <p:sldId id="269" r:id="rId17"/>
    <p:sldId id="278" r:id="rId18"/>
    <p:sldId id="274" r:id="rId19"/>
    <p:sldId id="275" r:id="rId20"/>
    <p:sldId id="270" r:id="rId21"/>
    <p:sldId id="279" r:id="rId22"/>
    <p:sldId id="281" r:id="rId23"/>
    <p:sldId id="282" r:id="rId24"/>
    <p:sldId id="284" r:id="rId25"/>
    <p:sldId id="288" r:id="rId26"/>
    <p:sldId id="272" r:id="rId27"/>
    <p:sldId id="289" r:id="rId28"/>
    <p:sldId id="290" r:id="rId29"/>
    <p:sldId id="291" r:id="rId30"/>
    <p:sldId id="292" r:id="rId31"/>
    <p:sldId id="295" r:id="rId32"/>
    <p:sldId id="296" r:id="rId33"/>
    <p:sldId id="293" r:id="rId34"/>
    <p:sldId id="29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AEFF"/>
    <a:srgbClr val="1DC4FF"/>
    <a:srgbClr val="00518E"/>
    <a:srgbClr val="F7EB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B631CD-0528-453D-8DBA-A743CF455888}" v="231" dt="2025-06-22T16:23:36.910"/>
    <p1510:client id="{72146039-5C10-4B4C-8CBB-426775C14240}" v="1091" dt="2025-06-23T07:03:54.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497" autoAdjust="0"/>
  </p:normalViewPr>
  <p:slideViewPr>
    <p:cSldViewPr snapToGrid="0">
      <p:cViewPr varScale="1">
        <p:scale>
          <a:sx n="56" d="100"/>
          <a:sy n="56" d="100"/>
        </p:scale>
        <p:origin x="1685"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4227F-D28C-4D9F-9F17-A1B4DDE1586A}" type="datetimeFigureOut">
              <a:rPr lang="en-US" smtClean="0"/>
              <a:t>6/23/2025</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FA7580-8799-469A-BB12-ED0505026B46}" type="slidenum">
              <a:rPr lang="en-US" smtClean="0"/>
              <a:t>‹#›</a:t>
            </a:fld>
            <a:endParaRPr lang="en-US"/>
          </a:p>
        </p:txBody>
      </p:sp>
    </p:spTree>
    <p:extLst>
      <p:ext uri="{BB962C8B-B14F-4D97-AF65-F5344CB8AC3E}">
        <p14:creationId xmlns:p14="http://schemas.microsoft.com/office/powerpoint/2010/main" val="388180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57FA7580-8799-469A-BB12-ED0505026B46}" type="slidenum">
              <a:rPr lang="en-US" smtClean="0"/>
              <a:t>1</a:t>
            </a:fld>
            <a:endParaRPr lang="en-US"/>
          </a:p>
        </p:txBody>
      </p:sp>
    </p:spTree>
    <p:extLst>
      <p:ext uri="{BB962C8B-B14F-4D97-AF65-F5344CB8AC3E}">
        <p14:creationId xmlns:p14="http://schemas.microsoft.com/office/powerpoint/2010/main" val="3702802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57FA7580-8799-469A-BB12-ED0505026B46}" type="slidenum">
              <a:rPr lang="en-US" smtClean="0"/>
              <a:t>2</a:t>
            </a:fld>
            <a:endParaRPr lang="en-US"/>
          </a:p>
        </p:txBody>
      </p:sp>
    </p:spTree>
    <p:extLst>
      <p:ext uri="{BB962C8B-B14F-4D97-AF65-F5344CB8AC3E}">
        <p14:creationId xmlns:p14="http://schemas.microsoft.com/office/powerpoint/2010/main" val="171216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1" kern="1200">
                <a:solidFill>
                  <a:schemeClr val="tx1"/>
                </a:solidFill>
                <a:effectLst/>
                <a:latin typeface="+mn-lt"/>
                <a:ea typeface="+mn-ea"/>
                <a:cs typeface="+mn-cs"/>
              </a:rPr>
              <a:t>INTRODUCTION:</a:t>
            </a:r>
          </a:p>
          <a:p>
            <a:endParaRPr lang="en-US"/>
          </a:p>
          <a:p>
            <a:pPr marL="171450" indent="-171450">
              <a:buFontTx/>
              <a:buChar char="-"/>
            </a:pPr>
            <a:r>
              <a:rPr lang="en-US"/>
              <a:t>MMX – 2026 – JAXA</a:t>
            </a:r>
          </a:p>
          <a:p>
            <a:pPr marL="171450" indent="-171450">
              <a:buFontTx/>
              <a:buChar char="-"/>
            </a:pPr>
            <a:r>
              <a:rPr lang="en-US"/>
              <a:t>Phobos and Deimos – Sample return mission</a:t>
            </a:r>
          </a:p>
          <a:p>
            <a:pPr marL="171450" indent="-171450">
              <a:buFontTx/>
              <a:buChar char="-"/>
            </a:pPr>
            <a:r>
              <a:rPr lang="en-US"/>
              <a:t>Unknown surface – landing risk</a:t>
            </a:r>
          </a:p>
          <a:p>
            <a:pPr marL="171450" indent="-171450">
              <a:buFontTx/>
              <a:buChar char="-"/>
            </a:pPr>
            <a:r>
              <a:rPr lang="en-US"/>
              <a:t>IDEFIX – in situ</a:t>
            </a:r>
          </a:p>
          <a:p>
            <a:pPr marL="0" indent="0">
              <a:buFontTx/>
              <a:buNone/>
            </a:pPr>
            <a:endParaRPr lang="en-US"/>
          </a:p>
        </p:txBody>
      </p:sp>
      <p:sp>
        <p:nvSpPr>
          <p:cNvPr id="4" name="Marcador de número de diapositiva 3"/>
          <p:cNvSpPr>
            <a:spLocks noGrp="1"/>
          </p:cNvSpPr>
          <p:nvPr>
            <p:ph type="sldNum" sz="quarter" idx="5"/>
          </p:nvPr>
        </p:nvSpPr>
        <p:spPr/>
        <p:txBody>
          <a:bodyPr/>
          <a:lstStyle/>
          <a:p>
            <a:fld id="{57FA7580-8799-469A-BB12-ED0505026B46}" type="slidenum">
              <a:rPr lang="en-US" smtClean="0"/>
              <a:t>3</a:t>
            </a:fld>
            <a:endParaRPr lang="en-US"/>
          </a:p>
        </p:txBody>
      </p:sp>
    </p:spTree>
    <p:extLst>
      <p:ext uri="{BB962C8B-B14F-4D97-AF65-F5344CB8AC3E}">
        <p14:creationId xmlns:p14="http://schemas.microsoft.com/office/powerpoint/2010/main" val="1619760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97F9-A461-0FB1-5832-AA2EFC458E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30F9A5-8340-A627-E918-A12522E5CA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D6BE12-61B9-B93F-DD75-31322DF5AF03}"/>
              </a:ext>
            </a:extLst>
          </p:cNvPr>
          <p:cNvSpPr>
            <a:spLocks noGrp="1"/>
          </p:cNvSpPr>
          <p:nvPr>
            <p:ph type="body" idx="1"/>
          </p:nvPr>
        </p:nvSpPr>
        <p:spPr/>
        <p:txBody>
          <a:bodyPr/>
          <a:lstStyle/>
          <a:p>
            <a:r>
              <a:rPr lang="en-US" sz="1200" b="1" kern="1200">
                <a:solidFill>
                  <a:schemeClr val="tx1"/>
                </a:solidFill>
                <a:effectLst/>
                <a:latin typeface="+mn-lt"/>
                <a:ea typeface="+mn-ea"/>
                <a:cs typeface="+mn-cs"/>
              </a:rPr>
              <a:t>INTRODUCTION:</a:t>
            </a:r>
          </a:p>
          <a:p>
            <a:endParaRPr lang="en-US"/>
          </a:p>
          <a:p>
            <a:pPr marL="171450" indent="-171450">
              <a:buFontTx/>
              <a:buChar char="-"/>
            </a:pPr>
            <a:r>
              <a:rPr lang="en-US"/>
              <a:t>This is IDEFIX</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err="1"/>
              <a:t>Intruments</a:t>
            </a:r>
            <a:r>
              <a:rPr lang="en-US"/>
              <a:t>: </a:t>
            </a:r>
            <a:r>
              <a:rPr lang="en-US" err="1"/>
              <a:t>navcams</a:t>
            </a:r>
            <a:r>
              <a:rPr lang="en-US"/>
              <a:t>, </a:t>
            </a:r>
            <a:r>
              <a:rPr lang="en-US" err="1"/>
              <a:t>wheelcams</a:t>
            </a:r>
            <a:r>
              <a:rPr lang="en-US"/>
              <a:t>, </a:t>
            </a:r>
            <a:r>
              <a:rPr lang="en-US" err="1"/>
              <a:t>raman</a:t>
            </a:r>
            <a:r>
              <a:rPr lang="en-US"/>
              <a:t> spectrometer and miniature radiometer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err="1"/>
              <a:t>Wheelcams</a:t>
            </a:r>
            <a:r>
              <a:rPr lang="en-US"/>
              <a:t> and LED (7)</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Field of view – wheel moves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Interaction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Properties -- + LED – composition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p>
          <a:p>
            <a:pPr marL="171450" indent="-171450">
              <a:buFontTx/>
              <a:buChar char="-"/>
            </a:pPr>
            <a:endParaRPr lang="en-US"/>
          </a:p>
          <a:p>
            <a:pPr marL="171450" indent="-171450">
              <a:buFontTx/>
              <a:buChar char="-"/>
            </a:pPr>
            <a:endParaRPr lang="en-US"/>
          </a:p>
        </p:txBody>
      </p:sp>
      <p:sp>
        <p:nvSpPr>
          <p:cNvPr id="4" name="Marcador de número de diapositiva 3">
            <a:extLst>
              <a:ext uri="{FF2B5EF4-FFF2-40B4-BE49-F238E27FC236}">
                <a16:creationId xmlns:a16="http://schemas.microsoft.com/office/drawing/2014/main" id="{ABF4354A-4A0E-2CE4-A7B4-42E2F82D1602}"/>
              </a:ext>
            </a:extLst>
          </p:cNvPr>
          <p:cNvSpPr>
            <a:spLocks noGrp="1"/>
          </p:cNvSpPr>
          <p:nvPr>
            <p:ph type="sldNum" sz="quarter" idx="5"/>
          </p:nvPr>
        </p:nvSpPr>
        <p:spPr/>
        <p:txBody>
          <a:bodyPr/>
          <a:lstStyle/>
          <a:p>
            <a:fld id="{57FA7580-8799-469A-BB12-ED0505026B46}" type="slidenum">
              <a:rPr lang="en-US" smtClean="0"/>
              <a:t>4</a:t>
            </a:fld>
            <a:endParaRPr lang="en-US"/>
          </a:p>
        </p:txBody>
      </p:sp>
    </p:spTree>
    <p:extLst>
      <p:ext uri="{BB962C8B-B14F-4D97-AF65-F5344CB8AC3E}">
        <p14:creationId xmlns:p14="http://schemas.microsoft.com/office/powerpoint/2010/main" val="421231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CD318-E361-6E75-EF5F-11B7D8419F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F79321-5DCE-0CB7-ABA1-1460346DBD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891769-9032-950A-83ED-7E76A031D668}"/>
              </a:ext>
            </a:extLst>
          </p:cNvPr>
          <p:cNvSpPr>
            <a:spLocks noGrp="1"/>
          </p:cNvSpPr>
          <p:nvPr>
            <p:ph type="body" idx="1"/>
          </p:nvPr>
        </p:nvSpPr>
        <p:spPr/>
        <p:txBody>
          <a:bodyPr/>
          <a:lstStyle/>
          <a:p>
            <a:r>
              <a:rPr lang="en-US" sz="1200" b="1" kern="1200">
                <a:solidFill>
                  <a:schemeClr val="tx1"/>
                </a:solidFill>
                <a:effectLst/>
                <a:latin typeface="+mn-lt"/>
                <a:ea typeface="+mn-ea"/>
                <a:cs typeface="+mn-cs"/>
              </a:rPr>
              <a:t>INTRODUCTION:</a:t>
            </a:r>
          </a:p>
          <a:p>
            <a:endParaRPr lang="en-US" sz="1200" b="1" kern="1200">
              <a:solidFill>
                <a:schemeClr val="tx1"/>
              </a:solidFill>
              <a:effectLst/>
              <a:latin typeface="+mn-lt"/>
              <a:ea typeface="+mn-ea"/>
              <a:cs typeface="+mn-cs"/>
            </a:endParaRPr>
          </a:p>
          <a:p>
            <a:pPr marL="171450" indent="-171450">
              <a:buFontTx/>
              <a:buChar char="-"/>
            </a:pPr>
            <a:r>
              <a:rPr lang="en-US" sz="1200" b="0" kern="1200">
                <a:solidFill>
                  <a:schemeClr val="tx1"/>
                </a:solidFill>
                <a:effectLst/>
                <a:latin typeface="+mn-lt"/>
                <a:ea typeface="+mn-ea"/>
                <a:cs typeface="+mn-cs"/>
              </a:rPr>
              <a:t>Big objectives such as the origin of the moons</a:t>
            </a:r>
          </a:p>
          <a:p>
            <a:pPr marL="171450" indent="-171450">
              <a:buFontTx/>
              <a:buChar char="-"/>
            </a:pPr>
            <a:r>
              <a:rPr lang="en-US" sz="1200" b="0" kern="1200">
                <a:solidFill>
                  <a:schemeClr val="tx1"/>
                </a:solidFill>
                <a:effectLst/>
                <a:latin typeface="+mn-lt"/>
                <a:ea typeface="+mn-ea"/>
                <a:cs typeface="+mn-cs"/>
              </a:rPr>
              <a:t>More conservative</a:t>
            </a:r>
          </a:p>
        </p:txBody>
      </p:sp>
      <p:sp>
        <p:nvSpPr>
          <p:cNvPr id="4" name="Marcador de número de diapositiva 3">
            <a:extLst>
              <a:ext uri="{FF2B5EF4-FFF2-40B4-BE49-F238E27FC236}">
                <a16:creationId xmlns:a16="http://schemas.microsoft.com/office/drawing/2014/main" id="{2024188E-DF17-8CBA-5A14-35443A094008}"/>
              </a:ext>
            </a:extLst>
          </p:cNvPr>
          <p:cNvSpPr>
            <a:spLocks noGrp="1"/>
          </p:cNvSpPr>
          <p:nvPr>
            <p:ph type="sldNum" sz="quarter" idx="5"/>
          </p:nvPr>
        </p:nvSpPr>
        <p:spPr/>
        <p:txBody>
          <a:bodyPr/>
          <a:lstStyle/>
          <a:p>
            <a:fld id="{57FA7580-8799-469A-BB12-ED0505026B46}" type="slidenum">
              <a:rPr lang="en-US" smtClean="0"/>
              <a:t>5</a:t>
            </a:fld>
            <a:endParaRPr lang="en-US"/>
          </a:p>
        </p:txBody>
      </p:sp>
    </p:spTree>
    <p:extLst>
      <p:ext uri="{BB962C8B-B14F-4D97-AF65-F5344CB8AC3E}">
        <p14:creationId xmlns:p14="http://schemas.microsoft.com/office/powerpoint/2010/main" val="171810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sz="1200" b="1" kern="1200" dirty="0">
                <a:solidFill>
                  <a:schemeClr val="tx1"/>
                </a:solidFill>
                <a:effectLst/>
                <a:latin typeface="+mn-lt"/>
                <a:ea typeface="+mn-ea"/>
                <a:cs typeface="+mn-cs"/>
              </a:rPr>
              <a:t>General context for what we are trying to do</a:t>
            </a:r>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Goal is to perform science with </a:t>
            </a:r>
            <a:r>
              <a:rPr lang="en-US" sz="1200" b="0" kern="1200" dirty="0" err="1">
                <a:solidFill>
                  <a:schemeClr val="tx1"/>
                </a:solidFill>
                <a:effectLst/>
                <a:latin typeface="+mn-lt"/>
                <a:ea typeface="+mn-ea"/>
                <a:cs typeface="+mn-cs"/>
              </a:rPr>
              <a:t>WheelCam</a:t>
            </a:r>
            <a:r>
              <a:rPr lang="en-US" sz="1200" b="0" kern="1200" dirty="0">
                <a:solidFill>
                  <a:schemeClr val="tx1"/>
                </a:solidFill>
                <a:effectLst/>
                <a:latin typeface="+mn-lt"/>
                <a:ea typeface="+mn-ea"/>
                <a:cs typeface="+mn-cs"/>
              </a:rPr>
              <a:t> images</a:t>
            </a:r>
          </a:p>
          <a:p>
            <a:r>
              <a:rPr lang="en-US" sz="1200" b="0" kern="1200" dirty="0">
                <a:solidFill>
                  <a:schemeClr val="tx1"/>
                </a:solidFill>
                <a:effectLst/>
                <a:latin typeface="+mn-lt"/>
                <a:ea typeface="+mn-ea"/>
                <a:cs typeface="+mn-cs"/>
              </a:rPr>
              <a:t>Contribute to understanding of composition of regolith on Phobos</a:t>
            </a:r>
            <a:endParaRPr lang="en-NL" sz="1200" b="0" kern="1200" dirty="0">
              <a:solidFill>
                <a:schemeClr val="tx1"/>
              </a:solidFill>
              <a:effectLst/>
              <a:latin typeface="+mn-lt"/>
              <a:ea typeface="+mn-ea"/>
              <a:cs typeface="+mn-cs"/>
            </a:endParaRPr>
          </a:p>
          <a:p>
            <a:endParaRPr lang="en-GB" sz="1200" b="1" kern="1200" dirty="0">
              <a:solidFill>
                <a:schemeClr val="tx1"/>
              </a:solidFill>
              <a:effectLst/>
              <a:latin typeface="+mn-lt"/>
              <a:ea typeface="+mn-ea"/>
              <a:cs typeface="+mn-cs"/>
            </a:endParaRPr>
          </a:p>
          <a:p>
            <a:r>
              <a:rPr lang="en-NL" sz="1200" b="1" kern="1200" dirty="0">
                <a:solidFill>
                  <a:schemeClr val="tx1"/>
                </a:solidFill>
                <a:effectLst/>
                <a:latin typeface="+mn-lt"/>
                <a:ea typeface="+mn-ea"/>
                <a:cs typeface="+mn-cs"/>
              </a:rPr>
              <a:t>Sinkage</a:t>
            </a:r>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First route explored is sinkage</a:t>
            </a:r>
          </a:p>
          <a:p>
            <a:r>
              <a:rPr lang="en-US" sz="1200" b="0" kern="1200" dirty="0">
                <a:solidFill>
                  <a:schemeClr val="tx1"/>
                </a:solidFill>
                <a:effectLst/>
                <a:latin typeface="+mn-lt"/>
                <a:ea typeface="+mn-ea"/>
                <a:cs typeface="+mn-cs"/>
              </a:rPr>
              <a:t>Together with wheel slip analysis constrain mechanical properties</a:t>
            </a:r>
          </a:p>
          <a:p>
            <a:r>
              <a:rPr lang="en-US" sz="1200" b="0" kern="1200" dirty="0">
                <a:solidFill>
                  <a:schemeClr val="tx1"/>
                </a:solidFill>
                <a:effectLst/>
                <a:latin typeface="+mn-lt"/>
                <a:ea typeface="+mn-ea"/>
                <a:cs typeface="+mn-cs"/>
              </a:rPr>
              <a:t>Influence on driving capability and main spacecraft landing dynamics</a:t>
            </a:r>
          </a:p>
          <a:p>
            <a:endParaRPr lang="en-US" dirty="0"/>
          </a:p>
          <a:p>
            <a:r>
              <a:rPr lang="en-US" b="1" dirty="0"/>
              <a:t>Spectral analysis</a:t>
            </a:r>
          </a:p>
          <a:p>
            <a:r>
              <a:rPr lang="en-US" b="0" dirty="0"/>
              <a:t>Second issue is to perform spectral analysis with </a:t>
            </a:r>
            <a:r>
              <a:rPr lang="en-US" b="0" dirty="0" err="1"/>
              <a:t>WheelCam</a:t>
            </a:r>
            <a:r>
              <a:rPr lang="en-US" b="0" dirty="0"/>
              <a:t> images</a:t>
            </a:r>
          </a:p>
          <a:p>
            <a:r>
              <a:rPr lang="en-US" b="0" dirty="0"/>
              <a:t>Problem: only get black/white images from panchromatic camera</a:t>
            </a:r>
          </a:p>
          <a:p>
            <a:r>
              <a:rPr lang="en-US" b="0" dirty="0" err="1"/>
              <a:t>Analyse</a:t>
            </a:r>
            <a:r>
              <a:rPr lang="en-US" b="0" dirty="0"/>
              <a:t> brightness</a:t>
            </a:r>
          </a:p>
          <a:p>
            <a:r>
              <a:rPr lang="en-US" b="0" dirty="0"/>
              <a:t>brightness proportional to reflectance.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Illuminate regolith in narrow wavelength using the colored LEDs.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Identify spectral signatures from brightness only  </a:t>
            </a:r>
            <a:endParaRPr lang="en-US" dirty="0"/>
          </a:p>
          <a:p>
            <a:r>
              <a:rPr lang="en-US" dirty="0"/>
              <a:t>Compare to known spectral curves.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Recognize materials</a:t>
            </a:r>
            <a:endParaRPr lang="en-US" dirty="0"/>
          </a:p>
          <a:p>
            <a:endParaRPr lang="en-US" dirty="0"/>
          </a:p>
        </p:txBody>
      </p:sp>
      <p:sp>
        <p:nvSpPr>
          <p:cNvPr id="4" name="Slide Number Placeholder 3"/>
          <p:cNvSpPr>
            <a:spLocks noGrp="1"/>
          </p:cNvSpPr>
          <p:nvPr>
            <p:ph type="sldNum" sz="quarter" idx="5"/>
          </p:nvPr>
        </p:nvSpPr>
        <p:spPr/>
        <p:txBody>
          <a:bodyPr/>
          <a:lstStyle/>
          <a:p>
            <a:fld id="{57FA7580-8799-469A-BB12-ED0505026B46}" type="slidenum">
              <a:rPr lang="en-US" smtClean="0"/>
              <a:t>6</a:t>
            </a:fld>
            <a:endParaRPr lang="en-US"/>
          </a:p>
        </p:txBody>
      </p:sp>
    </p:spTree>
    <p:extLst>
      <p:ext uri="{BB962C8B-B14F-4D97-AF65-F5344CB8AC3E}">
        <p14:creationId xmlns:p14="http://schemas.microsoft.com/office/powerpoint/2010/main" val="2028237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mn-lt"/>
                <a:ea typeface="+mn-ea"/>
                <a:cs typeface="+mn-cs"/>
              </a:rPr>
              <a:t>Why they built it</a:t>
            </a:r>
            <a:endParaRPr lang="en-NL"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Develop image processing tools</a:t>
            </a:r>
          </a:p>
          <a:p>
            <a:r>
              <a:rPr lang="en-GB" sz="1200" kern="1200">
                <a:solidFill>
                  <a:schemeClr val="tx1"/>
                </a:solidFill>
                <a:effectLst/>
                <a:latin typeface="+mn-lt"/>
                <a:ea typeface="+mn-ea"/>
                <a:cs typeface="+mn-cs"/>
              </a:rPr>
              <a:t>Simulate different environments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Uncertainty on Phobos: remote images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Tools must work with all conditions</a:t>
            </a:r>
          </a:p>
          <a:p>
            <a:endParaRPr lang="en-NL" sz="1200" kern="1200">
              <a:solidFill>
                <a:schemeClr val="tx1"/>
              </a:solidFill>
              <a:effectLst/>
              <a:latin typeface="+mn-lt"/>
              <a:ea typeface="+mn-ea"/>
              <a:cs typeface="+mn-cs"/>
            </a:endParaRPr>
          </a:p>
          <a:p>
            <a:r>
              <a:rPr lang="en-GB" sz="1200" b="1" kern="1200">
                <a:solidFill>
                  <a:schemeClr val="tx1"/>
                </a:solidFill>
                <a:effectLst/>
                <a:latin typeface="+mn-lt"/>
                <a:ea typeface="+mn-ea"/>
                <a:cs typeface="+mn-cs"/>
              </a:rPr>
              <a:t>How we have/will use it</a:t>
            </a:r>
            <a:endParaRPr lang="en-NL"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P</a:t>
            </a:r>
            <a:r>
              <a:rPr lang="en-NL" sz="1200" kern="1200">
                <a:solidFill>
                  <a:schemeClr val="tx1"/>
                </a:solidFill>
                <a:effectLst/>
                <a:latin typeface="+mn-lt"/>
                <a:ea typeface="+mn-ea"/>
                <a:cs typeface="+mn-cs"/>
              </a:rPr>
              <a:t>art of the methodology for our research.</a:t>
            </a:r>
            <a:endParaRPr lang="en-GB" sz="1200" kern="1200">
              <a:solidFill>
                <a:schemeClr val="tx1"/>
              </a:solidFill>
              <a:effectLst/>
              <a:latin typeface="+mn-lt"/>
              <a:ea typeface="+mn-ea"/>
              <a:cs typeface="+mn-cs"/>
            </a:endParaRPr>
          </a:p>
          <a:p>
            <a:endParaRPr lang="en-NL"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Sinkage part: </a:t>
            </a:r>
          </a:p>
          <a:p>
            <a:r>
              <a:rPr lang="en-GB" sz="1200" kern="1200">
                <a:solidFill>
                  <a:schemeClr val="tx1"/>
                </a:solidFill>
                <a:effectLst/>
                <a:latin typeface="+mn-lt"/>
                <a:ea typeface="+mn-ea"/>
                <a:cs typeface="+mn-cs"/>
              </a:rPr>
              <a:t>validation test set: vertical LASER ground truth</a:t>
            </a:r>
          </a:p>
          <a:p>
            <a:r>
              <a:rPr lang="en-GB" sz="1200" kern="1200">
                <a:solidFill>
                  <a:schemeClr val="tx1"/>
                </a:solidFill>
                <a:effectLst/>
                <a:latin typeface="+mn-lt"/>
                <a:ea typeface="+mn-ea"/>
                <a:cs typeface="+mn-cs"/>
              </a:rPr>
              <a:t>both cameras (front and rear)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Different </a:t>
            </a:r>
            <a:r>
              <a:rPr lang="en-GB" sz="1200" kern="1200" err="1">
                <a:solidFill>
                  <a:schemeClr val="tx1"/>
                </a:solidFill>
                <a:effectLst/>
                <a:latin typeface="+mn-lt"/>
                <a:ea typeface="+mn-ea"/>
                <a:cs typeface="+mn-cs"/>
              </a:rPr>
              <a:t>regolith</a:t>
            </a:r>
            <a:r>
              <a:rPr lang="en-GB" sz="1200" kern="1200">
                <a:solidFill>
                  <a:schemeClr val="tx1"/>
                </a:solidFill>
                <a:effectLst/>
                <a:latin typeface="+mn-lt"/>
                <a:ea typeface="+mn-ea"/>
                <a:cs typeface="+mn-cs"/>
              </a:rPr>
              <a:t> type (size, texture, reflectance), sinkage level</a:t>
            </a:r>
          </a:p>
          <a:p>
            <a:endParaRPr lang="en-NL"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Spectral </a:t>
            </a:r>
            <a:r>
              <a:rPr lang="en-NL" sz="1200" kern="1200">
                <a:solidFill>
                  <a:schemeClr val="tx1"/>
                </a:solidFill>
                <a:effectLst/>
                <a:latin typeface="+mn-lt"/>
                <a:ea typeface="+mn-ea"/>
                <a:cs typeface="+mn-cs"/>
              </a:rPr>
              <a:t>analysis</a:t>
            </a:r>
            <a:r>
              <a:rPr lang="en-US" sz="1200" kern="1200">
                <a:solidFill>
                  <a:schemeClr val="tx1"/>
                </a:solidFill>
                <a:effectLst/>
                <a:latin typeface="+mn-lt"/>
                <a:ea typeface="+mn-ea"/>
                <a:cs typeface="+mn-cs"/>
              </a:rPr>
              <a:t> part:</a:t>
            </a:r>
          </a:p>
          <a:p>
            <a:r>
              <a:rPr lang="es-MX" sz="1200" kern="1200">
                <a:solidFill>
                  <a:schemeClr val="tx1"/>
                </a:solidFill>
                <a:effectLst/>
                <a:latin typeface="+mn-lt"/>
                <a:ea typeface="+mn-ea"/>
                <a:cs typeface="+mn-cs"/>
              </a:rPr>
              <a:t>E</a:t>
            </a:r>
            <a:r>
              <a:rPr lang="en-NL" sz="1200" kern="1200" err="1">
                <a:solidFill>
                  <a:schemeClr val="tx1"/>
                </a:solidFill>
                <a:effectLst/>
                <a:latin typeface="+mn-lt"/>
                <a:ea typeface="+mn-ea"/>
                <a:cs typeface="+mn-cs"/>
              </a:rPr>
              <a:t>xperiments</a:t>
            </a:r>
            <a:r>
              <a:rPr lang="en-US" sz="1200" kern="1200">
                <a:solidFill>
                  <a:schemeClr val="tx1"/>
                </a:solidFill>
                <a:effectLst/>
                <a:latin typeface="+mn-lt"/>
                <a:ea typeface="+mn-ea"/>
                <a:cs typeface="+mn-cs"/>
              </a:rPr>
              <a:t> </a:t>
            </a:r>
            <a:r>
              <a:rPr lang="en-NL" sz="1200" kern="1200">
                <a:solidFill>
                  <a:schemeClr val="tx1"/>
                </a:solidFill>
                <a:effectLst/>
                <a:latin typeface="+mn-lt"/>
                <a:ea typeface="+mn-ea"/>
                <a:cs typeface="+mn-cs"/>
              </a:rPr>
              <a:t>conducted</a:t>
            </a:r>
            <a:r>
              <a:rPr lang="en-GB" sz="1200" kern="1200">
                <a:solidFill>
                  <a:schemeClr val="tx1"/>
                </a:solidFill>
                <a:effectLst/>
                <a:latin typeface="+mn-lt"/>
                <a:ea typeface="+mn-ea"/>
                <a:cs typeface="+mn-cs"/>
              </a:rPr>
              <a:t> using the </a:t>
            </a:r>
            <a:r>
              <a:rPr lang="en-GB" sz="1200" kern="1200" err="1">
                <a:solidFill>
                  <a:schemeClr val="tx1"/>
                </a:solidFill>
                <a:effectLst/>
                <a:latin typeface="+mn-lt"/>
                <a:ea typeface="+mn-ea"/>
                <a:cs typeface="+mn-cs"/>
              </a:rPr>
              <a:t>colored</a:t>
            </a:r>
            <a:r>
              <a:rPr lang="en-GB" sz="1200" kern="1200">
                <a:solidFill>
                  <a:schemeClr val="tx1"/>
                </a:solidFill>
                <a:effectLst/>
                <a:latin typeface="+mn-lt"/>
                <a:ea typeface="+mn-ea"/>
                <a:cs typeface="+mn-cs"/>
              </a:rPr>
              <a:t> LEDs</a:t>
            </a:r>
          </a:p>
          <a:p>
            <a:r>
              <a:rPr lang="en-GB" sz="1200" kern="1200">
                <a:solidFill>
                  <a:schemeClr val="tx1"/>
                </a:solidFill>
                <a:effectLst/>
                <a:latin typeface="+mn-lt"/>
                <a:ea typeface="+mn-ea"/>
                <a:cs typeface="+mn-cs"/>
              </a:rPr>
              <a:t>Understand </a:t>
            </a:r>
            <a:r>
              <a:rPr lang="en-GB" sz="1200" kern="1200" err="1">
                <a:solidFill>
                  <a:schemeClr val="tx1"/>
                </a:solidFill>
                <a:effectLst/>
                <a:latin typeface="+mn-lt"/>
                <a:ea typeface="+mn-ea"/>
                <a:cs typeface="+mn-cs"/>
              </a:rPr>
              <a:t>wether</a:t>
            </a:r>
            <a:r>
              <a:rPr lang="en-GB" sz="1200" kern="1200">
                <a:solidFill>
                  <a:schemeClr val="tx1"/>
                </a:solidFill>
                <a:effectLst/>
                <a:latin typeface="+mn-lt"/>
                <a:ea typeface="+mn-ea"/>
                <a:cs typeface="+mn-cs"/>
              </a:rPr>
              <a:t> useful spectral information about the </a:t>
            </a:r>
            <a:r>
              <a:rPr lang="en-GB" sz="1200" kern="1200" err="1">
                <a:solidFill>
                  <a:schemeClr val="tx1"/>
                </a:solidFill>
                <a:effectLst/>
                <a:latin typeface="+mn-lt"/>
                <a:ea typeface="+mn-ea"/>
                <a:cs typeface="+mn-cs"/>
              </a:rPr>
              <a:t>regolith</a:t>
            </a:r>
            <a:r>
              <a:rPr lang="en-GB" sz="1200" kern="1200">
                <a:solidFill>
                  <a:schemeClr val="tx1"/>
                </a:solidFill>
                <a:effectLst/>
                <a:latin typeface="+mn-lt"/>
                <a:ea typeface="+mn-ea"/>
                <a:cs typeface="+mn-cs"/>
              </a:rPr>
              <a:t> can be extracted from panchromatic </a:t>
            </a:r>
            <a:r>
              <a:rPr lang="en-GB" sz="1200" kern="1200" err="1">
                <a:solidFill>
                  <a:schemeClr val="tx1"/>
                </a:solidFill>
                <a:effectLst/>
                <a:latin typeface="+mn-lt"/>
                <a:ea typeface="+mn-ea"/>
                <a:cs typeface="+mn-cs"/>
              </a:rPr>
              <a:t>WheelCam</a:t>
            </a:r>
            <a:r>
              <a:rPr lang="en-GB" sz="1200" kern="1200">
                <a:solidFill>
                  <a:schemeClr val="tx1"/>
                </a:solidFill>
                <a:effectLst/>
                <a:latin typeface="+mn-lt"/>
                <a:ea typeface="+mn-ea"/>
                <a:cs typeface="+mn-cs"/>
              </a:rPr>
              <a:t> images.</a:t>
            </a:r>
          </a:p>
        </p:txBody>
      </p:sp>
      <p:sp>
        <p:nvSpPr>
          <p:cNvPr id="4" name="Slide Number Placeholder 3"/>
          <p:cNvSpPr>
            <a:spLocks noGrp="1"/>
          </p:cNvSpPr>
          <p:nvPr>
            <p:ph type="sldNum" sz="quarter" idx="5"/>
          </p:nvPr>
        </p:nvSpPr>
        <p:spPr/>
        <p:txBody>
          <a:bodyPr/>
          <a:lstStyle/>
          <a:p>
            <a:fld id="{57FA7580-8799-469A-BB12-ED0505026B46}" type="slidenum">
              <a:rPr lang="en-US" smtClean="0"/>
              <a:t>7</a:t>
            </a:fld>
            <a:endParaRPr lang="en-US"/>
          </a:p>
        </p:txBody>
      </p:sp>
    </p:spTree>
    <p:extLst>
      <p:ext uri="{BB962C8B-B14F-4D97-AF65-F5344CB8AC3E}">
        <p14:creationId xmlns:p14="http://schemas.microsoft.com/office/powerpoint/2010/main" val="2252511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ML vs. classical CV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Work in this domain by previous students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Developed ML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Did not reach desired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Now decided to switch to CV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b="0"/>
              <a:t>Interpretability of results: understand and follow what the algorithm does at each step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Data requirement: labeled training data time consuming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Robustness: quickly change model parameters to adapt to changing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b="1"/>
              <a:t>Segmentation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First step: binary segmentation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Wheel confidence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Average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Adaptive bounds: bounds tuning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NL" b="0"/>
          </a:p>
        </p:txBody>
      </p:sp>
      <p:sp>
        <p:nvSpPr>
          <p:cNvPr id="4" name="Slide Number Placeholder 3"/>
          <p:cNvSpPr>
            <a:spLocks noGrp="1"/>
          </p:cNvSpPr>
          <p:nvPr>
            <p:ph type="sldNum" sz="quarter" idx="5"/>
          </p:nvPr>
        </p:nvSpPr>
        <p:spPr/>
        <p:txBody>
          <a:bodyPr/>
          <a:lstStyle/>
          <a:p>
            <a:fld id="{57FA7580-8799-469A-BB12-ED0505026B46}" type="slidenum">
              <a:rPr lang="en-US" smtClean="0"/>
              <a:t>8</a:t>
            </a:fld>
            <a:endParaRPr lang="en-US"/>
          </a:p>
        </p:txBody>
      </p:sp>
    </p:spTree>
    <p:extLst>
      <p:ext uri="{BB962C8B-B14F-4D97-AF65-F5344CB8AC3E}">
        <p14:creationId xmlns:p14="http://schemas.microsoft.com/office/powerpoint/2010/main" val="576562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E968-84BA-BBB4-0B4A-F7EBDE191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900C7-715A-5172-5D63-B0D11017E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677EE-9FE9-D828-B627-7D5E83C6A9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Morphological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Want to improve quality of mask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Remove protrusions and fill holes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Closing operation followed by opening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May look like we are losing information but important result: separated grouser from main wheel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NL" b="0"/>
          </a:p>
        </p:txBody>
      </p:sp>
      <p:sp>
        <p:nvSpPr>
          <p:cNvPr id="4" name="Slide Number Placeholder 3">
            <a:extLst>
              <a:ext uri="{FF2B5EF4-FFF2-40B4-BE49-F238E27FC236}">
                <a16:creationId xmlns:a16="http://schemas.microsoft.com/office/drawing/2014/main" id="{C511CCEA-83B6-B99B-C29C-97C081058805}"/>
              </a:ext>
            </a:extLst>
          </p:cNvPr>
          <p:cNvSpPr>
            <a:spLocks noGrp="1"/>
          </p:cNvSpPr>
          <p:nvPr>
            <p:ph type="sldNum" sz="quarter" idx="5"/>
          </p:nvPr>
        </p:nvSpPr>
        <p:spPr/>
        <p:txBody>
          <a:bodyPr/>
          <a:lstStyle/>
          <a:p>
            <a:fld id="{57FA7580-8799-469A-BB12-ED0505026B46}" type="slidenum">
              <a:rPr lang="en-US" smtClean="0"/>
              <a:t>9</a:t>
            </a:fld>
            <a:endParaRPr lang="en-US"/>
          </a:p>
        </p:txBody>
      </p:sp>
    </p:spTree>
    <p:extLst>
      <p:ext uri="{BB962C8B-B14F-4D97-AF65-F5344CB8AC3E}">
        <p14:creationId xmlns:p14="http://schemas.microsoft.com/office/powerpoint/2010/main" val="3921493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1A02F-CA10-3B56-3C9C-84C6BCDBC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F627F-B4D7-1180-BA29-C84B6DF21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771C0-1867-B49A-74D1-AD1BEDF568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Edge detection and contour selection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Edges of the mask should be detected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Gaussian </a:t>
            </a:r>
            <a:r>
              <a:rPr lang="en-US" b="0" err="1"/>
              <a:t>blurr</a:t>
            </a:r>
            <a:r>
              <a:rPr lang="en-US" b="0"/>
              <a:t> + Canny edge detection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Edge map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Problem: find many useless edges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Filter to find contour corresponding to main object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err="1"/>
              <a:t>minEnclosingCircle</a:t>
            </a:r>
            <a:r>
              <a:rPr lang="en-US" b="0"/>
              <a:t> function and select contour with largest radius</a:t>
            </a:r>
            <a:endParaRPr lang="en-NL" b="0"/>
          </a:p>
        </p:txBody>
      </p:sp>
      <p:sp>
        <p:nvSpPr>
          <p:cNvPr id="4" name="Slide Number Placeholder 3">
            <a:extLst>
              <a:ext uri="{FF2B5EF4-FFF2-40B4-BE49-F238E27FC236}">
                <a16:creationId xmlns:a16="http://schemas.microsoft.com/office/drawing/2014/main" id="{E0102C61-61D1-E717-0C98-873507C3D8A8}"/>
              </a:ext>
            </a:extLst>
          </p:cNvPr>
          <p:cNvSpPr>
            <a:spLocks noGrp="1"/>
          </p:cNvSpPr>
          <p:nvPr>
            <p:ph type="sldNum" sz="quarter" idx="5"/>
          </p:nvPr>
        </p:nvSpPr>
        <p:spPr/>
        <p:txBody>
          <a:bodyPr/>
          <a:lstStyle/>
          <a:p>
            <a:fld id="{57FA7580-8799-469A-BB12-ED0505026B46}" type="slidenum">
              <a:rPr lang="en-US" smtClean="0"/>
              <a:t>10</a:t>
            </a:fld>
            <a:endParaRPr lang="en-US"/>
          </a:p>
        </p:txBody>
      </p:sp>
    </p:spTree>
    <p:extLst>
      <p:ext uri="{BB962C8B-B14F-4D97-AF65-F5344CB8AC3E}">
        <p14:creationId xmlns:p14="http://schemas.microsoft.com/office/powerpoint/2010/main" val="1006050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D755B-6DA5-F3F1-BBA4-F372516CA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AAA4E-AC8A-F2E4-0D85-475B46264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D3917-1094-4818-71B2-8A27D30AFA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RANSAC based ellipse fitting</a:t>
            </a:r>
          </a:p>
          <a:p>
            <a:r>
              <a:rPr lang="en-US" sz="1200" kern="1200">
                <a:solidFill>
                  <a:schemeClr val="tx1"/>
                </a:solidFill>
                <a:effectLst/>
                <a:latin typeface="+mn-lt"/>
                <a:ea typeface="+mn-ea"/>
                <a:cs typeface="+mn-cs"/>
              </a:rPr>
              <a:t>Contour not perfect and does not follow the entire wheel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ellipse vs. other conic sections due to camera angle (perspective)</a:t>
            </a:r>
          </a:p>
          <a:p>
            <a:r>
              <a:rPr lang="en-US" sz="1200" kern="1200">
                <a:solidFill>
                  <a:schemeClr val="tx1"/>
                </a:solidFill>
                <a:effectLst/>
                <a:latin typeface="+mn-lt"/>
                <a:ea typeface="+mn-ea"/>
                <a:cs typeface="+mn-cs"/>
              </a:rPr>
              <a:t>Want to find the ellipse model that best fits the points on the wheel edge.</a:t>
            </a:r>
          </a:p>
          <a:p>
            <a:r>
              <a:rPr lang="en-US" sz="1200" kern="1200">
                <a:solidFill>
                  <a:schemeClr val="tx1"/>
                </a:solidFill>
                <a:effectLst/>
                <a:latin typeface="+mn-lt"/>
                <a:ea typeface="+mn-ea"/>
                <a:cs typeface="+mn-cs"/>
              </a:rPr>
              <a:t>A RANSAC (Random Sampling) algorithm to deal with noise in a robust way.</a:t>
            </a:r>
            <a:endParaRPr lang="en-NL"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NL" b="0"/>
          </a:p>
        </p:txBody>
      </p:sp>
      <p:sp>
        <p:nvSpPr>
          <p:cNvPr id="4" name="Slide Number Placeholder 3">
            <a:extLst>
              <a:ext uri="{FF2B5EF4-FFF2-40B4-BE49-F238E27FC236}">
                <a16:creationId xmlns:a16="http://schemas.microsoft.com/office/drawing/2014/main" id="{F30388CD-77E6-8AA5-F2E7-D504C3DBB57C}"/>
              </a:ext>
            </a:extLst>
          </p:cNvPr>
          <p:cNvSpPr>
            <a:spLocks noGrp="1"/>
          </p:cNvSpPr>
          <p:nvPr>
            <p:ph type="sldNum" sz="quarter" idx="5"/>
          </p:nvPr>
        </p:nvSpPr>
        <p:spPr/>
        <p:txBody>
          <a:bodyPr/>
          <a:lstStyle/>
          <a:p>
            <a:fld id="{57FA7580-8799-469A-BB12-ED0505026B46}" type="slidenum">
              <a:rPr lang="en-US" smtClean="0"/>
              <a:t>11</a:t>
            </a:fld>
            <a:endParaRPr lang="en-US"/>
          </a:p>
        </p:txBody>
      </p:sp>
    </p:spTree>
    <p:extLst>
      <p:ext uri="{BB962C8B-B14F-4D97-AF65-F5344CB8AC3E}">
        <p14:creationId xmlns:p14="http://schemas.microsoft.com/office/powerpoint/2010/main" val="1470958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50AFD-D0C9-9B4C-96CB-E7E2B147A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36038-ED58-323C-DEBC-E70874375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B1EAC-3A60-ACC4-C172-827DD5465766}"/>
              </a:ext>
            </a:extLst>
          </p:cNvPr>
          <p:cNvSpPr>
            <a:spLocks noGrp="1"/>
          </p:cNvSpPr>
          <p:nvPr>
            <p:ph type="body" idx="1"/>
          </p:nvPr>
        </p:nvSpPr>
        <p:spPr/>
        <p:txBody>
          <a:bodyPr/>
          <a:lstStyle/>
          <a:p>
            <a:pPr marL="171450" indent="-171450">
              <a:buFontTx/>
              <a:buChar char="-"/>
            </a:pPr>
            <a:r>
              <a:rPr lang="es-ES" err="1"/>
              <a:t>Wheelcams</a:t>
            </a:r>
            <a:r>
              <a:rPr lang="es-ES"/>
              <a:t> 550-900</a:t>
            </a:r>
          </a:p>
          <a:p>
            <a:pPr marL="171450" indent="-171450">
              <a:buFontTx/>
              <a:buChar char="-"/>
            </a:pPr>
            <a:r>
              <a:rPr lang="es-ES" err="1"/>
              <a:t>Panchromatic</a:t>
            </a:r>
            <a:r>
              <a:rPr lang="es-ES"/>
              <a:t> – </a:t>
            </a:r>
            <a:r>
              <a:rPr lang="es-ES" err="1"/>
              <a:t>join</a:t>
            </a:r>
            <a:r>
              <a:rPr lang="es-ES"/>
              <a:t> </a:t>
            </a:r>
            <a:r>
              <a:rPr lang="es-ES" err="1"/>
              <a:t>signals</a:t>
            </a:r>
            <a:r>
              <a:rPr lang="es-ES"/>
              <a:t> – </a:t>
            </a:r>
            <a:r>
              <a:rPr lang="es-ES" err="1"/>
              <a:t>grayscale</a:t>
            </a:r>
            <a:endParaRPr lang="es-ES"/>
          </a:p>
          <a:p>
            <a:pPr marL="171450" indent="-171450">
              <a:buFontTx/>
              <a:buChar char="-"/>
            </a:pPr>
            <a:r>
              <a:rPr lang="es-ES" err="1"/>
              <a:t>Distinguishing</a:t>
            </a:r>
            <a:r>
              <a:rPr lang="es-ES"/>
              <a:t> – </a:t>
            </a:r>
            <a:r>
              <a:rPr lang="es-ES" err="1"/>
              <a:t>not</a:t>
            </a:r>
            <a:r>
              <a:rPr lang="es-ES"/>
              <a:t> posible</a:t>
            </a:r>
          </a:p>
          <a:p>
            <a:pPr marL="171450" indent="-171450">
              <a:buFontTx/>
              <a:buChar char="-"/>
            </a:pPr>
            <a:r>
              <a:rPr lang="es-ES"/>
              <a:t>LED – </a:t>
            </a:r>
            <a:r>
              <a:rPr lang="es-ES" err="1"/>
              <a:t>narrow</a:t>
            </a:r>
            <a:r>
              <a:rPr lang="es-ES"/>
              <a:t> </a:t>
            </a:r>
            <a:r>
              <a:rPr lang="es-ES" err="1"/>
              <a:t>spectral</a:t>
            </a:r>
            <a:r>
              <a:rPr lang="es-ES"/>
              <a:t> </a:t>
            </a:r>
            <a:r>
              <a:rPr lang="es-ES" err="1"/>
              <a:t>wavelength</a:t>
            </a:r>
            <a:endParaRPr lang="es-ES"/>
          </a:p>
          <a:p>
            <a:pPr marL="171450" indent="-171450">
              <a:buFontTx/>
              <a:buChar char="-"/>
            </a:pPr>
            <a:r>
              <a:rPr lang="es-ES" err="1"/>
              <a:t>Environment</a:t>
            </a:r>
            <a:r>
              <a:rPr lang="es-ES"/>
              <a:t> response</a:t>
            </a:r>
          </a:p>
          <a:p>
            <a:pPr marL="171450" indent="-171450">
              <a:buFontTx/>
              <a:buChar char="-"/>
            </a:pPr>
            <a:r>
              <a:rPr lang="es-ES" err="1"/>
              <a:t>First</a:t>
            </a:r>
            <a:r>
              <a:rPr lang="es-ES"/>
              <a:t> time </a:t>
            </a:r>
            <a:r>
              <a:rPr lang="es-ES" err="1"/>
              <a:t>this</a:t>
            </a:r>
            <a:r>
              <a:rPr lang="es-ES"/>
              <a:t> </a:t>
            </a:r>
            <a:r>
              <a:rPr lang="es-ES" err="1"/>
              <a:t>is</a:t>
            </a:r>
            <a:r>
              <a:rPr lang="es-ES"/>
              <a:t> </a:t>
            </a:r>
            <a:r>
              <a:rPr lang="es-ES" err="1"/>
              <a:t>researched</a:t>
            </a:r>
            <a:endParaRPr lang="es-ES"/>
          </a:p>
          <a:p>
            <a:pPr marL="171450" indent="-171450">
              <a:buFontTx/>
              <a:buChar char="-"/>
            </a:pPr>
            <a:r>
              <a:rPr lang="es-ES"/>
              <a:t>3 </a:t>
            </a:r>
            <a:r>
              <a:rPr lang="es-ES" err="1"/>
              <a:t>LEDs</a:t>
            </a:r>
            <a:r>
              <a:rPr lang="es-ES"/>
              <a:t> – </a:t>
            </a:r>
            <a:r>
              <a:rPr lang="es-ES" err="1"/>
              <a:t>point</a:t>
            </a:r>
            <a:endParaRPr lang="es-ES"/>
          </a:p>
          <a:p>
            <a:pPr marL="0" indent="0">
              <a:buFontTx/>
              <a:buNone/>
            </a:pPr>
            <a:endParaRPr lang="en-NL"/>
          </a:p>
        </p:txBody>
      </p:sp>
      <p:sp>
        <p:nvSpPr>
          <p:cNvPr id="4" name="Slide Number Placeholder 3">
            <a:extLst>
              <a:ext uri="{FF2B5EF4-FFF2-40B4-BE49-F238E27FC236}">
                <a16:creationId xmlns:a16="http://schemas.microsoft.com/office/drawing/2014/main" id="{3BD2F5EF-9347-9A9A-2B69-856898D0D780}"/>
              </a:ext>
            </a:extLst>
          </p:cNvPr>
          <p:cNvSpPr>
            <a:spLocks noGrp="1"/>
          </p:cNvSpPr>
          <p:nvPr>
            <p:ph type="sldNum" sz="quarter" idx="5"/>
          </p:nvPr>
        </p:nvSpPr>
        <p:spPr/>
        <p:txBody>
          <a:bodyPr/>
          <a:lstStyle/>
          <a:p>
            <a:fld id="{57FA7580-8799-469A-BB12-ED0505026B46}" type="slidenum">
              <a:rPr lang="en-US" smtClean="0"/>
              <a:t>12</a:t>
            </a:fld>
            <a:endParaRPr lang="en-US"/>
          </a:p>
        </p:txBody>
      </p:sp>
    </p:spTree>
    <p:extLst>
      <p:ext uri="{BB962C8B-B14F-4D97-AF65-F5344CB8AC3E}">
        <p14:creationId xmlns:p14="http://schemas.microsoft.com/office/powerpoint/2010/main" val="2166155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B766-8A68-126F-1A4D-B58EE8ACC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A759F-8B79-D3C8-EDED-F159335FB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FCE4A-025E-8E2E-0D89-D837997F7C98}"/>
              </a:ext>
            </a:extLst>
          </p:cNvPr>
          <p:cNvSpPr>
            <a:spLocks noGrp="1"/>
          </p:cNvSpPr>
          <p:nvPr>
            <p:ph type="body" idx="1"/>
          </p:nvPr>
        </p:nvSpPr>
        <p:spPr/>
        <p:txBody>
          <a:bodyPr/>
          <a:lstStyle/>
          <a:p>
            <a:pPr marL="171450" indent="-171450">
              <a:buFontTx/>
              <a:buChar char="-"/>
            </a:pPr>
            <a:r>
              <a:rPr lang="en-US" sz="1200" kern="1200">
                <a:solidFill>
                  <a:schemeClr val="tx1"/>
                </a:solidFill>
                <a:effectLst/>
                <a:latin typeface="+mn-lt"/>
                <a:ea typeface="+mn-ea"/>
                <a:cs typeface="+mn-cs"/>
              </a:rPr>
              <a:t>Goal materials – simplified</a:t>
            </a:r>
          </a:p>
          <a:p>
            <a:pPr marL="171450" indent="-171450">
              <a:buFontTx/>
              <a:buChar char="-"/>
            </a:pPr>
            <a:r>
              <a:rPr lang="en-US" sz="1200" kern="1200">
                <a:solidFill>
                  <a:schemeClr val="tx1"/>
                </a:solidFill>
                <a:effectLst/>
                <a:latin typeface="+mn-lt"/>
                <a:ea typeface="+mn-ea"/>
                <a:cs typeface="+mn-cs"/>
              </a:rPr>
              <a:t>Colors</a:t>
            </a:r>
          </a:p>
          <a:p>
            <a:pPr marL="171450" indent="-171450">
              <a:buFontTx/>
              <a:buChar char="-"/>
            </a:pPr>
            <a:r>
              <a:rPr lang="en-US" sz="1200" kern="1200">
                <a:solidFill>
                  <a:schemeClr val="tx1"/>
                </a:solidFill>
                <a:effectLst/>
                <a:latin typeface="+mn-lt"/>
                <a:ea typeface="+mn-ea"/>
                <a:cs typeface="+mn-cs"/>
              </a:rPr>
              <a:t>Confirm values with the spectrometer</a:t>
            </a:r>
          </a:p>
          <a:p>
            <a:pPr marL="171450" indent="-171450">
              <a:buFontTx/>
              <a:buChar char="-"/>
            </a:pPr>
            <a:r>
              <a:rPr lang="en-US" sz="1200" kern="1200">
                <a:solidFill>
                  <a:schemeClr val="tx1"/>
                </a:solidFill>
                <a:effectLst/>
                <a:latin typeface="+mn-lt"/>
                <a:ea typeface="+mn-ea"/>
                <a:cs typeface="+mn-cs"/>
              </a:rPr>
              <a:t>Describe the set up</a:t>
            </a:r>
          </a:p>
          <a:p>
            <a:pPr marL="171450" indent="-171450">
              <a:buFontTx/>
              <a:buChar char="-"/>
            </a:pPr>
            <a:r>
              <a:rPr lang="en-US" sz="1200" kern="1200">
                <a:solidFill>
                  <a:schemeClr val="tx1"/>
                </a:solidFill>
                <a:effectLst/>
                <a:latin typeface="+mn-lt"/>
                <a:ea typeface="+mn-ea"/>
                <a:cs typeface="+mn-cs"/>
              </a:rPr>
              <a:t>Mention shape and point</a:t>
            </a:r>
          </a:p>
          <a:p>
            <a:pPr marL="171450" indent="-171450">
              <a:buFontTx/>
              <a:buChar char="-"/>
            </a:pPr>
            <a:r>
              <a:rPr lang="en-US" sz="1200" kern="1200">
                <a:solidFill>
                  <a:schemeClr val="tx1"/>
                </a:solidFill>
                <a:effectLst/>
                <a:latin typeface="+mn-lt"/>
                <a:ea typeface="+mn-ea"/>
                <a:cs typeface="+mn-cs"/>
              </a:rPr>
              <a:t>Mention intensities</a:t>
            </a:r>
          </a:p>
          <a:p>
            <a:pPr marL="0" indent="0">
              <a:buFontTx/>
              <a:buNone/>
            </a:pPr>
            <a:endParaRPr lang="en-US" sz="1200" kern="1200">
              <a:solidFill>
                <a:schemeClr val="tx1"/>
              </a:solidFill>
              <a:effectLst/>
              <a:latin typeface="+mn-lt"/>
              <a:ea typeface="+mn-ea"/>
              <a:cs typeface="+mn-cs"/>
            </a:endParaRPr>
          </a:p>
          <a:p>
            <a:endParaRPr lang="en-US"/>
          </a:p>
          <a:p>
            <a:endParaRPr lang="en-US"/>
          </a:p>
        </p:txBody>
      </p:sp>
      <p:sp>
        <p:nvSpPr>
          <p:cNvPr id="4" name="Slide Number Placeholder 3">
            <a:extLst>
              <a:ext uri="{FF2B5EF4-FFF2-40B4-BE49-F238E27FC236}">
                <a16:creationId xmlns:a16="http://schemas.microsoft.com/office/drawing/2014/main" id="{8C3D9D5E-FD7F-FFFB-6D39-A53ECA0C227E}"/>
              </a:ext>
            </a:extLst>
          </p:cNvPr>
          <p:cNvSpPr>
            <a:spLocks noGrp="1"/>
          </p:cNvSpPr>
          <p:nvPr>
            <p:ph type="sldNum" sz="quarter" idx="5"/>
          </p:nvPr>
        </p:nvSpPr>
        <p:spPr/>
        <p:txBody>
          <a:bodyPr/>
          <a:lstStyle/>
          <a:p>
            <a:fld id="{57FA7580-8799-469A-BB12-ED0505026B46}" type="slidenum">
              <a:rPr lang="en-US" smtClean="0"/>
              <a:t>13</a:t>
            </a:fld>
            <a:endParaRPr lang="en-US"/>
          </a:p>
        </p:txBody>
      </p:sp>
    </p:spTree>
    <p:extLst>
      <p:ext uri="{BB962C8B-B14F-4D97-AF65-F5344CB8AC3E}">
        <p14:creationId xmlns:p14="http://schemas.microsoft.com/office/powerpoint/2010/main" val="3653312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AE79-8F7C-A0C6-3332-CDD25626E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ADD93-1E82-6B66-630F-8E6E3331F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64B48-6040-BA4E-D5D2-1A7272FD555A}"/>
              </a:ext>
            </a:extLst>
          </p:cNvPr>
          <p:cNvSpPr>
            <a:spLocks noGrp="1"/>
          </p:cNvSpPr>
          <p:nvPr>
            <p:ph type="body" idx="1"/>
          </p:nvPr>
        </p:nvSpPr>
        <p:spPr/>
        <p:txBody>
          <a:bodyPr/>
          <a:lstStyle/>
          <a:p>
            <a:pPr marL="171450" indent="-171450">
              <a:buFontTx/>
              <a:buChar char="-"/>
            </a:pPr>
            <a:r>
              <a:rPr lang="en-US"/>
              <a:t>Talk about the images</a:t>
            </a:r>
          </a:p>
          <a:p>
            <a:pPr marL="171450" indent="-171450">
              <a:buFontTx/>
              <a:buChar char="-"/>
            </a:pPr>
            <a:r>
              <a:rPr lang="en-US"/>
              <a:t>Comparison: </a:t>
            </a:r>
            <a:r>
              <a:rPr lang="en-US" err="1"/>
              <a:t>pearson</a:t>
            </a:r>
            <a:r>
              <a:rPr lang="en-US"/>
              <a:t> and cosine</a:t>
            </a:r>
          </a:p>
          <a:p>
            <a:pPr marL="171450" indent="-171450">
              <a:buFontTx/>
              <a:buChar char="-"/>
            </a:pPr>
            <a:r>
              <a:rPr lang="en-US"/>
              <a:t>Complementary</a:t>
            </a:r>
          </a:p>
          <a:p>
            <a:pPr marL="0" indent="0">
              <a:buFontTx/>
              <a:buNone/>
            </a:pPr>
            <a:endParaRPr lang="en-US"/>
          </a:p>
          <a:p>
            <a:endParaRPr lang="en-US"/>
          </a:p>
        </p:txBody>
      </p:sp>
      <p:sp>
        <p:nvSpPr>
          <p:cNvPr id="4" name="Slide Number Placeholder 3">
            <a:extLst>
              <a:ext uri="{FF2B5EF4-FFF2-40B4-BE49-F238E27FC236}">
                <a16:creationId xmlns:a16="http://schemas.microsoft.com/office/drawing/2014/main" id="{1E1B8189-4C69-EB27-660B-73FBE0AABA11}"/>
              </a:ext>
            </a:extLst>
          </p:cNvPr>
          <p:cNvSpPr>
            <a:spLocks noGrp="1"/>
          </p:cNvSpPr>
          <p:nvPr>
            <p:ph type="sldNum" sz="quarter" idx="5"/>
          </p:nvPr>
        </p:nvSpPr>
        <p:spPr/>
        <p:txBody>
          <a:bodyPr/>
          <a:lstStyle/>
          <a:p>
            <a:fld id="{57FA7580-8799-469A-BB12-ED0505026B46}" type="slidenum">
              <a:rPr lang="en-US" smtClean="0"/>
              <a:t>14</a:t>
            </a:fld>
            <a:endParaRPr lang="en-US"/>
          </a:p>
        </p:txBody>
      </p:sp>
    </p:spTree>
    <p:extLst>
      <p:ext uri="{BB962C8B-B14F-4D97-AF65-F5344CB8AC3E}">
        <p14:creationId xmlns:p14="http://schemas.microsoft.com/office/powerpoint/2010/main" val="1302833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A850-D97F-5420-A3A6-DF1A74E33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2426D-D274-7E31-0948-72F1B6AD2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D800A-1745-95F1-F8DE-56E833EE53B6}"/>
              </a:ext>
            </a:extLst>
          </p:cNvPr>
          <p:cNvSpPr>
            <a:spLocks noGrp="1"/>
          </p:cNvSpPr>
          <p:nvPr>
            <p:ph type="body" idx="1"/>
          </p:nvPr>
        </p:nvSpPr>
        <p:spPr/>
        <p:txBody>
          <a:bodyPr/>
          <a:lstStyle/>
          <a:p>
            <a:r>
              <a:rPr lang="en-US" b="1"/>
              <a:t>Rear wheel cam</a:t>
            </a:r>
          </a:p>
          <a:p>
            <a:endParaRPr lang="en-GB"/>
          </a:p>
          <a:p>
            <a:r>
              <a:rPr lang="en-GB"/>
              <a:t>First test: Moon </a:t>
            </a:r>
            <a:r>
              <a:rPr lang="en-GB" err="1"/>
              <a:t>regolith</a:t>
            </a:r>
            <a:r>
              <a:rPr lang="en-GB"/>
              <a:t>, higher reflectance, low sinkage</a:t>
            </a:r>
          </a:p>
          <a:p>
            <a:endParaRPr lang="en-GB"/>
          </a:p>
          <a:p>
            <a:r>
              <a:rPr lang="en-GB"/>
              <a:t>Stress test: Coarse gravel, high reflectance, high sinkage</a:t>
            </a:r>
          </a:p>
          <a:p>
            <a:endParaRPr lang="en-GB"/>
          </a:p>
          <a:p>
            <a:r>
              <a:rPr lang="en-GB"/>
              <a:t>In both cases, able to detect edge with minimal </a:t>
            </a:r>
            <a:r>
              <a:rPr lang="en-GB" err="1"/>
              <a:t>adjustement</a:t>
            </a:r>
            <a:r>
              <a:rPr lang="en-GB"/>
              <a:t> of model parameters (wheel confidence area and kernel size). </a:t>
            </a:r>
          </a:p>
          <a:p>
            <a:endParaRPr lang="en-GB"/>
          </a:p>
          <a:p>
            <a:r>
              <a:rPr lang="en-GB"/>
              <a:t>In the gravel case, more processing was required before RANSAC to give a stable fit: the contour had to be cleaned to remove some noisy points. </a:t>
            </a:r>
            <a:endParaRPr lang="en-NL"/>
          </a:p>
        </p:txBody>
      </p:sp>
      <p:sp>
        <p:nvSpPr>
          <p:cNvPr id="4" name="Slide Number Placeholder 3">
            <a:extLst>
              <a:ext uri="{FF2B5EF4-FFF2-40B4-BE49-F238E27FC236}">
                <a16:creationId xmlns:a16="http://schemas.microsoft.com/office/drawing/2014/main" id="{49967C99-4EE7-D6B0-ADB2-EF284B319083}"/>
              </a:ext>
            </a:extLst>
          </p:cNvPr>
          <p:cNvSpPr>
            <a:spLocks noGrp="1"/>
          </p:cNvSpPr>
          <p:nvPr>
            <p:ph type="sldNum" sz="quarter" idx="5"/>
          </p:nvPr>
        </p:nvSpPr>
        <p:spPr/>
        <p:txBody>
          <a:bodyPr/>
          <a:lstStyle/>
          <a:p>
            <a:fld id="{57FA7580-8799-469A-BB12-ED0505026B46}" type="slidenum">
              <a:rPr lang="en-US" smtClean="0"/>
              <a:t>15</a:t>
            </a:fld>
            <a:endParaRPr lang="en-US"/>
          </a:p>
        </p:txBody>
      </p:sp>
    </p:spTree>
    <p:extLst>
      <p:ext uri="{BB962C8B-B14F-4D97-AF65-F5344CB8AC3E}">
        <p14:creationId xmlns:p14="http://schemas.microsoft.com/office/powerpoint/2010/main" val="1440791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4FEEF-BFBB-D8E1-0850-2A5EBC5E7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49584-5632-5DFB-87FC-8DB59AD6E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88A80-1C52-FA73-F96A-6A41CCA7747A}"/>
              </a:ext>
            </a:extLst>
          </p:cNvPr>
          <p:cNvSpPr>
            <a:spLocks noGrp="1"/>
          </p:cNvSpPr>
          <p:nvPr>
            <p:ph type="body" idx="1"/>
          </p:nvPr>
        </p:nvSpPr>
        <p:spPr/>
        <p:txBody>
          <a:bodyPr/>
          <a:lstStyle/>
          <a:p>
            <a:r>
              <a:rPr lang="en-US" b="1" dirty="0"/>
              <a:t>Front wheel cam</a:t>
            </a:r>
          </a:p>
          <a:p>
            <a:r>
              <a:rPr lang="en-GB" dirty="0"/>
              <a:t>Developed for rear wheel cam</a:t>
            </a:r>
          </a:p>
          <a:p>
            <a:r>
              <a:rPr lang="en-GB" dirty="0"/>
              <a:t>would be nice also to work on front </a:t>
            </a:r>
            <a:r>
              <a:rPr lang="en-GB" dirty="0" err="1"/>
              <a:t>wheelcam</a:t>
            </a:r>
            <a:endParaRPr lang="en-GB" dirty="0"/>
          </a:p>
          <a:p>
            <a:r>
              <a:rPr lang="en-GB" dirty="0"/>
              <a:t>More information: clear wheel/</a:t>
            </a:r>
            <a:r>
              <a:rPr lang="en-GB" dirty="0" err="1"/>
              <a:t>regolith</a:t>
            </a:r>
            <a:r>
              <a:rPr lang="en-GB" dirty="0"/>
              <a:t> interface</a:t>
            </a:r>
          </a:p>
          <a:p>
            <a:r>
              <a:rPr lang="en-GB" dirty="0"/>
              <a:t>Precise and accurate contour tracking</a:t>
            </a:r>
          </a:p>
          <a:p>
            <a:r>
              <a:rPr lang="en-GB" dirty="0"/>
              <a:t>Issues we are facing: detection on one side</a:t>
            </a:r>
          </a:p>
          <a:p>
            <a:endParaRPr lang="en-GB" dirty="0"/>
          </a:p>
          <a:p>
            <a:endParaRPr lang="en-GB" dirty="0"/>
          </a:p>
        </p:txBody>
      </p:sp>
      <p:sp>
        <p:nvSpPr>
          <p:cNvPr id="4" name="Slide Number Placeholder 3">
            <a:extLst>
              <a:ext uri="{FF2B5EF4-FFF2-40B4-BE49-F238E27FC236}">
                <a16:creationId xmlns:a16="http://schemas.microsoft.com/office/drawing/2014/main" id="{F2A51B06-6EB6-CDB9-AEA2-44D3A068494E}"/>
              </a:ext>
            </a:extLst>
          </p:cNvPr>
          <p:cNvSpPr>
            <a:spLocks noGrp="1"/>
          </p:cNvSpPr>
          <p:nvPr>
            <p:ph type="sldNum" sz="quarter" idx="5"/>
          </p:nvPr>
        </p:nvSpPr>
        <p:spPr/>
        <p:txBody>
          <a:bodyPr/>
          <a:lstStyle/>
          <a:p>
            <a:fld id="{57FA7580-8799-469A-BB12-ED0505026B46}" type="slidenum">
              <a:rPr lang="en-US" smtClean="0"/>
              <a:t>16</a:t>
            </a:fld>
            <a:endParaRPr lang="en-US"/>
          </a:p>
        </p:txBody>
      </p:sp>
    </p:spTree>
    <p:extLst>
      <p:ext uri="{BB962C8B-B14F-4D97-AF65-F5344CB8AC3E}">
        <p14:creationId xmlns:p14="http://schemas.microsoft.com/office/powerpoint/2010/main" val="1541042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AEDE-39B4-9B4B-E5A1-5A9A3C9BF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ECBA4-0233-88BA-36D5-45EB89399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F9B14-E964-9D15-4800-BC603FD91B5E}"/>
              </a:ext>
            </a:extLst>
          </p:cNvPr>
          <p:cNvSpPr>
            <a:spLocks noGrp="1"/>
          </p:cNvSpPr>
          <p:nvPr>
            <p:ph type="body" idx="1"/>
          </p:nvPr>
        </p:nvSpPr>
        <p:spPr/>
        <p:txBody>
          <a:bodyPr/>
          <a:lstStyle/>
          <a:p>
            <a:pPr marL="171450" indent="-171450">
              <a:buFontTx/>
              <a:buChar char="-"/>
            </a:pPr>
            <a:r>
              <a:rPr lang="es-ES" err="1"/>
              <a:t>Spectra</a:t>
            </a:r>
            <a:r>
              <a:rPr lang="es-ES"/>
              <a:t> – White </a:t>
            </a:r>
            <a:r>
              <a:rPr lang="es-ES" err="1"/>
              <a:t>LEDs</a:t>
            </a:r>
            <a:r>
              <a:rPr lang="es-ES"/>
              <a:t> – </a:t>
            </a:r>
            <a:r>
              <a:rPr lang="es-ES" err="1"/>
              <a:t>all</a:t>
            </a:r>
            <a:r>
              <a:rPr lang="es-ES"/>
              <a:t> </a:t>
            </a:r>
            <a:r>
              <a:rPr lang="es-ES" err="1"/>
              <a:t>papers</a:t>
            </a:r>
            <a:endParaRPr lang="es-ES"/>
          </a:p>
          <a:p>
            <a:pPr marL="171450" indent="-171450">
              <a:buFontTx/>
              <a:buChar char="-"/>
            </a:pPr>
            <a:r>
              <a:rPr lang="es-ES" err="1"/>
              <a:t>Optical</a:t>
            </a:r>
            <a:r>
              <a:rPr lang="es-ES"/>
              <a:t> </a:t>
            </a:r>
            <a:r>
              <a:rPr lang="es-ES" err="1"/>
              <a:t>characteristics</a:t>
            </a:r>
            <a:endParaRPr lang="es-ES"/>
          </a:p>
          <a:p>
            <a:pPr marL="171450" indent="-171450">
              <a:buFontTx/>
              <a:buChar char="-"/>
            </a:pPr>
            <a:r>
              <a:rPr lang="es-ES"/>
              <a:t>Relative </a:t>
            </a:r>
            <a:r>
              <a:rPr lang="es-ES" err="1"/>
              <a:t>indication</a:t>
            </a:r>
            <a:r>
              <a:rPr lang="es-ES"/>
              <a:t> </a:t>
            </a:r>
            <a:r>
              <a:rPr lang="es-ES" err="1"/>
              <a:t>of</a:t>
            </a:r>
            <a:r>
              <a:rPr lang="es-ES"/>
              <a:t> light </a:t>
            </a:r>
            <a:r>
              <a:rPr lang="es-ES" err="1"/>
              <a:t>reflected</a:t>
            </a:r>
            <a:endParaRPr lang="es-ES"/>
          </a:p>
          <a:p>
            <a:pPr marL="171450" indent="-171450">
              <a:buFontTx/>
              <a:buChar char="-"/>
            </a:pPr>
            <a:r>
              <a:rPr lang="es-ES" err="1"/>
              <a:t>Highlights</a:t>
            </a:r>
            <a:r>
              <a:rPr lang="es-ES"/>
              <a:t> – </a:t>
            </a:r>
            <a:r>
              <a:rPr lang="es-ES" err="1"/>
              <a:t>spectral</a:t>
            </a:r>
            <a:r>
              <a:rPr lang="es-ES"/>
              <a:t> </a:t>
            </a:r>
            <a:r>
              <a:rPr lang="es-ES" err="1"/>
              <a:t>regions</a:t>
            </a:r>
            <a:r>
              <a:rPr lang="es-ES"/>
              <a:t> – </a:t>
            </a:r>
            <a:r>
              <a:rPr lang="es-ES" err="1"/>
              <a:t>most</a:t>
            </a:r>
            <a:r>
              <a:rPr lang="es-ES"/>
              <a:t> light </a:t>
            </a:r>
            <a:r>
              <a:rPr lang="es-ES" err="1"/>
              <a:t>reflected</a:t>
            </a:r>
            <a:endParaRPr lang="es-ES"/>
          </a:p>
          <a:p>
            <a:pPr marL="171450" indent="-171450">
              <a:buFontTx/>
              <a:buChar char="-"/>
            </a:pPr>
            <a:r>
              <a:rPr lang="es-ES" err="1"/>
              <a:t>Essential</a:t>
            </a:r>
            <a:r>
              <a:rPr lang="es-ES"/>
              <a:t> </a:t>
            </a:r>
            <a:r>
              <a:rPr lang="es-ES" err="1"/>
              <a:t>to</a:t>
            </a:r>
            <a:r>
              <a:rPr lang="es-ES"/>
              <a:t> </a:t>
            </a:r>
            <a:r>
              <a:rPr lang="es-ES" err="1"/>
              <a:t>understand</a:t>
            </a:r>
            <a:r>
              <a:rPr lang="es-ES"/>
              <a:t> </a:t>
            </a:r>
            <a:r>
              <a:rPr lang="es-ES" err="1"/>
              <a:t>results</a:t>
            </a:r>
            <a:endParaRPr lang="es-E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err="1"/>
              <a:t>Signal</a:t>
            </a:r>
            <a:r>
              <a:rPr lang="es-ES"/>
              <a:t> </a:t>
            </a:r>
            <a:r>
              <a:rPr lang="es-ES" err="1"/>
              <a:t>to</a:t>
            </a:r>
            <a:r>
              <a:rPr lang="es-ES"/>
              <a:t> </a:t>
            </a:r>
            <a:r>
              <a:rPr lang="es-ES" err="1"/>
              <a:t>noise</a:t>
            </a:r>
            <a:r>
              <a:rPr lang="es-ES"/>
              <a:t> ratio</a:t>
            </a:r>
          </a:p>
          <a:p>
            <a:pPr marL="171450" indent="-171450">
              <a:buFontTx/>
              <a:buChar char="-"/>
            </a:pPr>
            <a:r>
              <a:rPr lang="es-ES" err="1"/>
              <a:t>Dark</a:t>
            </a:r>
            <a:r>
              <a:rPr lang="es-ES"/>
              <a:t> blue </a:t>
            </a:r>
            <a:r>
              <a:rPr lang="es-ES" err="1"/>
              <a:t>dark</a:t>
            </a:r>
            <a:r>
              <a:rPr lang="es-ES"/>
              <a:t> </a:t>
            </a:r>
            <a:r>
              <a:rPr lang="es-ES" err="1"/>
              <a:t>green</a:t>
            </a:r>
            <a:endParaRPr lang="es-ES"/>
          </a:p>
          <a:p>
            <a:pPr marL="171450" indent="-171450">
              <a:buFontTx/>
              <a:buChar char="-"/>
            </a:pPr>
            <a:r>
              <a:rPr lang="es-ES"/>
              <a:t>Cameras </a:t>
            </a:r>
            <a:r>
              <a:rPr lang="es-ES" err="1"/>
              <a:t>sensitivity</a:t>
            </a:r>
            <a:endParaRPr lang="es-ES"/>
          </a:p>
          <a:p>
            <a:pPr marL="0" indent="0">
              <a:buFontTx/>
              <a:buNone/>
            </a:pPr>
            <a:endParaRPr lang="en-NL"/>
          </a:p>
        </p:txBody>
      </p:sp>
      <p:sp>
        <p:nvSpPr>
          <p:cNvPr id="4" name="Slide Number Placeholder 3">
            <a:extLst>
              <a:ext uri="{FF2B5EF4-FFF2-40B4-BE49-F238E27FC236}">
                <a16:creationId xmlns:a16="http://schemas.microsoft.com/office/drawing/2014/main" id="{A68EE812-A5A5-E6CD-7E7B-FBDBB666CE4B}"/>
              </a:ext>
            </a:extLst>
          </p:cNvPr>
          <p:cNvSpPr>
            <a:spLocks noGrp="1"/>
          </p:cNvSpPr>
          <p:nvPr>
            <p:ph type="sldNum" sz="quarter" idx="5"/>
          </p:nvPr>
        </p:nvSpPr>
        <p:spPr/>
        <p:txBody>
          <a:bodyPr/>
          <a:lstStyle/>
          <a:p>
            <a:fld id="{57FA7580-8799-469A-BB12-ED0505026B46}" type="slidenum">
              <a:rPr lang="en-US" smtClean="0"/>
              <a:t>17</a:t>
            </a:fld>
            <a:endParaRPr lang="en-US"/>
          </a:p>
        </p:txBody>
      </p:sp>
    </p:spTree>
    <p:extLst>
      <p:ext uri="{BB962C8B-B14F-4D97-AF65-F5344CB8AC3E}">
        <p14:creationId xmlns:p14="http://schemas.microsoft.com/office/powerpoint/2010/main" val="1731042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CD8F9-121F-C44B-9A1F-47060442C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12898-7920-11E0-D8F9-8784B2784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DBE53-5F21-6384-8029-DFAE6A711241}"/>
              </a:ext>
            </a:extLst>
          </p:cNvPr>
          <p:cNvSpPr>
            <a:spLocks noGrp="1"/>
          </p:cNvSpPr>
          <p:nvPr>
            <p:ph type="body" idx="1"/>
          </p:nvPr>
        </p:nvSpPr>
        <p:spPr/>
        <p:txBody>
          <a:bodyPr/>
          <a:lstStyle/>
          <a:p>
            <a:pPr marL="171450" indent="-171450">
              <a:buFontTx/>
              <a:buChar char="-"/>
            </a:pPr>
            <a:r>
              <a:rPr lang="en-US"/>
              <a:t>Normalized visual comparison</a:t>
            </a:r>
          </a:p>
          <a:p>
            <a:pPr marL="171450" indent="-171450">
              <a:buFontTx/>
              <a:buChar char="-"/>
            </a:pPr>
            <a:r>
              <a:rPr lang="en-US"/>
              <a:t>Talk about results – blue + green</a:t>
            </a:r>
          </a:p>
          <a:p>
            <a:pPr marL="0" indent="0">
              <a:buFontTx/>
              <a:buNone/>
            </a:pPr>
            <a:endParaRPr lang="en-US"/>
          </a:p>
        </p:txBody>
      </p:sp>
      <p:sp>
        <p:nvSpPr>
          <p:cNvPr id="4" name="Slide Number Placeholder 3">
            <a:extLst>
              <a:ext uri="{FF2B5EF4-FFF2-40B4-BE49-F238E27FC236}">
                <a16:creationId xmlns:a16="http://schemas.microsoft.com/office/drawing/2014/main" id="{65078E03-0E05-4DC0-AF05-F6BBB6C8A065}"/>
              </a:ext>
            </a:extLst>
          </p:cNvPr>
          <p:cNvSpPr>
            <a:spLocks noGrp="1"/>
          </p:cNvSpPr>
          <p:nvPr>
            <p:ph type="sldNum" sz="quarter" idx="5"/>
          </p:nvPr>
        </p:nvSpPr>
        <p:spPr/>
        <p:txBody>
          <a:bodyPr/>
          <a:lstStyle/>
          <a:p>
            <a:fld id="{57FA7580-8799-469A-BB12-ED0505026B46}" type="slidenum">
              <a:rPr lang="en-US" smtClean="0"/>
              <a:t>18</a:t>
            </a:fld>
            <a:endParaRPr lang="en-US"/>
          </a:p>
        </p:txBody>
      </p:sp>
    </p:spTree>
    <p:extLst>
      <p:ext uri="{BB962C8B-B14F-4D97-AF65-F5344CB8AC3E}">
        <p14:creationId xmlns:p14="http://schemas.microsoft.com/office/powerpoint/2010/main" val="9042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DDFDC-EE04-4D2D-46F8-027095A0D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8C8D6-2BA0-CCD0-5555-154AA8006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C2209-F866-0C47-3858-AB11E8492D2D}"/>
              </a:ext>
            </a:extLst>
          </p:cNvPr>
          <p:cNvSpPr>
            <a:spLocks noGrp="1"/>
          </p:cNvSpPr>
          <p:nvPr>
            <p:ph type="body" idx="1"/>
          </p:nvPr>
        </p:nvSpPr>
        <p:spPr/>
        <p:txBody>
          <a:bodyPr/>
          <a:lstStyle/>
          <a:p>
            <a:pPr marL="171450" indent="-171450">
              <a:buFontTx/>
              <a:buChar char="-"/>
            </a:pPr>
            <a:r>
              <a:rPr lang="en-US"/>
              <a:t>Reverse recognition: def</a:t>
            </a:r>
          </a:p>
          <a:p>
            <a:pPr marL="171450" indent="-171450">
              <a:buFontTx/>
              <a:buChar char="-"/>
            </a:pPr>
            <a:r>
              <a:rPr lang="en-US"/>
              <a:t>No magnitudes – just trends</a:t>
            </a:r>
          </a:p>
          <a:p>
            <a:pPr marL="171450" indent="-171450">
              <a:buFontTx/>
              <a:buChar char="-"/>
            </a:pPr>
            <a:r>
              <a:rPr lang="en-US"/>
              <a:t>All trends similar – point it out</a:t>
            </a:r>
          </a:p>
          <a:p>
            <a:pPr marL="171450" indent="-171450">
              <a:buFontTx/>
              <a:buChar char="-"/>
            </a:pPr>
            <a:r>
              <a:rPr lang="en-US"/>
              <a:t>Diff between brightness and spectrometer</a:t>
            </a:r>
          </a:p>
          <a:p>
            <a:pPr marL="0" indent="0">
              <a:buFontTx/>
              <a:buNone/>
            </a:pPr>
            <a:endParaRPr lang="en-US"/>
          </a:p>
        </p:txBody>
      </p:sp>
      <p:sp>
        <p:nvSpPr>
          <p:cNvPr id="4" name="Slide Number Placeholder 3">
            <a:extLst>
              <a:ext uri="{FF2B5EF4-FFF2-40B4-BE49-F238E27FC236}">
                <a16:creationId xmlns:a16="http://schemas.microsoft.com/office/drawing/2014/main" id="{17C10559-0D2E-BB6F-39E1-FDFFAE67008A}"/>
              </a:ext>
            </a:extLst>
          </p:cNvPr>
          <p:cNvSpPr>
            <a:spLocks noGrp="1"/>
          </p:cNvSpPr>
          <p:nvPr>
            <p:ph type="sldNum" sz="quarter" idx="5"/>
          </p:nvPr>
        </p:nvSpPr>
        <p:spPr/>
        <p:txBody>
          <a:bodyPr/>
          <a:lstStyle/>
          <a:p>
            <a:fld id="{57FA7580-8799-469A-BB12-ED0505026B46}" type="slidenum">
              <a:rPr lang="en-US" smtClean="0"/>
              <a:t>19</a:t>
            </a:fld>
            <a:endParaRPr lang="en-US"/>
          </a:p>
        </p:txBody>
      </p:sp>
    </p:spTree>
    <p:extLst>
      <p:ext uri="{BB962C8B-B14F-4D97-AF65-F5344CB8AC3E}">
        <p14:creationId xmlns:p14="http://schemas.microsoft.com/office/powerpoint/2010/main" val="37049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4A64-E6FC-5B71-0650-A6B382138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EB944-2C84-73F7-8DA4-5DA995272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F4320-0069-9EA3-AF48-32923D2C5AF6}"/>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7EEC4FC8-0D06-AD19-E9F6-D7492A84B6C7}"/>
              </a:ext>
            </a:extLst>
          </p:cNvPr>
          <p:cNvSpPr>
            <a:spLocks noGrp="1"/>
          </p:cNvSpPr>
          <p:nvPr>
            <p:ph type="sldNum" sz="quarter" idx="5"/>
          </p:nvPr>
        </p:nvSpPr>
        <p:spPr/>
        <p:txBody>
          <a:bodyPr/>
          <a:lstStyle/>
          <a:p>
            <a:fld id="{57FA7580-8799-469A-BB12-ED0505026B46}" type="slidenum">
              <a:rPr lang="en-US" smtClean="0"/>
              <a:t>20</a:t>
            </a:fld>
            <a:endParaRPr lang="en-US"/>
          </a:p>
        </p:txBody>
      </p:sp>
    </p:spTree>
    <p:extLst>
      <p:ext uri="{BB962C8B-B14F-4D97-AF65-F5344CB8AC3E}">
        <p14:creationId xmlns:p14="http://schemas.microsoft.com/office/powerpoint/2010/main" val="3457191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1F4F-0822-B26F-BDCF-E1703199E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BD718-E8B8-3229-A0EA-A675EA00E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64492-427F-794F-5EAB-F4373272DAF5}"/>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24B051ED-5A65-0AB0-0B95-6F3652DB8187}"/>
              </a:ext>
            </a:extLst>
          </p:cNvPr>
          <p:cNvSpPr>
            <a:spLocks noGrp="1"/>
          </p:cNvSpPr>
          <p:nvPr>
            <p:ph type="sldNum" sz="quarter" idx="5"/>
          </p:nvPr>
        </p:nvSpPr>
        <p:spPr/>
        <p:txBody>
          <a:bodyPr/>
          <a:lstStyle/>
          <a:p>
            <a:fld id="{57FA7580-8799-469A-BB12-ED0505026B46}" type="slidenum">
              <a:rPr lang="en-US" smtClean="0"/>
              <a:t>21</a:t>
            </a:fld>
            <a:endParaRPr lang="en-US"/>
          </a:p>
        </p:txBody>
      </p:sp>
    </p:spTree>
    <p:extLst>
      <p:ext uri="{BB962C8B-B14F-4D97-AF65-F5344CB8AC3E}">
        <p14:creationId xmlns:p14="http://schemas.microsoft.com/office/powerpoint/2010/main" val="226890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41033-7D4E-2838-E311-D69B2F15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5A91C-EF52-DA1D-44EE-D0782CD96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03B54-1BD7-D263-9844-7B972B35051F}"/>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92D2C4A6-F2FD-B6BC-3410-80C18C2113DB}"/>
              </a:ext>
            </a:extLst>
          </p:cNvPr>
          <p:cNvSpPr>
            <a:spLocks noGrp="1"/>
          </p:cNvSpPr>
          <p:nvPr>
            <p:ph type="sldNum" sz="quarter" idx="5"/>
          </p:nvPr>
        </p:nvSpPr>
        <p:spPr/>
        <p:txBody>
          <a:bodyPr/>
          <a:lstStyle/>
          <a:p>
            <a:fld id="{57FA7580-8799-469A-BB12-ED0505026B46}" type="slidenum">
              <a:rPr lang="en-US" smtClean="0"/>
              <a:t>22</a:t>
            </a:fld>
            <a:endParaRPr lang="en-US"/>
          </a:p>
        </p:txBody>
      </p:sp>
    </p:spTree>
    <p:extLst>
      <p:ext uri="{BB962C8B-B14F-4D97-AF65-F5344CB8AC3E}">
        <p14:creationId xmlns:p14="http://schemas.microsoft.com/office/powerpoint/2010/main" val="4124221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2CA1-FEED-AD25-2482-D36A07A90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D361C-10F7-FC8E-5CDE-8A2113CA5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A1FFB-E794-B560-10F5-1C051B93EC0A}"/>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D7627CDC-A0A3-7160-FBC3-0406FC2BDE9D}"/>
              </a:ext>
            </a:extLst>
          </p:cNvPr>
          <p:cNvSpPr>
            <a:spLocks noGrp="1"/>
          </p:cNvSpPr>
          <p:nvPr>
            <p:ph type="sldNum" sz="quarter" idx="5"/>
          </p:nvPr>
        </p:nvSpPr>
        <p:spPr/>
        <p:txBody>
          <a:bodyPr/>
          <a:lstStyle/>
          <a:p>
            <a:fld id="{57FA7580-8799-469A-BB12-ED0505026B46}" type="slidenum">
              <a:rPr lang="en-US" smtClean="0"/>
              <a:t>24</a:t>
            </a:fld>
            <a:endParaRPr lang="en-US"/>
          </a:p>
        </p:txBody>
      </p:sp>
    </p:spTree>
    <p:extLst>
      <p:ext uri="{BB962C8B-B14F-4D97-AF65-F5344CB8AC3E}">
        <p14:creationId xmlns:p14="http://schemas.microsoft.com/office/powerpoint/2010/main" val="4117739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32BB-5595-5675-2701-DA68383A6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FF87B-EE1C-1690-F875-EED24B763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5E9B2-882B-3431-33EC-2BD340D758A0}"/>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3C9C52D5-675A-BB0D-F399-5A64889FD8A3}"/>
              </a:ext>
            </a:extLst>
          </p:cNvPr>
          <p:cNvSpPr>
            <a:spLocks noGrp="1"/>
          </p:cNvSpPr>
          <p:nvPr>
            <p:ph type="sldNum" sz="quarter" idx="5"/>
          </p:nvPr>
        </p:nvSpPr>
        <p:spPr/>
        <p:txBody>
          <a:bodyPr/>
          <a:lstStyle/>
          <a:p>
            <a:fld id="{57FA7580-8799-469A-BB12-ED0505026B46}" type="slidenum">
              <a:rPr lang="en-US" smtClean="0"/>
              <a:t>25</a:t>
            </a:fld>
            <a:endParaRPr lang="en-US"/>
          </a:p>
        </p:txBody>
      </p:sp>
    </p:spTree>
    <p:extLst>
      <p:ext uri="{BB962C8B-B14F-4D97-AF65-F5344CB8AC3E}">
        <p14:creationId xmlns:p14="http://schemas.microsoft.com/office/powerpoint/2010/main" val="1713547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09D3-39F0-A1D3-7281-FED67C531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31583-05F8-3A44-779C-A2F8200A4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9E661-5A05-FBF5-79F0-5C2B22458AFA}"/>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B8483E8E-4587-E699-A83F-7E523690D564}"/>
              </a:ext>
            </a:extLst>
          </p:cNvPr>
          <p:cNvSpPr>
            <a:spLocks noGrp="1"/>
          </p:cNvSpPr>
          <p:nvPr>
            <p:ph type="sldNum" sz="quarter" idx="5"/>
          </p:nvPr>
        </p:nvSpPr>
        <p:spPr/>
        <p:txBody>
          <a:bodyPr/>
          <a:lstStyle/>
          <a:p>
            <a:fld id="{57FA7580-8799-469A-BB12-ED0505026B46}" type="slidenum">
              <a:rPr lang="en-US" smtClean="0"/>
              <a:t>26</a:t>
            </a:fld>
            <a:endParaRPr lang="en-US"/>
          </a:p>
        </p:txBody>
      </p:sp>
    </p:spTree>
    <p:extLst>
      <p:ext uri="{BB962C8B-B14F-4D97-AF65-F5344CB8AC3E}">
        <p14:creationId xmlns:p14="http://schemas.microsoft.com/office/powerpoint/2010/main" val="3786156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69DA-4D20-F58C-022D-3FF4F5460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2CFA8-F686-4C30-7A36-47FFE0116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81780-6181-1175-93E8-D041B2BFCC68}"/>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931924B9-0B0D-027A-2220-96C1201C6F9B}"/>
              </a:ext>
            </a:extLst>
          </p:cNvPr>
          <p:cNvSpPr>
            <a:spLocks noGrp="1"/>
          </p:cNvSpPr>
          <p:nvPr>
            <p:ph type="sldNum" sz="quarter" idx="5"/>
          </p:nvPr>
        </p:nvSpPr>
        <p:spPr/>
        <p:txBody>
          <a:bodyPr/>
          <a:lstStyle/>
          <a:p>
            <a:fld id="{57FA7580-8799-469A-BB12-ED0505026B46}" type="slidenum">
              <a:rPr lang="en-US" smtClean="0"/>
              <a:t>27</a:t>
            </a:fld>
            <a:endParaRPr lang="en-US"/>
          </a:p>
        </p:txBody>
      </p:sp>
    </p:spTree>
    <p:extLst>
      <p:ext uri="{BB962C8B-B14F-4D97-AF65-F5344CB8AC3E}">
        <p14:creationId xmlns:p14="http://schemas.microsoft.com/office/powerpoint/2010/main" val="2030319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656E-B39F-F2AF-DB0B-18FB65571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2DD48-AE46-5C9F-5D0F-D582648E5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81194-831B-B975-1237-F3563F2201F1}"/>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B34338F2-F67B-F059-72B2-DB8C58FA2F9F}"/>
              </a:ext>
            </a:extLst>
          </p:cNvPr>
          <p:cNvSpPr>
            <a:spLocks noGrp="1"/>
          </p:cNvSpPr>
          <p:nvPr>
            <p:ph type="sldNum" sz="quarter" idx="5"/>
          </p:nvPr>
        </p:nvSpPr>
        <p:spPr/>
        <p:txBody>
          <a:bodyPr/>
          <a:lstStyle/>
          <a:p>
            <a:fld id="{57FA7580-8799-469A-BB12-ED0505026B46}" type="slidenum">
              <a:rPr lang="en-US" smtClean="0"/>
              <a:t>28</a:t>
            </a:fld>
            <a:endParaRPr lang="en-US"/>
          </a:p>
        </p:txBody>
      </p:sp>
    </p:spTree>
    <p:extLst>
      <p:ext uri="{BB962C8B-B14F-4D97-AF65-F5344CB8AC3E}">
        <p14:creationId xmlns:p14="http://schemas.microsoft.com/office/powerpoint/2010/main" val="2151172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7E74C-0177-79F6-110E-5BF72D08A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CF3AA-7858-7C4A-74FF-CEFDF8DB0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A7083-D41F-F279-1820-4BDDF45B8DB1}"/>
              </a:ext>
            </a:extLst>
          </p:cNvPr>
          <p:cNvSpPr>
            <a:spLocks noGrp="1"/>
          </p:cNvSpPr>
          <p:nvPr>
            <p:ph type="body" idx="1"/>
          </p:nvPr>
        </p:nvSpPr>
        <p:spPr/>
        <p:txBody>
          <a:bodyPr/>
          <a:lstStyle/>
          <a:p>
            <a:r>
              <a:rPr lang="en-US"/>
              <a:t>Paloma. Conclusions</a:t>
            </a:r>
          </a:p>
          <a:p>
            <a:endParaRPr lang="en-US"/>
          </a:p>
          <a:p>
            <a:r>
              <a:rPr lang="en-US"/>
              <a:t>Brightness seems to a valid proxy for reflectance trends under controlled conditions</a:t>
            </a:r>
          </a:p>
          <a:p>
            <a:r>
              <a:rPr lang="en-US"/>
              <a:t>The simplified colored paper model was an effect initial step</a:t>
            </a:r>
          </a:p>
          <a:p>
            <a:r>
              <a:rPr lang="en-US"/>
              <a:t>The infrared LED introduces limitations in our correlations, since the camera is not very sensitive at this wavelength.</a:t>
            </a:r>
            <a:br>
              <a:rPr lang="en-US"/>
            </a:br>
            <a:r>
              <a:rPr lang="en-US"/>
              <a:t>Spectral sensitivity and calibrations assumptions will be corrected and improved</a:t>
            </a:r>
          </a:p>
          <a:p>
            <a:r>
              <a:rPr lang="en-US"/>
              <a:t>For this mode, reverse recognition is limited do to the similarity of the trends of the papers. </a:t>
            </a:r>
            <a:br>
              <a:rPr lang="en-US"/>
            </a:br>
            <a:br>
              <a:rPr lang="en-US"/>
            </a:br>
            <a:r>
              <a:rPr lang="en-US"/>
              <a:t>Paloma. Future Work</a:t>
            </a:r>
          </a:p>
          <a:p>
            <a:endParaRPr lang="en-US"/>
          </a:p>
          <a:p>
            <a:r>
              <a:rPr lang="en-US"/>
              <a:t>Expanding for real materials </a:t>
            </a:r>
          </a:p>
          <a:p>
            <a:r>
              <a:rPr lang="en-US"/>
              <a:t>Computing actual values of reflectance using a calibrating panel</a:t>
            </a:r>
          </a:p>
          <a:p>
            <a:endParaRPr lang="en-US"/>
          </a:p>
          <a:p>
            <a:r>
              <a:rPr lang="en-US"/>
              <a:t>Sensitivity of the camera****</a:t>
            </a:r>
          </a:p>
          <a:p>
            <a:endParaRPr lang="en-US"/>
          </a:p>
          <a:p>
            <a:r>
              <a:rPr lang="en-US"/>
              <a:t>Florian Conclusions</a:t>
            </a:r>
          </a:p>
          <a:p>
            <a:endParaRPr lang="en-US"/>
          </a:p>
          <a:p>
            <a:endParaRPr lang="en-US"/>
          </a:p>
          <a:p>
            <a:r>
              <a:rPr lang="en-US"/>
              <a:t>Florian Future Work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We have an outline of the next steps to implement in the processing pipeline. The ellipse will need to transformed back into a circle using a </a:t>
            </a:r>
            <a:r>
              <a:rPr lang="en-US" b="0" err="1"/>
              <a:t>homography</a:t>
            </a:r>
            <a:r>
              <a:rPr lang="en-US" b="0"/>
              <a:t> transform, as if the camera observed the wheel perpendicularly. Then, the wheel/regolith interface should be detected. This is where the regolith surface line intersects the </a:t>
            </a:r>
            <a:r>
              <a:rPr lang="en-US" b="0" err="1"/>
              <a:t>homography</a:t>
            </a:r>
            <a:r>
              <a:rPr lang="en-US" b="0"/>
              <a:t> (it will be clearer in the next images I will show where the wheel is sunk into the regolith). Finally, we can calculate the sinkage as a proportion of the wheel radius by measuring the distance from wheel center to regolith interface. </a:t>
            </a:r>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670D4B23-C439-8C2E-22BD-D4058FC6C259}"/>
              </a:ext>
            </a:extLst>
          </p:cNvPr>
          <p:cNvSpPr>
            <a:spLocks noGrp="1"/>
          </p:cNvSpPr>
          <p:nvPr>
            <p:ph type="sldNum" sz="quarter" idx="5"/>
          </p:nvPr>
        </p:nvSpPr>
        <p:spPr/>
        <p:txBody>
          <a:bodyPr/>
          <a:lstStyle/>
          <a:p>
            <a:fld id="{57FA7580-8799-469A-BB12-ED0505026B46}" type="slidenum">
              <a:rPr lang="en-US" smtClean="0"/>
              <a:t>29</a:t>
            </a:fld>
            <a:endParaRPr lang="en-US"/>
          </a:p>
        </p:txBody>
      </p:sp>
    </p:spTree>
    <p:extLst>
      <p:ext uri="{BB962C8B-B14F-4D97-AF65-F5344CB8AC3E}">
        <p14:creationId xmlns:p14="http://schemas.microsoft.com/office/powerpoint/2010/main" val="4781435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15ED-221D-0EB6-A22A-ECE9BB583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D2937-B825-A865-4267-D7A6BE940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39FB3-992E-13AB-3C29-73FE32B48693}"/>
              </a:ext>
            </a:extLst>
          </p:cNvPr>
          <p:cNvSpPr>
            <a:spLocks noGrp="1"/>
          </p:cNvSpPr>
          <p:nvPr>
            <p:ph type="body" idx="1"/>
          </p:nvPr>
        </p:nvSpPr>
        <p:spPr/>
        <p:txBody>
          <a:bodyPr/>
          <a:lstStyle/>
          <a:p>
            <a:endParaRPr lang="en-U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Each LED was assumed to emit light at a single narrow wavelength, despite its known slight variation. This allows for a simplified analysis, though it introduces inaccuracies in the spectrometer measurements, where an offset at the peak position was observed at each wavelength.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The sensitivity factor of the camera was assumed to be constant for each LED wavelength and assumed to have been corrected in the cameras calibration through the spectral response values provided by the manufacturer. This assumption will be verified once the calibration of our measurements is made.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Assumed that the selected point, identified by the spectrometer's laser receives approximately equal and sufficient illumination from all LEDs. The angular response of the camera was not explicitly considered, based on the assumption that it would not significantly affect the behavior of the results under the simplified setup. Note that the difference in optics as explained in \</a:t>
            </a:r>
            <a:r>
              <a:rPr lang="en-US" sz="1200" err="1">
                <a:latin typeface="Abadi Extra Light" panose="020B0204020104020204" pitchFamily="34" charset="0"/>
              </a:rPr>
              <a:t>autoref</a:t>
            </a:r>
            <a:r>
              <a:rPr lang="en-US" sz="1200">
                <a:latin typeface="Abadi Extra Light" panose="020B0204020104020204" pitchFamily="34" charset="0"/>
              </a:rPr>
              <a:t>{</a:t>
            </a:r>
            <a:r>
              <a:rPr lang="en-US" sz="1200" err="1">
                <a:latin typeface="Abadi Extra Light" panose="020B0204020104020204" pitchFamily="34" charset="0"/>
              </a:rPr>
              <a:t>subsec:Testbed</a:t>
            </a:r>
            <a:r>
              <a:rPr lang="en-US" sz="1200">
                <a:latin typeface="Abadi Extra Light" panose="020B0204020104020204" pitchFamily="34" charset="0"/>
              </a:rPr>
              <a:t>} between the </a:t>
            </a:r>
            <a:r>
              <a:rPr lang="en-US" sz="1200" err="1">
                <a:latin typeface="Abadi Extra Light" panose="020B0204020104020204" pitchFamily="34" charset="0"/>
              </a:rPr>
              <a:t>WheelCams</a:t>
            </a:r>
            <a:r>
              <a:rPr lang="en-US" sz="1200">
                <a:latin typeface="Abadi Extra Light" panose="020B0204020104020204" pitchFamily="34" charset="0"/>
              </a:rPr>
              <a:t> on IDEFIX and the testbed </a:t>
            </a:r>
            <a:r>
              <a:rPr lang="en-US" sz="1200" err="1">
                <a:latin typeface="Abadi Extra Light" panose="020B0204020104020204" pitchFamily="34" charset="0"/>
              </a:rPr>
              <a:t>WheelCams</a:t>
            </a:r>
            <a:r>
              <a:rPr lang="en-US" sz="1200">
                <a:latin typeface="Abadi Extra Light" panose="020B0204020104020204" pitchFamily="34" charset="0"/>
              </a:rPr>
              <a:t> will be substantial, and will have to be considered when the complexity of the model evolves to a proxy of our Phobos environment.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Main assumption is that there is a linear relationship between image brightness and material reflectance. This is reasonable for our simplified model, but it may not hold in more complex or uncontrolled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latin typeface="Abadi Extra Light" panose="020B020402010402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a:latin typeface="Abadi Extra Light" panose="020B020402010402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a:latin typeface="Abadi Extra Light" panose="020B0204020104020204" pitchFamily="34" charset="0"/>
            </a:endParaRPr>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2429FAAC-A2E0-B47A-60B1-4F6CAE7C24A9}"/>
              </a:ext>
            </a:extLst>
          </p:cNvPr>
          <p:cNvSpPr>
            <a:spLocks noGrp="1"/>
          </p:cNvSpPr>
          <p:nvPr>
            <p:ph type="sldNum" sz="quarter" idx="5"/>
          </p:nvPr>
        </p:nvSpPr>
        <p:spPr/>
        <p:txBody>
          <a:bodyPr/>
          <a:lstStyle/>
          <a:p>
            <a:fld id="{57FA7580-8799-469A-BB12-ED0505026B46}" type="slidenum">
              <a:rPr lang="en-US" smtClean="0"/>
              <a:t>30</a:t>
            </a:fld>
            <a:endParaRPr lang="en-US"/>
          </a:p>
        </p:txBody>
      </p:sp>
    </p:spTree>
    <p:extLst>
      <p:ext uri="{BB962C8B-B14F-4D97-AF65-F5344CB8AC3E}">
        <p14:creationId xmlns:p14="http://schemas.microsoft.com/office/powerpoint/2010/main" val="90570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F65D-B11D-F623-BBA9-D6128049F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BFE32-6831-1F1C-7FD0-7B2950DE4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79A57-08E9-51E5-3533-0E8F3A5240FB}"/>
              </a:ext>
            </a:extLst>
          </p:cNvPr>
          <p:cNvSpPr>
            <a:spLocks noGrp="1"/>
          </p:cNvSpPr>
          <p:nvPr>
            <p:ph type="body" idx="1"/>
          </p:nvPr>
        </p:nvSpPr>
        <p:spPr/>
        <p:txBody>
          <a:bodyPr/>
          <a:lstStyle/>
          <a:p>
            <a:endParaRPr lang="en-US"/>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Each LED was assumed to emit light at a single narrow wavelength, despite its known slight variation. This allows for a simplified analysis, though it introduces inaccuracies in the spectrometer measurements, where an offset at the peak position was observed at each wavelength.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The sensitivity factor of the camera was assumed to be constant for each LED wavelength and assumed to have been corrected in the cameras calibration through the spectral response values provided by the manufacturer. This assumption will be verified once the calibration of our measurements is made.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Assumed that the selected point, identified by the spectrometer's laser receives approximately equal and sufficient illumination from all LEDs. The angular response of the camera was not explicitly considered, based on the assumption that it would not significantly affect the behavior of the results under the simplified setup. Note that the difference in optics as explained in \</a:t>
            </a:r>
            <a:r>
              <a:rPr lang="en-US" sz="1200" err="1">
                <a:latin typeface="Abadi Extra Light" panose="020B0204020104020204" pitchFamily="34" charset="0"/>
              </a:rPr>
              <a:t>autoref</a:t>
            </a:r>
            <a:r>
              <a:rPr lang="en-US" sz="1200">
                <a:latin typeface="Abadi Extra Light" panose="020B0204020104020204" pitchFamily="34" charset="0"/>
              </a:rPr>
              <a:t>{</a:t>
            </a:r>
            <a:r>
              <a:rPr lang="en-US" sz="1200" err="1">
                <a:latin typeface="Abadi Extra Light" panose="020B0204020104020204" pitchFamily="34" charset="0"/>
              </a:rPr>
              <a:t>subsec:Testbed</a:t>
            </a:r>
            <a:r>
              <a:rPr lang="en-US" sz="1200">
                <a:latin typeface="Abadi Extra Light" panose="020B0204020104020204" pitchFamily="34" charset="0"/>
              </a:rPr>
              <a:t>} between the </a:t>
            </a:r>
            <a:r>
              <a:rPr lang="en-US" sz="1200" err="1">
                <a:latin typeface="Abadi Extra Light" panose="020B0204020104020204" pitchFamily="34" charset="0"/>
              </a:rPr>
              <a:t>WheelCams</a:t>
            </a:r>
            <a:r>
              <a:rPr lang="en-US" sz="1200">
                <a:latin typeface="Abadi Extra Light" panose="020B0204020104020204" pitchFamily="34" charset="0"/>
              </a:rPr>
              <a:t> on IDEFIX and the testbed </a:t>
            </a:r>
            <a:r>
              <a:rPr lang="en-US" sz="1200" err="1">
                <a:latin typeface="Abadi Extra Light" panose="020B0204020104020204" pitchFamily="34" charset="0"/>
              </a:rPr>
              <a:t>WheelCams</a:t>
            </a:r>
            <a:r>
              <a:rPr lang="en-US" sz="1200">
                <a:latin typeface="Abadi Extra Light" panose="020B0204020104020204" pitchFamily="34" charset="0"/>
              </a:rPr>
              <a:t> will be substantial, and will have to be considered when the complexity of the model evolves to a proxy of our Phobos environment.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latin typeface="Abadi Extra Light" panose="020B0204020104020204" pitchFamily="34" charset="0"/>
              </a:rPr>
              <a:t>Main assumption is that there is a linear relationship between image brightness and material reflectance. This is reasonable for our simplified model, but it may not hold in more complex or uncontrolled conditions.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latin typeface="Abadi Extra Light" panose="020B020402010402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a:latin typeface="Abadi Extra Light" panose="020B0204020104020204" pitchFamily="34"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a:latin typeface="Abadi Extra Light" panose="020B0204020104020204" pitchFamily="34" charset="0"/>
            </a:endParaRPr>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9CA6C242-5600-B00E-4EB0-D03C77B81365}"/>
              </a:ext>
            </a:extLst>
          </p:cNvPr>
          <p:cNvSpPr>
            <a:spLocks noGrp="1"/>
          </p:cNvSpPr>
          <p:nvPr>
            <p:ph type="sldNum" sz="quarter" idx="5"/>
          </p:nvPr>
        </p:nvSpPr>
        <p:spPr/>
        <p:txBody>
          <a:bodyPr/>
          <a:lstStyle/>
          <a:p>
            <a:fld id="{57FA7580-8799-469A-BB12-ED0505026B46}" type="slidenum">
              <a:rPr lang="en-US" smtClean="0"/>
              <a:t>31</a:t>
            </a:fld>
            <a:endParaRPr lang="en-US"/>
          </a:p>
        </p:txBody>
      </p:sp>
    </p:spTree>
    <p:extLst>
      <p:ext uri="{BB962C8B-B14F-4D97-AF65-F5344CB8AC3E}">
        <p14:creationId xmlns:p14="http://schemas.microsoft.com/office/powerpoint/2010/main" val="173434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0AB96-D781-CEB5-4261-BF77A42CB70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75746E53-A193-8996-F5F2-FE205B82CF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D6E6527C-4437-78E0-CD98-4A64875FAF04}"/>
              </a:ext>
            </a:extLst>
          </p:cNvPr>
          <p:cNvSpPr>
            <a:spLocks noGrp="1"/>
          </p:cNvSpPr>
          <p:nvPr>
            <p:ph type="dt" sz="half" idx="10"/>
          </p:nvPr>
        </p:nvSpPr>
        <p:spPr/>
        <p:txBody>
          <a:bodyPr/>
          <a:lstStyle/>
          <a:p>
            <a:fld id="{25AF820A-C6B2-4B2B-9BDE-7AC44932EFFC}" type="datetime1">
              <a:rPr lang="en-US" smtClean="0"/>
              <a:t>6/23/2025</a:t>
            </a:fld>
            <a:endParaRPr lang="en-US"/>
          </a:p>
        </p:txBody>
      </p:sp>
      <p:sp>
        <p:nvSpPr>
          <p:cNvPr id="5" name="Marcador de pie de página 4">
            <a:extLst>
              <a:ext uri="{FF2B5EF4-FFF2-40B4-BE49-F238E27FC236}">
                <a16:creationId xmlns:a16="http://schemas.microsoft.com/office/drawing/2014/main" id="{F4D798ED-7E9D-09EA-00BD-39E1888ADFA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18F8219-CABA-B028-1A8C-839F6EA3E4EC}"/>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1286360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D3DB80-0360-44BF-CDF2-380C05EA075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DCD1F10-EC7A-907A-7973-D9837F2FB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087B267-1CFA-EF11-42BD-5BE125300D97}"/>
              </a:ext>
            </a:extLst>
          </p:cNvPr>
          <p:cNvSpPr>
            <a:spLocks noGrp="1"/>
          </p:cNvSpPr>
          <p:nvPr>
            <p:ph type="dt" sz="half" idx="10"/>
          </p:nvPr>
        </p:nvSpPr>
        <p:spPr/>
        <p:txBody>
          <a:bodyPr/>
          <a:lstStyle/>
          <a:p>
            <a:fld id="{68BE27A3-B25A-4E2F-A94C-B5BF66B1EC61}" type="datetime1">
              <a:rPr lang="en-US" smtClean="0"/>
              <a:t>6/23/2025</a:t>
            </a:fld>
            <a:endParaRPr lang="en-US"/>
          </a:p>
        </p:txBody>
      </p:sp>
      <p:sp>
        <p:nvSpPr>
          <p:cNvPr id="5" name="Marcador de pie de página 4">
            <a:extLst>
              <a:ext uri="{FF2B5EF4-FFF2-40B4-BE49-F238E27FC236}">
                <a16:creationId xmlns:a16="http://schemas.microsoft.com/office/drawing/2014/main" id="{9086586D-460D-B78F-895C-3B00700881B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C41BAEF-4A62-B14E-7AC7-090B75A1EB2F}"/>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1386984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317C1B-FE04-14E0-0949-F2F4781F1C2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1453410-3BC0-F50F-E1B7-D50E4379C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213CD6A-020C-0EB8-6DA0-1171D29D14E7}"/>
              </a:ext>
            </a:extLst>
          </p:cNvPr>
          <p:cNvSpPr>
            <a:spLocks noGrp="1"/>
          </p:cNvSpPr>
          <p:nvPr>
            <p:ph type="dt" sz="half" idx="10"/>
          </p:nvPr>
        </p:nvSpPr>
        <p:spPr/>
        <p:txBody>
          <a:bodyPr/>
          <a:lstStyle/>
          <a:p>
            <a:fld id="{A82BA73E-C48B-4C06-A95F-62BA6CC615DE}" type="datetime1">
              <a:rPr lang="en-US" smtClean="0"/>
              <a:t>6/23/2025</a:t>
            </a:fld>
            <a:endParaRPr lang="en-US"/>
          </a:p>
        </p:txBody>
      </p:sp>
      <p:sp>
        <p:nvSpPr>
          <p:cNvPr id="5" name="Marcador de pie de página 4">
            <a:extLst>
              <a:ext uri="{FF2B5EF4-FFF2-40B4-BE49-F238E27FC236}">
                <a16:creationId xmlns:a16="http://schemas.microsoft.com/office/drawing/2014/main" id="{E63C609C-0712-A4E1-B487-CBE0307A0CB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6C4CC0D-BF55-EF40-5447-D51E7F6DF92B}"/>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51097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E7A95D-C1B8-4944-D4AF-D835393A66B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1A9CAF2-B641-26CC-34F9-5D3645FDAE2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B8C9C32A-8FE0-9037-6358-7E2DCF2BEC1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A8FC277B-EB39-1649-C800-67A9711F6D65}"/>
              </a:ext>
            </a:extLst>
          </p:cNvPr>
          <p:cNvSpPr>
            <a:spLocks noGrp="1"/>
          </p:cNvSpPr>
          <p:nvPr>
            <p:ph type="dt" sz="half" idx="10"/>
          </p:nvPr>
        </p:nvSpPr>
        <p:spPr/>
        <p:txBody>
          <a:bodyPr/>
          <a:lstStyle/>
          <a:p>
            <a:fld id="{73C6816B-7B05-4B7F-A542-B69B11A77DB6}" type="datetime1">
              <a:rPr lang="en-US" smtClean="0"/>
              <a:t>6/23/2025</a:t>
            </a:fld>
            <a:endParaRPr lang="en-US"/>
          </a:p>
        </p:txBody>
      </p:sp>
      <p:sp>
        <p:nvSpPr>
          <p:cNvPr id="6" name="Marcador de pie de página 5">
            <a:extLst>
              <a:ext uri="{FF2B5EF4-FFF2-40B4-BE49-F238E27FC236}">
                <a16:creationId xmlns:a16="http://schemas.microsoft.com/office/drawing/2014/main" id="{775E1632-BE50-3016-ABC8-B11868D546FA}"/>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B002D08-4C10-DC32-E7C9-B6E0B59AD73D}"/>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992177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2E19-91D8-3422-E133-F853A50F5B1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EDFF2DC-5E7B-E703-F746-43C7C2155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C54EA0A-6A18-02FD-C588-59A544B4257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70816A23-CA0C-C7D9-681B-64276DB721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03DE10-5C35-5AE0-A2B7-153FB7748BC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408010DD-78CA-03AA-76B8-CED529B4C3B3}"/>
              </a:ext>
            </a:extLst>
          </p:cNvPr>
          <p:cNvSpPr>
            <a:spLocks noGrp="1"/>
          </p:cNvSpPr>
          <p:nvPr>
            <p:ph type="dt" sz="half" idx="10"/>
          </p:nvPr>
        </p:nvSpPr>
        <p:spPr/>
        <p:txBody>
          <a:bodyPr/>
          <a:lstStyle/>
          <a:p>
            <a:fld id="{7A240EF9-2EBD-4A36-897C-86C6BDB02E9E}" type="datetime1">
              <a:rPr lang="en-US" smtClean="0"/>
              <a:t>6/23/2025</a:t>
            </a:fld>
            <a:endParaRPr lang="en-US"/>
          </a:p>
        </p:txBody>
      </p:sp>
      <p:sp>
        <p:nvSpPr>
          <p:cNvPr id="8" name="Marcador de pie de página 7">
            <a:extLst>
              <a:ext uri="{FF2B5EF4-FFF2-40B4-BE49-F238E27FC236}">
                <a16:creationId xmlns:a16="http://schemas.microsoft.com/office/drawing/2014/main" id="{78CAE47A-5D13-628E-32DE-D24701E5A940}"/>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22E50C4D-5C7E-6761-AAFF-817478FBACAB}"/>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948506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CFF0D-D1E5-3550-9FDA-63145AC0906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3D43C52C-B106-CCF8-B5BD-302FAF0222C8}"/>
              </a:ext>
            </a:extLst>
          </p:cNvPr>
          <p:cNvSpPr>
            <a:spLocks noGrp="1"/>
          </p:cNvSpPr>
          <p:nvPr>
            <p:ph type="dt" sz="half" idx="10"/>
          </p:nvPr>
        </p:nvSpPr>
        <p:spPr/>
        <p:txBody>
          <a:bodyPr/>
          <a:lstStyle/>
          <a:p>
            <a:fld id="{F2B71CAF-4C53-479A-9A0F-EB5E5B058895}" type="datetime1">
              <a:rPr lang="en-US" smtClean="0"/>
              <a:t>6/23/2025</a:t>
            </a:fld>
            <a:endParaRPr lang="en-US"/>
          </a:p>
        </p:txBody>
      </p:sp>
      <p:sp>
        <p:nvSpPr>
          <p:cNvPr id="4" name="Marcador de pie de página 3">
            <a:extLst>
              <a:ext uri="{FF2B5EF4-FFF2-40B4-BE49-F238E27FC236}">
                <a16:creationId xmlns:a16="http://schemas.microsoft.com/office/drawing/2014/main" id="{10CEC549-85A3-3118-604F-AA1678875693}"/>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08EAA22B-7C37-3308-5D71-28EDFB12A459}"/>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718626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CAEABA2-F1B8-4D64-711A-6BC23AA367F2}"/>
              </a:ext>
            </a:extLst>
          </p:cNvPr>
          <p:cNvSpPr>
            <a:spLocks noGrp="1"/>
          </p:cNvSpPr>
          <p:nvPr>
            <p:ph type="dt" sz="half" idx="10"/>
          </p:nvPr>
        </p:nvSpPr>
        <p:spPr/>
        <p:txBody>
          <a:bodyPr/>
          <a:lstStyle/>
          <a:p>
            <a:fld id="{94452B4F-B26C-4391-9C03-AD7B46A60FD3}" type="datetime1">
              <a:rPr lang="en-US" smtClean="0"/>
              <a:t>6/23/2025</a:t>
            </a:fld>
            <a:endParaRPr lang="en-US"/>
          </a:p>
        </p:txBody>
      </p:sp>
      <p:sp>
        <p:nvSpPr>
          <p:cNvPr id="3" name="Marcador de pie de página 2">
            <a:extLst>
              <a:ext uri="{FF2B5EF4-FFF2-40B4-BE49-F238E27FC236}">
                <a16:creationId xmlns:a16="http://schemas.microsoft.com/office/drawing/2014/main" id="{C06AB830-C45C-A075-5424-1EDAE7A615F9}"/>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C007B075-F075-9CBD-6189-56CE57E3DB1E}"/>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295952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BA06A2-4976-41B4-D1A5-151913319B2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726A9F20-897D-399F-C739-4503DE19C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BE692BF7-675D-0035-B99D-D6441BB01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3ABEE2-BB3C-FC7C-9C2D-8417B5FD33DD}"/>
              </a:ext>
            </a:extLst>
          </p:cNvPr>
          <p:cNvSpPr>
            <a:spLocks noGrp="1"/>
          </p:cNvSpPr>
          <p:nvPr>
            <p:ph type="dt" sz="half" idx="10"/>
          </p:nvPr>
        </p:nvSpPr>
        <p:spPr/>
        <p:txBody>
          <a:bodyPr/>
          <a:lstStyle/>
          <a:p>
            <a:fld id="{A007BFAA-63F4-461A-B11E-B711A763ADBD}" type="datetime1">
              <a:rPr lang="en-US" smtClean="0"/>
              <a:t>6/23/2025</a:t>
            </a:fld>
            <a:endParaRPr lang="en-US"/>
          </a:p>
        </p:txBody>
      </p:sp>
      <p:sp>
        <p:nvSpPr>
          <p:cNvPr id="6" name="Marcador de pie de página 5">
            <a:extLst>
              <a:ext uri="{FF2B5EF4-FFF2-40B4-BE49-F238E27FC236}">
                <a16:creationId xmlns:a16="http://schemas.microsoft.com/office/drawing/2014/main" id="{83F27D36-7175-B3D7-A009-FC15A1F3592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2BF7FE7-144C-9800-384C-58829CE3E83F}"/>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1324771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D0A8A1-984B-33B1-BB93-9423193F9F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AD6F8CA-37C3-3DAF-9B80-C370E5D29E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1B7D323F-82BE-2A36-EC01-0788FDE226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CA7B74-916C-D32F-C38A-E6481C98DC8C}"/>
              </a:ext>
            </a:extLst>
          </p:cNvPr>
          <p:cNvSpPr>
            <a:spLocks noGrp="1"/>
          </p:cNvSpPr>
          <p:nvPr>
            <p:ph type="dt" sz="half" idx="10"/>
          </p:nvPr>
        </p:nvSpPr>
        <p:spPr/>
        <p:txBody>
          <a:bodyPr/>
          <a:lstStyle/>
          <a:p>
            <a:fld id="{F90D1EF1-835A-4263-8D23-65077E97C022}" type="datetime1">
              <a:rPr lang="en-US" smtClean="0"/>
              <a:t>6/23/2025</a:t>
            </a:fld>
            <a:endParaRPr lang="en-US"/>
          </a:p>
        </p:txBody>
      </p:sp>
      <p:sp>
        <p:nvSpPr>
          <p:cNvPr id="6" name="Marcador de pie de página 5">
            <a:extLst>
              <a:ext uri="{FF2B5EF4-FFF2-40B4-BE49-F238E27FC236}">
                <a16:creationId xmlns:a16="http://schemas.microsoft.com/office/drawing/2014/main" id="{050FFAB9-3E23-0237-CF32-8E988D2963DA}"/>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5AE93244-3787-0A9C-65E3-535C552FCDFD}"/>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3089407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75D158-86A3-AA01-A79C-18D0160A87F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07F6B681-4D9A-F0FB-77B3-75DF957E162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E14C79F7-6C87-5CE0-11FE-0E739F5687F5}"/>
              </a:ext>
            </a:extLst>
          </p:cNvPr>
          <p:cNvSpPr>
            <a:spLocks noGrp="1"/>
          </p:cNvSpPr>
          <p:nvPr>
            <p:ph type="dt" sz="half" idx="10"/>
          </p:nvPr>
        </p:nvSpPr>
        <p:spPr/>
        <p:txBody>
          <a:bodyPr/>
          <a:lstStyle/>
          <a:p>
            <a:fld id="{B3435158-65D9-4B6F-A0D9-EE2212E48FDB}" type="datetime1">
              <a:rPr lang="en-US" smtClean="0"/>
              <a:t>6/23/2025</a:t>
            </a:fld>
            <a:endParaRPr lang="en-US"/>
          </a:p>
        </p:txBody>
      </p:sp>
      <p:sp>
        <p:nvSpPr>
          <p:cNvPr id="5" name="Marcador de pie de página 4">
            <a:extLst>
              <a:ext uri="{FF2B5EF4-FFF2-40B4-BE49-F238E27FC236}">
                <a16:creationId xmlns:a16="http://schemas.microsoft.com/office/drawing/2014/main" id="{9FFA9182-9F8B-63AB-4E9F-EA009145DD9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1731A85-90D3-34B7-6437-9D852E76FE47}"/>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1051372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537DFE-0621-12EE-6729-4F70BFF3CF0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D5180C1A-E175-4468-9BBB-702DBE0EA24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9D53742-D0C9-34C2-1DA4-7B90E9246F11}"/>
              </a:ext>
            </a:extLst>
          </p:cNvPr>
          <p:cNvSpPr>
            <a:spLocks noGrp="1"/>
          </p:cNvSpPr>
          <p:nvPr>
            <p:ph type="dt" sz="half" idx="10"/>
          </p:nvPr>
        </p:nvSpPr>
        <p:spPr/>
        <p:txBody>
          <a:bodyPr/>
          <a:lstStyle/>
          <a:p>
            <a:fld id="{B33A53B0-2100-423B-8A78-7FA7E57DCA82}" type="datetime1">
              <a:rPr lang="en-US" smtClean="0"/>
              <a:t>6/23/2025</a:t>
            </a:fld>
            <a:endParaRPr lang="en-US"/>
          </a:p>
        </p:txBody>
      </p:sp>
      <p:sp>
        <p:nvSpPr>
          <p:cNvPr id="5" name="Marcador de pie de página 4">
            <a:extLst>
              <a:ext uri="{FF2B5EF4-FFF2-40B4-BE49-F238E27FC236}">
                <a16:creationId xmlns:a16="http://schemas.microsoft.com/office/drawing/2014/main" id="{9E7DBF4E-703F-6F36-20D7-78D0A837E98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309C0D8-07E7-93FB-3CB2-75A96721F928}"/>
              </a:ext>
            </a:extLst>
          </p:cNvPr>
          <p:cNvSpPr>
            <a:spLocks noGrp="1"/>
          </p:cNvSpPr>
          <p:nvPr>
            <p:ph type="sldNum" sz="quarter" idx="12"/>
          </p:nvPr>
        </p:nvSpPr>
        <p:spPr/>
        <p:txBody>
          <a:bodyPr/>
          <a:lstStyle/>
          <a:p>
            <a:fld id="{44FB0107-420B-4DF9-9FAA-9FA8A7FAF6E3}" type="slidenum">
              <a:rPr lang="en-US" smtClean="0"/>
              <a:t>‹#›</a:t>
            </a:fld>
            <a:endParaRPr lang="en-US"/>
          </a:p>
        </p:txBody>
      </p:sp>
    </p:spTree>
    <p:extLst>
      <p:ext uri="{BB962C8B-B14F-4D97-AF65-F5344CB8AC3E}">
        <p14:creationId xmlns:p14="http://schemas.microsoft.com/office/powerpoint/2010/main" val="2315170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453ACC2-20AE-96B4-9A4E-7674E637E3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C6B18601-B06B-5E6B-776B-416357BEEC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67489970-5C15-FAB3-6841-36590DAF1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D2F849-26AC-4015-BF4C-7FF6AD3FAF18}" type="datetime1">
              <a:rPr lang="en-US" smtClean="0"/>
              <a:t>6/23/2025</a:t>
            </a:fld>
            <a:endParaRPr lang="en-US"/>
          </a:p>
        </p:txBody>
      </p:sp>
      <p:sp>
        <p:nvSpPr>
          <p:cNvPr id="5" name="Marcador de pie de página 4">
            <a:extLst>
              <a:ext uri="{FF2B5EF4-FFF2-40B4-BE49-F238E27FC236}">
                <a16:creationId xmlns:a16="http://schemas.microsoft.com/office/drawing/2014/main" id="{C0D6285F-60A4-C745-5F12-1FD1CC52F6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A05CCEC1-BE20-B215-3D99-08B17D630E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FB0107-420B-4DF9-9FAA-9FA8A7FAF6E3}" type="slidenum">
              <a:rPr lang="en-US" smtClean="0"/>
              <a:t>‹#›</a:t>
            </a:fld>
            <a:endParaRPr lang="en-US"/>
          </a:p>
        </p:txBody>
      </p:sp>
    </p:spTree>
    <p:extLst>
      <p:ext uri="{BB962C8B-B14F-4D97-AF65-F5344CB8AC3E}">
        <p14:creationId xmlns:p14="http://schemas.microsoft.com/office/powerpoint/2010/main" val="1095933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4.jpe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tiff"/><Relationship Id="rId5" Type="http://schemas.microsoft.com/office/2007/relationships/hdphoto" Target="../media/hdphoto1.wdp"/><Relationship Id="rId10" Type="http://schemas.openxmlformats.org/officeDocument/2006/relationships/image" Target="../media/image1.png"/><Relationship Id="rId4" Type="http://schemas.openxmlformats.org/officeDocument/2006/relationships/image" Target="../media/image15.png"/><Relationship Id="rId9" Type="http://schemas.openxmlformats.org/officeDocument/2006/relationships/image" Target="../media/image18.tiff"/></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tif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0.tiff"/><Relationship Id="rId4" Type="http://schemas.openxmlformats.org/officeDocument/2006/relationships/image" Target="../media/image29.tif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tif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4877D9-E3AE-9B05-7D02-316AF0F5BA9F}"/>
              </a:ext>
            </a:extLst>
          </p:cNvPr>
          <p:cNvSpPr>
            <a:spLocks noGrp="1"/>
          </p:cNvSpPr>
          <p:nvPr>
            <p:ph type="ctrTitle"/>
          </p:nvPr>
        </p:nvSpPr>
        <p:spPr>
          <a:xfrm>
            <a:off x="1524000" y="1401212"/>
            <a:ext cx="9144000" cy="2387600"/>
          </a:xfrm>
        </p:spPr>
        <p:txBody>
          <a:bodyPr>
            <a:normAutofit fontScale="90000"/>
          </a:bodyPr>
          <a:lstStyle/>
          <a:p>
            <a:r>
              <a:rPr lang="en-US">
                <a:latin typeface="Abadi Extra Light" panose="020B0204020104020204" pitchFamily="34" charset="0"/>
              </a:rPr>
              <a:t>Preparing to study the surface of Phobos using IDEFIX </a:t>
            </a:r>
            <a:r>
              <a:rPr lang="en-US" err="1">
                <a:latin typeface="Abadi Extra Light" panose="020B0204020104020204" pitchFamily="34" charset="0"/>
              </a:rPr>
              <a:t>WheelCam</a:t>
            </a:r>
            <a:r>
              <a:rPr lang="en-US">
                <a:latin typeface="Abadi Extra Light" panose="020B0204020104020204" pitchFamily="34" charset="0"/>
              </a:rPr>
              <a:t> Images</a:t>
            </a:r>
          </a:p>
        </p:txBody>
      </p:sp>
      <p:sp>
        <p:nvSpPr>
          <p:cNvPr id="3" name="Subtítulo 2">
            <a:extLst>
              <a:ext uri="{FF2B5EF4-FFF2-40B4-BE49-F238E27FC236}">
                <a16:creationId xmlns:a16="http://schemas.microsoft.com/office/drawing/2014/main" id="{BF3FAA81-89B8-5CB1-FE71-1946520D2241}"/>
              </a:ext>
            </a:extLst>
          </p:cNvPr>
          <p:cNvSpPr>
            <a:spLocks noGrp="1"/>
          </p:cNvSpPr>
          <p:nvPr>
            <p:ph type="subTitle" idx="1"/>
          </p:nvPr>
        </p:nvSpPr>
        <p:spPr>
          <a:xfrm>
            <a:off x="1524000" y="4546918"/>
            <a:ext cx="9144000" cy="1655762"/>
          </a:xfrm>
        </p:spPr>
        <p:txBody>
          <a:bodyPr>
            <a:normAutofit fontScale="92500" lnSpcReduction="20000"/>
          </a:bodyPr>
          <a:lstStyle/>
          <a:p>
            <a:r>
              <a:rPr lang="en-US" sz="2000">
                <a:latin typeface="Abadi Extra Light" panose="020B0204020104020204" pitchFamily="34" charset="0"/>
              </a:rPr>
              <a:t>Florian </a:t>
            </a:r>
            <a:r>
              <a:rPr lang="en-US" sz="2000" err="1">
                <a:latin typeface="Abadi Extra Light" panose="020B0204020104020204" pitchFamily="34" charset="0"/>
              </a:rPr>
              <a:t>Mellab</a:t>
            </a:r>
            <a:r>
              <a:rPr lang="en-US" sz="2000">
                <a:latin typeface="Abadi Extra Light" panose="020B0204020104020204" pitchFamily="34" charset="0"/>
              </a:rPr>
              <a:t> and Paloma Tejero Aranguren </a:t>
            </a:r>
          </a:p>
          <a:p>
            <a:endParaRPr lang="en-US" sz="2000">
              <a:latin typeface="Abadi Extra Light" panose="020B0204020104020204" pitchFamily="34" charset="0"/>
            </a:endParaRPr>
          </a:p>
          <a:p>
            <a:r>
              <a:rPr lang="en-US" sz="2000">
                <a:latin typeface="Abadi Extra Light" panose="020B0204020104020204" pitchFamily="34" charset="0"/>
              </a:rPr>
              <a:t>Supervisors:</a:t>
            </a:r>
          </a:p>
          <a:p>
            <a:r>
              <a:rPr lang="en-US" sz="2000">
                <a:latin typeface="Abadi Extra Light" panose="020B0204020104020204" pitchFamily="34" charset="0"/>
              </a:rPr>
              <a:t>Dr. Naomi Murdoch</a:t>
            </a:r>
          </a:p>
          <a:p>
            <a:r>
              <a:rPr lang="en-US" sz="2000">
                <a:latin typeface="Abadi Extra Light" panose="020B0204020104020204" pitchFamily="34" charset="0"/>
              </a:rPr>
              <a:t>Alice Amsili</a:t>
            </a:r>
          </a:p>
        </p:txBody>
      </p:sp>
      <p:cxnSp>
        <p:nvCxnSpPr>
          <p:cNvPr id="4" name="Conector recto 3">
            <a:extLst>
              <a:ext uri="{FF2B5EF4-FFF2-40B4-BE49-F238E27FC236}">
                <a16:creationId xmlns:a16="http://schemas.microsoft.com/office/drawing/2014/main" id="{E01B4DFD-8635-D475-B3FF-1AA3296826F2}"/>
              </a:ext>
            </a:extLst>
          </p:cNvPr>
          <p:cNvCxnSpPr>
            <a:cxnSpLocks/>
          </p:cNvCxnSpPr>
          <p:nvPr/>
        </p:nvCxnSpPr>
        <p:spPr>
          <a:xfrm>
            <a:off x="2840735" y="4089718"/>
            <a:ext cx="6510528" cy="0"/>
          </a:xfrm>
          <a:prstGeom prst="line">
            <a:avLst/>
          </a:prstGeom>
        </p:spPr>
        <p:style>
          <a:lnRef idx="2">
            <a:schemeClr val="dk1"/>
          </a:lnRef>
          <a:fillRef idx="0">
            <a:schemeClr val="dk1"/>
          </a:fillRef>
          <a:effectRef idx="1">
            <a:schemeClr val="dk1"/>
          </a:effectRef>
          <a:fontRef idx="minor">
            <a:schemeClr val="tx1"/>
          </a:fontRef>
        </p:style>
      </p:cxnSp>
      <p:sp>
        <p:nvSpPr>
          <p:cNvPr id="5" name="CuadroTexto 4">
            <a:extLst>
              <a:ext uri="{FF2B5EF4-FFF2-40B4-BE49-F238E27FC236}">
                <a16:creationId xmlns:a16="http://schemas.microsoft.com/office/drawing/2014/main" id="{03C11034-7285-93D2-03AA-4C65ED91725F}"/>
              </a:ext>
            </a:extLst>
          </p:cNvPr>
          <p:cNvSpPr txBox="1"/>
          <p:nvPr/>
        </p:nvSpPr>
        <p:spPr>
          <a:xfrm>
            <a:off x="4246454" y="287925"/>
            <a:ext cx="3699090" cy="369332"/>
          </a:xfrm>
          <a:prstGeom prst="rect">
            <a:avLst/>
          </a:prstGeom>
          <a:noFill/>
        </p:spPr>
        <p:txBody>
          <a:bodyPr wrap="none" rtlCol="0">
            <a:spAutoFit/>
          </a:bodyPr>
          <a:lstStyle/>
          <a:p>
            <a:r>
              <a:rPr lang="en-US" b="1">
                <a:latin typeface="Abadi Extra Light" panose="020B0204020104020204" pitchFamily="34" charset="0"/>
              </a:rPr>
              <a:t>MASTER in AEROSPACE ENGINEERING</a:t>
            </a:r>
          </a:p>
        </p:txBody>
      </p:sp>
      <p:sp>
        <p:nvSpPr>
          <p:cNvPr id="6" name="CuadroTexto 5">
            <a:extLst>
              <a:ext uri="{FF2B5EF4-FFF2-40B4-BE49-F238E27FC236}">
                <a16:creationId xmlns:a16="http://schemas.microsoft.com/office/drawing/2014/main" id="{91F8D11C-5F39-E13D-B8E6-9E7EC813FDCB}"/>
              </a:ext>
            </a:extLst>
          </p:cNvPr>
          <p:cNvSpPr txBox="1"/>
          <p:nvPr/>
        </p:nvSpPr>
        <p:spPr>
          <a:xfrm>
            <a:off x="5250576" y="879160"/>
            <a:ext cx="1690847" cy="369332"/>
          </a:xfrm>
          <a:prstGeom prst="rect">
            <a:avLst/>
          </a:prstGeom>
          <a:noFill/>
        </p:spPr>
        <p:txBody>
          <a:bodyPr wrap="none" rtlCol="0">
            <a:spAutoFit/>
          </a:bodyPr>
          <a:lstStyle/>
          <a:p>
            <a:r>
              <a:rPr lang="en-US" i="1">
                <a:latin typeface="Abadi Extra Light" panose="020B0204020104020204" pitchFamily="34" charset="0"/>
              </a:rPr>
              <a:t>Research Project</a:t>
            </a:r>
          </a:p>
        </p:txBody>
      </p:sp>
      <p:pic>
        <p:nvPicPr>
          <p:cNvPr id="1026" name="Picture 2">
            <a:extLst>
              <a:ext uri="{FF2B5EF4-FFF2-40B4-BE49-F238E27FC236}">
                <a16:creationId xmlns:a16="http://schemas.microsoft.com/office/drawing/2014/main" id="{0B497AC9-0867-911C-FEB3-F1BA43A15C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20" y="581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upo 11">
            <a:extLst>
              <a:ext uri="{FF2B5EF4-FFF2-40B4-BE49-F238E27FC236}">
                <a16:creationId xmlns:a16="http://schemas.microsoft.com/office/drawing/2014/main" id="{995E3D04-55A9-5EF1-2082-25818EE3959B}"/>
              </a:ext>
            </a:extLst>
          </p:cNvPr>
          <p:cNvGrpSpPr/>
          <p:nvPr/>
        </p:nvGrpSpPr>
        <p:grpSpPr>
          <a:xfrm>
            <a:off x="10789533" y="4685830"/>
            <a:ext cx="2534856" cy="2631139"/>
            <a:chOff x="10176075" y="4523784"/>
            <a:chExt cx="2534856" cy="2631139"/>
          </a:xfrm>
        </p:grpSpPr>
        <p:sp>
          <p:nvSpPr>
            <p:cNvPr id="7" name="Triángulo isósceles 6">
              <a:extLst>
                <a:ext uri="{FF2B5EF4-FFF2-40B4-BE49-F238E27FC236}">
                  <a16:creationId xmlns:a16="http://schemas.microsoft.com/office/drawing/2014/main" id="{00A246BB-495B-EA85-B471-75E939492D76}"/>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654CC5DB-46EA-87D5-5277-09172DD37D5D}"/>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ángulo isósceles 7">
              <a:extLst>
                <a:ext uri="{FF2B5EF4-FFF2-40B4-BE49-F238E27FC236}">
                  <a16:creationId xmlns:a16="http://schemas.microsoft.com/office/drawing/2014/main" id="{4AA6E4FA-18EF-5FF6-64FA-DDF46CCD83EF}"/>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6687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4E6972-8BD7-13E7-E2DA-D211054861A1}"/>
              </a:ext>
            </a:extLst>
          </p:cNvPr>
          <p:cNvSpPr>
            <a:spLocks noGrp="1"/>
          </p:cNvSpPr>
          <p:nvPr>
            <p:ph type="title"/>
          </p:nvPr>
        </p:nvSpPr>
        <p:spPr>
          <a:xfrm>
            <a:off x="1075944" y="941705"/>
            <a:ext cx="10515600" cy="1325563"/>
          </a:xfrm>
        </p:spPr>
        <p:txBody>
          <a:bodyPr/>
          <a:lstStyle/>
          <a:p>
            <a:r>
              <a:rPr lang="en-US">
                <a:latin typeface="Abadi Extra Light" panose="020B0204020104020204" pitchFamily="34" charset="0"/>
              </a:rPr>
              <a:t>INDEX</a:t>
            </a:r>
          </a:p>
        </p:txBody>
      </p:sp>
      <p:sp>
        <p:nvSpPr>
          <p:cNvPr id="3" name="Marcador de contenido 2">
            <a:extLst>
              <a:ext uri="{FF2B5EF4-FFF2-40B4-BE49-F238E27FC236}">
                <a16:creationId xmlns:a16="http://schemas.microsoft.com/office/drawing/2014/main" id="{E5C6CE5F-2D5A-2658-2B6D-53D427615541}"/>
              </a:ext>
            </a:extLst>
          </p:cNvPr>
          <p:cNvSpPr>
            <a:spLocks noGrp="1"/>
          </p:cNvSpPr>
          <p:nvPr>
            <p:ph idx="1"/>
          </p:nvPr>
        </p:nvSpPr>
        <p:spPr>
          <a:xfrm>
            <a:off x="1075944" y="2464244"/>
            <a:ext cx="10515600" cy="4351338"/>
          </a:xfrm>
        </p:spPr>
        <p:txBody>
          <a:bodyPr/>
          <a:lstStyle/>
          <a:p>
            <a:pPr>
              <a:lnSpc>
                <a:spcPct val="150000"/>
              </a:lnSpc>
            </a:pPr>
            <a:r>
              <a:rPr lang="en-US">
                <a:latin typeface="Abadi Extra Light" panose="020B0204020104020204" pitchFamily="34" charset="0"/>
              </a:rPr>
              <a:t>Introduction</a:t>
            </a:r>
          </a:p>
          <a:p>
            <a:pPr>
              <a:lnSpc>
                <a:spcPct val="150000"/>
              </a:lnSpc>
            </a:pPr>
            <a:r>
              <a:rPr lang="en-US">
                <a:latin typeface="Abadi Extra Light" panose="020B0204020104020204" pitchFamily="34" charset="0"/>
              </a:rPr>
              <a:t>Theoretical Background</a:t>
            </a:r>
          </a:p>
          <a:p>
            <a:pPr>
              <a:lnSpc>
                <a:spcPct val="150000"/>
              </a:lnSpc>
            </a:pPr>
            <a:r>
              <a:rPr lang="en-US">
                <a:latin typeface="Abadi Extra Light" panose="020B0204020104020204" pitchFamily="34" charset="0"/>
              </a:rPr>
              <a:t>Methodology</a:t>
            </a:r>
          </a:p>
          <a:p>
            <a:pPr>
              <a:lnSpc>
                <a:spcPct val="150000"/>
              </a:lnSpc>
            </a:pPr>
            <a:r>
              <a:rPr lang="en-US">
                <a:latin typeface="Abadi Extra Light" panose="020B0204020104020204" pitchFamily="34" charset="0"/>
              </a:rPr>
              <a:t>Results and discussion</a:t>
            </a:r>
          </a:p>
          <a:p>
            <a:pPr>
              <a:lnSpc>
                <a:spcPct val="150000"/>
              </a:lnSpc>
            </a:pPr>
            <a:r>
              <a:rPr lang="en-US">
                <a:latin typeface="Abadi Extra Light" panose="020B0204020104020204" pitchFamily="34" charset="0"/>
              </a:rPr>
              <a:t>Conclusions and future work</a:t>
            </a:r>
          </a:p>
          <a:p>
            <a:pPr marL="0" indent="0">
              <a:buNone/>
            </a:pPr>
            <a:endParaRPr lang="en-US">
              <a:latin typeface="Abadi Extra Light" panose="020B0204020104020204" pitchFamily="34" charset="0"/>
            </a:endParaRPr>
          </a:p>
        </p:txBody>
      </p:sp>
      <p:cxnSp>
        <p:nvCxnSpPr>
          <p:cNvPr id="4" name="Conector recto 3">
            <a:extLst>
              <a:ext uri="{FF2B5EF4-FFF2-40B4-BE49-F238E27FC236}">
                <a16:creationId xmlns:a16="http://schemas.microsoft.com/office/drawing/2014/main" id="{FC0B8105-8A26-1FBB-0A0D-9601F2A08CF6}"/>
              </a:ext>
            </a:extLst>
          </p:cNvPr>
          <p:cNvCxnSpPr>
            <a:cxnSpLocks/>
          </p:cNvCxnSpPr>
          <p:nvPr/>
        </p:nvCxnSpPr>
        <p:spPr>
          <a:xfrm>
            <a:off x="551687" y="2145479"/>
            <a:ext cx="6510528" cy="0"/>
          </a:xfrm>
          <a:prstGeom prst="line">
            <a:avLst/>
          </a:prstGeom>
        </p:spPr>
        <p:style>
          <a:lnRef idx="2">
            <a:schemeClr val="dk1"/>
          </a:lnRef>
          <a:fillRef idx="0">
            <a:schemeClr val="dk1"/>
          </a:fillRef>
          <a:effectRef idx="1">
            <a:schemeClr val="dk1"/>
          </a:effectRef>
          <a:fontRef idx="minor">
            <a:schemeClr val="tx1"/>
          </a:fontRef>
        </p:style>
      </p:cxnSp>
      <p:pic>
        <p:nvPicPr>
          <p:cNvPr id="7" name="Picture 2">
            <a:extLst>
              <a:ext uri="{FF2B5EF4-FFF2-40B4-BE49-F238E27FC236}">
                <a16:creationId xmlns:a16="http://schemas.microsoft.com/office/drawing/2014/main" id="{1798E058-DBCF-17D5-491A-C9002BC12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D9968B55-2F55-07E3-82DC-66520BAB9367}"/>
              </a:ext>
            </a:extLst>
          </p:cNvPr>
          <p:cNvGrpSpPr/>
          <p:nvPr/>
        </p:nvGrpSpPr>
        <p:grpSpPr>
          <a:xfrm rot="14969103">
            <a:off x="9892742" y="-1315570"/>
            <a:ext cx="2534856" cy="2631139"/>
            <a:chOff x="10176075" y="4523784"/>
            <a:chExt cx="2534856" cy="2631139"/>
          </a:xfrm>
        </p:grpSpPr>
        <p:sp>
          <p:nvSpPr>
            <p:cNvPr id="9" name="Triángulo isósceles 8">
              <a:extLst>
                <a:ext uri="{FF2B5EF4-FFF2-40B4-BE49-F238E27FC236}">
                  <a16:creationId xmlns:a16="http://schemas.microsoft.com/office/drawing/2014/main" id="{55F2D048-EA83-5337-C15C-8F7D5ED32BBC}"/>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ángulo isósceles 13">
              <a:extLst>
                <a:ext uri="{FF2B5EF4-FFF2-40B4-BE49-F238E27FC236}">
                  <a16:creationId xmlns:a16="http://schemas.microsoft.com/office/drawing/2014/main" id="{5BF78F7D-EB30-49DA-C29E-DE9057D382C7}"/>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iángulo isósceles 14">
              <a:extLst>
                <a:ext uri="{FF2B5EF4-FFF2-40B4-BE49-F238E27FC236}">
                  <a16:creationId xmlns:a16="http://schemas.microsoft.com/office/drawing/2014/main" id="{EE938FCC-C8E7-72D8-0386-469AA7386B1D}"/>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Slide Number Placeholder 16">
            <a:extLst>
              <a:ext uri="{FF2B5EF4-FFF2-40B4-BE49-F238E27FC236}">
                <a16:creationId xmlns:a16="http://schemas.microsoft.com/office/drawing/2014/main" id="{2522CED5-6192-55AE-470F-77C7F84B2B18}"/>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a:t>
            </a:fld>
            <a:endParaRPr lang="en-US">
              <a:solidFill>
                <a:schemeClr val="tx1"/>
              </a:solidFill>
            </a:endParaRPr>
          </a:p>
        </p:txBody>
      </p:sp>
    </p:spTree>
    <p:extLst>
      <p:ext uri="{BB962C8B-B14F-4D97-AF65-F5344CB8AC3E}">
        <p14:creationId xmlns:p14="http://schemas.microsoft.com/office/powerpoint/2010/main" val="2987914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1881-B6FD-4625-9EB5-9B1FDB7487ED}"/>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B124D237-2B16-DE48-2882-9A370C79698F}"/>
              </a:ext>
            </a:extLst>
          </p:cNvPr>
          <p:cNvPicPr>
            <a:picLocks noChangeAspect="1"/>
          </p:cNvPicPr>
          <p:nvPr/>
        </p:nvPicPr>
        <p:blipFill>
          <a:blip r:embed="rId3"/>
          <a:stretch>
            <a:fillRect/>
          </a:stretch>
        </p:blipFill>
        <p:spPr>
          <a:xfrm>
            <a:off x="6948097" y="2836510"/>
            <a:ext cx="5141032" cy="2934108"/>
          </a:xfrm>
          <a:prstGeom prst="rect">
            <a:avLst/>
          </a:prstGeom>
        </p:spPr>
      </p:pic>
      <p:sp>
        <p:nvSpPr>
          <p:cNvPr id="9" name="Título 1">
            <a:extLst>
              <a:ext uri="{FF2B5EF4-FFF2-40B4-BE49-F238E27FC236}">
                <a16:creationId xmlns:a16="http://schemas.microsoft.com/office/drawing/2014/main" id="{BBE028F7-3794-9A1C-6DEF-1F116833274F}"/>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INTRODUCTION</a:t>
            </a:r>
            <a:endParaRPr lang="en-US" sz="3200">
              <a:latin typeface="Abadi Extra Light" panose="020B0204020104020204" pitchFamily="34" charset="0"/>
            </a:endParaRPr>
          </a:p>
        </p:txBody>
      </p:sp>
      <p:cxnSp>
        <p:nvCxnSpPr>
          <p:cNvPr id="10" name="Conector recto 9">
            <a:extLst>
              <a:ext uri="{FF2B5EF4-FFF2-40B4-BE49-F238E27FC236}">
                <a16:creationId xmlns:a16="http://schemas.microsoft.com/office/drawing/2014/main" id="{298F140F-9353-AA7F-620C-B2AB213CD5C8}"/>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grpSp>
        <p:nvGrpSpPr>
          <p:cNvPr id="16" name="Grupo 15">
            <a:extLst>
              <a:ext uri="{FF2B5EF4-FFF2-40B4-BE49-F238E27FC236}">
                <a16:creationId xmlns:a16="http://schemas.microsoft.com/office/drawing/2014/main" id="{AD32E397-0664-6B3A-5379-EC364CF1C565}"/>
              </a:ext>
            </a:extLst>
          </p:cNvPr>
          <p:cNvGrpSpPr/>
          <p:nvPr/>
        </p:nvGrpSpPr>
        <p:grpSpPr>
          <a:xfrm rot="14969103">
            <a:off x="9892743" y="-1315570"/>
            <a:ext cx="2534856" cy="2631139"/>
            <a:chOff x="10176075" y="4523784"/>
            <a:chExt cx="2534856" cy="2631139"/>
          </a:xfrm>
        </p:grpSpPr>
        <p:sp>
          <p:nvSpPr>
            <p:cNvPr id="17" name="Triángulo isósceles 16">
              <a:extLst>
                <a:ext uri="{FF2B5EF4-FFF2-40B4-BE49-F238E27FC236}">
                  <a16:creationId xmlns:a16="http://schemas.microsoft.com/office/drawing/2014/main" id="{21AFE5FC-6B96-42D7-B519-CDFACE409502}"/>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ángulo isósceles 17">
              <a:extLst>
                <a:ext uri="{FF2B5EF4-FFF2-40B4-BE49-F238E27FC236}">
                  <a16:creationId xmlns:a16="http://schemas.microsoft.com/office/drawing/2014/main" id="{E78279D3-8405-F47B-2A49-AA69B25884E5}"/>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ángulo isósceles 18">
              <a:extLst>
                <a:ext uri="{FF2B5EF4-FFF2-40B4-BE49-F238E27FC236}">
                  <a16:creationId xmlns:a16="http://schemas.microsoft.com/office/drawing/2014/main" id="{146F8807-CCF9-3CF6-AE71-EC0A9A2A91BE}"/>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2">
            <a:extLst>
              <a:ext uri="{FF2B5EF4-FFF2-40B4-BE49-F238E27FC236}">
                <a16:creationId xmlns:a16="http://schemas.microsoft.com/office/drawing/2014/main" id="{A2400286-293C-968C-1E3C-1A634B012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8ADB4C89-18A1-809A-56EE-854C5C3D7412}"/>
              </a:ext>
            </a:extLst>
          </p:cNvPr>
          <p:cNvSpPr>
            <a:spLocks noGrp="1"/>
          </p:cNvSpPr>
          <p:nvPr>
            <p:ph type="sldNum" sz="quarter" idx="12"/>
          </p:nvPr>
        </p:nvSpPr>
        <p:spPr>
          <a:xfrm>
            <a:off x="9187067" y="6356350"/>
            <a:ext cx="2743200" cy="365125"/>
          </a:xfrm>
        </p:spPr>
        <p:txBody>
          <a:bodyPr/>
          <a:lstStyle/>
          <a:p>
            <a:fld id="{44FB0107-420B-4DF9-9FAA-9FA8A7FAF6E3}" type="slidenum">
              <a:rPr lang="en-US" smtClean="0">
                <a:solidFill>
                  <a:schemeClr val="tx1"/>
                </a:solidFill>
              </a:rPr>
              <a:t>3</a:t>
            </a:fld>
            <a:endParaRPr lang="en-US">
              <a:solidFill>
                <a:schemeClr val="tx1"/>
              </a:solidFill>
            </a:endParaRPr>
          </a:p>
        </p:txBody>
      </p:sp>
      <p:pic>
        <p:nvPicPr>
          <p:cNvPr id="7" name="Picture 2" descr="ESA - MMX factsheet">
            <a:extLst>
              <a:ext uri="{FF2B5EF4-FFF2-40B4-BE49-F238E27FC236}">
                <a16:creationId xmlns:a16="http://schemas.microsoft.com/office/drawing/2014/main" id="{DC4754D8-908E-85AE-F637-69BAD4E772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38" y="0"/>
            <a:ext cx="12213838" cy="6870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86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05B62-67F7-B4C9-29B4-6280B22C49B3}"/>
            </a:ext>
          </a:extLst>
        </p:cNvPr>
        <p:cNvGrpSpPr/>
        <p:nvPr/>
      </p:nvGrpSpPr>
      <p:grpSpPr>
        <a:xfrm>
          <a:off x="0" y="0"/>
          <a:ext cx="0" cy="0"/>
          <a:chOff x="0" y="0"/>
          <a:chExt cx="0" cy="0"/>
        </a:xfrm>
      </p:grpSpPr>
      <p:pic>
        <p:nvPicPr>
          <p:cNvPr id="1026" name="Picture 2" descr="ESA - MMX factsheet">
            <a:extLst>
              <a:ext uri="{FF2B5EF4-FFF2-40B4-BE49-F238E27FC236}">
                <a16:creationId xmlns:a16="http://schemas.microsoft.com/office/drawing/2014/main" id="{B33BCC75-AD23-A8DA-27EE-AE3C7E610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369" y="967836"/>
            <a:ext cx="2577367" cy="257736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D9265834-355C-E89A-A1AD-C7C22A716FFC}"/>
              </a:ext>
            </a:extLst>
          </p:cNvPr>
          <p:cNvPicPr>
            <a:picLocks noChangeAspect="1"/>
          </p:cNvPicPr>
          <p:nvPr/>
        </p:nvPicPr>
        <p:blipFill>
          <a:blip r:embed="rId4"/>
          <a:stretch>
            <a:fillRect/>
          </a:stretch>
        </p:blipFill>
        <p:spPr>
          <a:xfrm>
            <a:off x="3097915" y="2277871"/>
            <a:ext cx="8025128" cy="4580129"/>
          </a:xfrm>
          <a:prstGeom prst="rect">
            <a:avLst/>
          </a:prstGeom>
        </p:spPr>
      </p:pic>
      <p:sp>
        <p:nvSpPr>
          <p:cNvPr id="9" name="Título 1">
            <a:extLst>
              <a:ext uri="{FF2B5EF4-FFF2-40B4-BE49-F238E27FC236}">
                <a16:creationId xmlns:a16="http://schemas.microsoft.com/office/drawing/2014/main" id="{2D8C4D7E-4E71-07AC-6570-3DACFDE8892D}"/>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INTRODUCTION</a:t>
            </a:r>
            <a:endParaRPr lang="en-US" sz="3200">
              <a:latin typeface="Abadi Extra Light" panose="020B0204020104020204" pitchFamily="34" charset="0"/>
            </a:endParaRPr>
          </a:p>
        </p:txBody>
      </p:sp>
      <p:cxnSp>
        <p:nvCxnSpPr>
          <p:cNvPr id="10" name="Conector recto 9">
            <a:extLst>
              <a:ext uri="{FF2B5EF4-FFF2-40B4-BE49-F238E27FC236}">
                <a16:creationId xmlns:a16="http://schemas.microsoft.com/office/drawing/2014/main" id="{486C6297-F6E3-7DBF-109A-B7CFE38C7768}"/>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grpSp>
        <p:nvGrpSpPr>
          <p:cNvPr id="16" name="Grupo 15">
            <a:extLst>
              <a:ext uri="{FF2B5EF4-FFF2-40B4-BE49-F238E27FC236}">
                <a16:creationId xmlns:a16="http://schemas.microsoft.com/office/drawing/2014/main" id="{CFC81E6B-4628-D596-7FDA-11DDD38C0141}"/>
              </a:ext>
            </a:extLst>
          </p:cNvPr>
          <p:cNvGrpSpPr/>
          <p:nvPr/>
        </p:nvGrpSpPr>
        <p:grpSpPr>
          <a:xfrm rot="14969103">
            <a:off x="9892743" y="-1315570"/>
            <a:ext cx="2534856" cy="2631139"/>
            <a:chOff x="10176075" y="4523784"/>
            <a:chExt cx="2534856" cy="2631139"/>
          </a:xfrm>
        </p:grpSpPr>
        <p:sp>
          <p:nvSpPr>
            <p:cNvPr id="17" name="Triángulo isósceles 16">
              <a:extLst>
                <a:ext uri="{FF2B5EF4-FFF2-40B4-BE49-F238E27FC236}">
                  <a16:creationId xmlns:a16="http://schemas.microsoft.com/office/drawing/2014/main" id="{591A2BF9-9F31-752C-A071-26FF2034506A}"/>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ángulo isósceles 17">
              <a:extLst>
                <a:ext uri="{FF2B5EF4-FFF2-40B4-BE49-F238E27FC236}">
                  <a16:creationId xmlns:a16="http://schemas.microsoft.com/office/drawing/2014/main" id="{9FED3842-4033-82A9-DC3A-F1265606C29F}"/>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ángulo isósceles 18">
              <a:extLst>
                <a:ext uri="{FF2B5EF4-FFF2-40B4-BE49-F238E27FC236}">
                  <a16:creationId xmlns:a16="http://schemas.microsoft.com/office/drawing/2014/main" id="{5341CEC2-0A97-C6C2-FD65-FD7619158E9C}"/>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2">
            <a:extLst>
              <a:ext uri="{FF2B5EF4-FFF2-40B4-BE49-F238E27FC236}">
                <a16:creationId xmlns:a16="http://schemas.microsoft.com/office/drawing/2014/main" id="{2F6758AC-96F5-E405-0AD5-39E7F694C1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A3ADE20C-587B-C6ED-ECD7-A09CA515D710}"/>
              </a:ext>
            </a:extLst>
          </p:cNvPr>
          <p:cNvSpPr>
            <a:spLocks noGrp="1"/>
          </p:cNvSpPr>
          <p:nvPr>
            <p:ph type="sldNum" sz="quarter" idx="12"/>
          </p:nvPr>
        </p:nvSpPr>
        <p:spPr>
          <a:xfrm>
            <a:off x="9187067" y="6356350"/>
            <a:ext cx="2743200" cy="365125"/>
          </a:xfrm>
        </p:spPr>
        <p:txBody>
          <a:bodyPr/>
          <a:lstStyle/>
          <a:p>
            <a:fld id="{44FB0107-420B-4DF9-9FAA-9FA8A7FAF6E3}" type="slidenum">
              <a:rPr lang="en-US" smtClean="0">
                <a:solidFill>
                  <a:schemeClr val="tx1"/>
                </a:solidFill>
              </a:rPr>
              <a:t>4</a:t>
            </a:fld>
            <a:endParaRPr lang="en-US">
              <a:solidFill>
                <a:schemeClr val="tx1"/>
              </a:solidFill>
            </a:endParaRPr>
          </a:p>
        </p:txBody>
      </p:sp>
    </p:spTree>
    <p:extLst>
      <p:ext uri="{BB962C8B-B14F-4D97-AF65-F5344CB8AC3E}">
        <p14:creationId xmlns:p14="http://schemas.microsoft.com/office/powerpoint/2010/main" val="126403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AFAF-7CD6-7508-AF81-A5D360569014}"/>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7F30580-AC69-6563-1DA3-BB87E353442F}"/>
              </a:ext>
            </a:extLst>
          </p:cNvPr>
          <p:cNvSpPr>
            <a:spLocks noGrp="1"/>
          </p:cNvSpPr>
          <p:nvPr>
            <p:ph idx="1"/>
          </p:nvPr>
        </p:nvSpPr>
        <p:spPr>
          <a:xfrm>
            <a:off x="561251" y="2745910"/>
            <a:ext cx="5141032" cy="3431804"/>
          </a:xfrm>
        </p:spPr>
        <p:txBody>
          <a:bodyPr/>
          <a:lstStyle/>
          <a:p>
            <a:r>
              <a:rPr lang="en-US">
                <a:latin typeface="Abadi Extra Light" panose="020B0204020104020204" pitchFamily="34" charset="0"/>
              </a:rPr>
              <a:t>Develop an algorithm that can isolate the wheel and estimate the sinkage</a:t>
            </a:r>
          </a:p>
          <a:p>
            <a:r>
              <a:rPr lang="en-US">
                <a:latin typeface="Abadi Extra Light" panose="020B0204020104020204" pitchFamily="34" charset="0"/>
              </a:rPr>
              <a:t>Determine how the combination of the colored LEDs and the panchromatic camera can provide information about the surface of Phobos. </a:t>
            </a:r>
          </a:p>
        </p:txBody>
      </p:sp>
      <p:sp>
        <p:nvSpPr>
          <p:cNvPr id="9" name="Título 1">
            <a:extLst>
              <a:ext uri="{FF2B5EF4-FFF2-40B4-BE49-F238E27FC236}">
                <a16:creationId xmlns:a16="http://schemas.microsoft.com/office/drawing/2014/main" id="{CA375D0A-F663-ECA6-DA0D-43F2F10AE16D}"/>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INTRODUCTION</a:t>
            </a:r>
            <a:endParaRPr lang="en-US" sz="3200">
              <a:latin typeface="Abadi Extra Light" panose="020B0204020104020204" pitchFamily="34" charset="0"/>
            </a:endParaRPr>
          </a:p>
        </p:txBody>
      </p:sp>
      <p:cxnSp>
        <p:nvCxnSpPr>
          <p:cNvPr id="10" name="Conector recto 9">
            <a:extLst>
              <a:ext uri="{FF2B5EF4-FFF2-40B4-BE49-F238E27FC236}">
                <a16:creationId xmlns:a16="http://schemas.microsoft.com/office/drawing/2014/main" id="{F60E8231-CB0B-9DA9-DDE7-A449C9EC784B}"/>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3" name="Título 1">
            <a:extLst>
              <a:ext uri="{FF2B5EF4-FFF2-40B4-BE49-F238E27FC236}">
                <a16:creationId xmlns:a16="http://schemas.microsoft.com/office/drawing/2014/main" id="{1DB8BADA-967F-5D06-0126-26DF99612F18}"/>
              </a:ext>
            </a:extLst>
          </p:cNvPr>
          <p:cNvSpPr txBox="1">
            <a:spLocks/>
          </p:cNvSpPr>
          <p:nvPr/>
        </p:nvSpPr>
        <p:spPr>
          <a:xfrm>
            <a:off x="-1029176" y="2104880"/>
            <a:ext cx="7796256"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OBJECTIVES</a:t>
            </a:r>
            <a:endParaRPr lang="en-US" sz="3200">
              <a:latin typeface="Abadi Extra Light" panose="020B0204020104020204" pitchFamily="34" charset="0"/>
            </a:endParaRPr>
          </a:p>
        </p:txBody>
      </p:sp>
      <p:grpSp>
        <p:nvGrpSpPr>
          <p:cNvPr id="16" name="Grupo 15">
            <a:extLst>
              <a:ext uri="{FF2B5EF4-FFF2-40B4-BE49-F238E27FC236}">
                <a16:creationId xmlns:a16="http://schemas.microsoft.com/office/drawing/2014/main" id="{7F614796-94AD-1718-D463-ABCF03C6D3B7}"/>
              </a:ext>
            </a:extLst>
          </p:cNvPr>
          <p:cNvGrpSpPr/>
          <p:nvPr/>
        </p:nvGrpSpPr>
        <p:grpSpPr>
          <a:xfrm rot="14969103">
            <a:off x="9892743" y="-1315570"/>
            <a:ext cx="2534856" cy="2631139"/>
            <a:chOff x="10176075" y="4523784"/>
            <a:chExt cx="2534856" cy="2631139"/>
          </a:xfrm>
        </p:grpSpPr>
        <p:sp>
          <p:nvSpPr>
            <p:cNvPr id="17" name="Triángulo isósceles 16">
              <a:extLst>
                <a:ext uri="{FF2B5EF4-FFF2-40B4-BE49-F238E27FC236}">
                  <a16:creationId xmlns:a16="http://schemas.microsoft.com/office/drawing/2014/main" id="{20562C9F-384F-4FFF-F47E-DD8F48D36EF8}"/>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ángulo isósceles 17">
              <a:extLst>
                <a:ext uri="{FF2B5EF4-FFF2-40B4-BE49-F238E27FC236}">
                  <a16:creationId xmlns:a16="http://schemas.microsoft.com/office/drawing/2014/main" id="{7A96C67D-3124-9A81-F1BC-8AF7251E584C}"/>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ángulo isósceles 18">
              <a:extLst>
                <a:ext uri="{FF2B5EF4-FFF2-40B4-BE49-F238E27FC236}">
                  <a16:creationId xmlns:a16="http://schemas.microsoft.com/office/drawing/2014/main" id="{F68E1149-3BF3-4660-B98D-9CDD86315B9A}"/>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2">
            <a:extLst>
              <a:ext uri="{FF2B5EF4-FFF2-40B4-BE49-F238E27FC236}">
                <a16:creationId xmlns:a16="http://schemas.microsoft.com/office/drawing/2014/main" id="{F1AEC4C8-585F-C757-99CE-6DA520EC2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76DD4E55-7F3A-17A5-4135-F580D2F8608E}"/>
              </a:ext>
            </a:extLst>
          </p:cNvPr>
          <p:cNvSpPr>
            <a:spLocks noGrp="1"/>
          </p:cNvSpPr>
          <p:nvPr>
            <p:ph type="sldNum" sz="quarter" idx="12"/>
          </p:nvPr>
        </p:nvSpPr>
        <p:spPr>
          <a:xfrm>
            <a:off x="9187067" y="6356350"/>
            <a:ext cx="2743200" cy="365125"/>
          </a:xfrm>
        </p:spPr>
        <p:txBody>
          <a:bodyPr/>
          <a:lstStyle/>
          <a:p>
            <a:fld id="{44FB0107-420B-4DF9-9FAA-9FA8A7FAF6E3}" type="slidenum">
              <a:rPr lang="en-US" smtClean="0">
                <a:solidFill>
                  <a:schemeClr val="tx1"/>
                </a:solidFill>
              </a:rPr>
              <a:t>5</a:t>
            </a:fld>
            <a:endParaRPr lang="en-US">
              <a:solidFill>
                <a:schemeClr val="tx1"/>
              </a:solidFill>
            </a:endParaRPr>
          </a:p>
        </p:txBody>
      </p:sp>
      <p:pic>
        <p:nvPicPr>
          <p:cNvPr id="3076" name="Picture 4" descr="Phobos | The Solar System Wiki | Fandom">
            <a:extLst>
              <a:ext uri="{FF2B5EF4-FFF2-40B4-BE49-F238E27FC236}">
                <a16:creationId xmlns:a16="http://schemas.microsoft.com/office/drawing/2014/main" id="{47CE97EB-E438-9D47-411B-5932F21309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7941" y="680286"/>
            <a:ext cx="5727429" cy="5887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6218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1190F-F771-459F-85EF-C28134F0D1D5}"/>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3612D803-FFDB-4579-8E17-46A10ABB8E6D}"/>
              </a:ext>
            </a:extLst>
          </p:cNvPr>
          <p:cNvGrpSpPr/>
          <p:nvPr/>
        </p:nvGrpSpPr>
        <p:grpSpPr>
          <a:xfrm>
            <a:off x="737812" y="1590630"/>
            <a:ext cx="10509309" cy="3211041"/>
            <a:chOff x="354817" y="1559915"/>
            <a:chExt cx="10239702" cy="3211041"/>
          </a:xfrm>
        </p:grpSpPr>
        <p:cxnSp>
          <p:nvCxnSpPr>
            <p:cNvPr id="23" name="Straight Arrow Connector 22">
              <a:extLst>
                <a:ext uri="{FF2B5EF4-FFF2-40B4-BE49-F238E27FC236}">
                  <a16:creationId xmlns:a16="http://schemas.microsoft.com/office/drawing/2014/main" id="{79D4C200-164C-A70B-530D-AB2D462379FF}"/>
                </a:ext>
              </a:extLst>
            </p:cNvPr>
            <p:cNvCxnSpPr>
              <a:cxnSpLocks/>
              <a:stCxn id="5" idx="3"/>
              <a:endCxn id="6" idx="1"/>
            </p:cNvCxnSpPr>
            <p:nvPr/>
          </p:nvCxnSpPr>
          <p:spPr>
            <a:xfrm flipV="1">
              <a:off x="6990724" y="2264953"/>
              <a:ext cx="1436974" cy="1"/>
            </a:xfrm>
            <a:prstGeom prst="straightConnector1">
              <a:avLst/>
            </a:prstGeom>
            <a:ln w="57150">
              <a:solidFill>
                <a:srgbClr val="00518E"/>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98CEBBA-A640-FCAC-C3CA-7CD404E8BFFC}"/>
                </a:ext>
              </a:extLst>
            </p:cNvPr>
            <p:cNvCxnSpPr>
              <a:cxnSpLocks/>
              <a:stCxn id="13" idx="3"/>
              <a:endCxn id="10" idx="1"/>
            </p:cNvCxnSpPr>
            <p:nvPr/>
          </p:nvCxnSpPr>
          <p:spPr>
            <a:xfrm>
              <a:off x="6990724" y="4065918"/>
              <a:ext cx="1436975" cy="0"/>
            </a:xfrm>
            <a:prstGeom prst="straightConnector1">
              <a:avLst/>
            </a:prstGeom>
            <a:ln w="57150">
              <a:solidFill>
                <a:srgbClr val="00518E"/>
              </a:solidFill>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AB4C6B62-98F0-1923-CF2A-3921EB8A9B95}"/>
                </a:ext>
              </a:extLst>
            </p:cNvPr>
            <p:cNvGrpSpPr/>
            <p:nvPr/>
          </p:nvGrpSpPr>
          <p:grpSpPr>
            <a:xfrm>
              <a:off x="354817" y="1559915"/>
              <a:ext cx="10239702" cy="3211041"/>
              <a:chOff x="-200539" y="1775068"/>
              <a:chExt cx="10239702" cy="3211041"/>
            </a:xfrm>
          </p:grpSpPr>
          <p:grpSp>
            <p:nvGrpSpPr>
              <p:cNvPr id="29" name="Group 28">
                <a:extLst>
                  <a:ext uri="{FF2B5EF4-FFF2-40B4-BE49-F238E27FC236}">
                    <a16:creationId xmlns:a16="http://schemas.microsoft.com/office/drawing/2014/main" id="{C4596A12-4DDE-14F3-BD14-A2BAD1B9C251}"/>
                  </a:ext>
                </a:extLst>
              </p:cNvPr>
              <p:cNvGrpSpPr/>
              <p:nvPr/>
            </p:nvGrpSpPr>
            <p:grpSpPr>
              <a:xfrm>
                <a:off x="2831573" y="1775068"/>
                <a:ext cx="7207590" cy="3211041"/>
                <a:chOff x="3600865" y="923653"/>
                <a:chExt cx="8681876" cy="3627675"/>
              </a:xfrm>
            </p:grpSpPr>
            <p:grpSp>
              <p:nvGrpSpPr>
                <p:cNvPr id="4" name="Group 3">
                  <a:extLst>
                    <a:ext uri="{FF2B5EF4-FFF2-40B4-BE49-F238E27FC236}">
                      <a16:creationId xmlns:a16="http://schemas.microsoft.com/office/drawing/2014/main" id="{5C842CBD-131A-D87B-0264-54589DD12C75}"/>
                    </a:ext>
                  </a:extLst>
                </p:cNvPr>
                <p:cNvGrpSpPr/>
                <p:nvPr/>
              </p:nvGrpSpPr>
              <p:grpSpPr>
                <a:xfrm>
                  <a:off x="5331770" y="923653"/>
                  <a:ext cx="6950970" cy="1593034"/>
                  <a:chOff x="6825618" y="-410220"/>
                  <a:chExt cx="6950970" cy="1593034"/>
                </a:xfrm>
              </p:grpSpPr>
              <p:sp>
                <p:nvSpPr>
                  <p:cNvPr id="5" name="Rectangle 4">
                    <a:extLst>
                      <a:ext uri="{FF2B5EF4-FFF2-40B4-BE49-F238E27FC236}">
                        <a16:creationId xmlns:a16="http://schemas.microsoft.com/office/drawing/2014/main" id="{72CA3353-8391-916A-0C46-98E5F1915162}"/>
                      </a:ext>
                    </a:extLst>
                  </p:cNvPr>
                  <p:cNvSpPr/>
                  <p:nvPr/>
                </p:nvSpPr>
                <p:spPr>
                  <a:xfrm>
                    <a:off x="6825618" y="-4320"/>
                    <a:ext cx="2610034" cy="781235"/>
                  </a:xfrm>
                  <a:prstGeom prst="rect">
                    <a:avLst/>
                  </a:prstGeom>
                  <a:solidFill>
                    <a:srgbClr val="1DAEFF"/>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badi Extra Light" panose="020B0204020104020204" pitchFamily="34" charset="0"/>
                      </a:rPr>
                      <a:t>Wheel sinkage</a:t>
                    </a:r>
                    <a:endParaRPr lang="en-NL" b="1">
                      <a:solidFill>
                        <a:schemeClr val="tx1"/>
                      </a:solidFill>
                      <a:latin typeface="Abadi Extra Light" panose="020B0204020104020204" pitchFamily="34" charset="0"/>
                    </a:endParaRPr>
                  </a:p>
                </p:txBody>
              </p:sp>
              <p:sp>
                <p:nvSpPr>
                  <p:cNvPr id="6" name="Rectangle 5">
                    <a:extLst>
                      <a:ext uri="{FF2B5EF4-FFF2-40B4-BE49-F238E27FC236}">
                        <a16:creationId xmlns:a16="http://schemas.microsoft.com/office/drawing/2014/main" id="{DBE5A32C-2FE5-3240-7471-55984333BDB2}"/>
                      </a:ext>
                    </a:extLst>
                  </p:cNvPr>
                  <p:cNvSpPr/>
                  <p:nvPr/>
                </p:nvSpPr>
                <p:spPr>
                  <a:xfrm>
                    <a:off x="11166554" y="-410220"/>
                    <a:ext cx="2610034" cy="1593034"/>
                  </a:xfrm>
                  <a:prstGeom prst="rect">
                    <a:avLst/>
                  </a:prstGeom>
                  <a:solidFill>
                    <a:schemeClr val="accent1">
                      <a:lumMod val="40000"/>
                      <a:lumOff val="60000"/>
                    </a:schemeClr>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badi Extra Light" panose="020B0204020104020204" pitchFamily="34" charset="0"/>
                      </a:rPr>
                      <a:t>Bearing capacity</a:t>
                    </a:r>
                  </a:p>
                  <a:p>
                    <a:pPr algn="ctr"/>
                    <a:r>
                      <a:rPr lang="en-US">
                        <a:solidFill>
                          <a:schemeClr val="tx1"/>
                        </a:solidFill>
                        <a:latin typeface="Abadi Extra Light" panose="020B0204020104020204" pitchFamily="34" charset="0"/>
                      </a:rPr>
                      <a:t>Cohesion</a:t>
                    </a:r>
                  </a:p>
                  <a:p>
                    <a:pPr algn="ctr"/>
                    <a:r>
                      <a:rPr lang="en-US">
                        <a:solidFill>
                          <a:schemeClr val="tx1"/>
                        </a:solidFill>
                        <a:latin typeface="Abadi Extra Light" panose="020B0204020104020204" pitchFamily="34" charset="0"/>
                      </a:rPr>
                      <a:t>Friction</a:t>
                    </a:r>
                    <a:endParaRPr lang="en-NL">
                      <a:solidFill>
                        <a:schemeClr val="tx1"/>
                      </a:solidFill>
                      <a:latin typeface="Abadi Extra Light" panose="020B0204020104020204" pitchFamily="34" charset="0"/>
                    </a:endParaRPr>
                  </a:p>
                </p:txBody>
              </p:sp>
            </p:grpSp>
            <p:grpSp>
              <p:nvGrpSpPr>
                <p:cNvPr id="15" name="Group 14">
                  <a:extLst>
                    <a:ext uri="{FF2B5EF4-FFF2-40B4-BE49-F238E27FC236}">
                      <a16:creationId xmlns:a16="http://schemas.microsoft.com/office/drawing/2014/main" id="{E32B76C6-0D1C-7839-F941-B00B41BEE8AA}"/>
                    </a:ext>
                  </a:extLst>
                </p:cNvPr>
                <p:cNvGrpSpPr/>
                <p:nvPr/>
              </p:nvGrpSpPr>
              <p:grpSpPr>
                <a:xfrm>
                  <a:off x="5331770" y="2958294"/>
                  <a:ext cx="6950971" cy="1593034"/>
                  <a:chOff x="7758592" y="1624423"/>
                  <a:chExt cx="6950971" cy="1593034"/>
                </a:xfrm>
              </p:grpSpPr>
              <p:sp>
                <p:nvSpPr>
                  <p:cNvPr id="10" name="Rectangle 9">
                    <a:extLst>
                      <a:ext uri="{FF2B5EF4-FFF2-40B4-BE49-F238E27FC236}">
                        <a16:creationId xmlns:a16="http://schemas.microsoft.com/office/drawing/2014/main" id="{F92E3C9B-A98E-289E-C76B-7C2EB1F5C791}"/>
                      </a:ext>
                    </a:extLst>
                  </p:cNvPr>
                  <p:cNvSpPr/>
                  <p:nvPr/>
                </p:nvSpPr>
                <p:spPr>
                  <a:xfrm>
                    <a:off x="12099529" y="1624423"/>
                    <a:ext cx="2610034" cy="1593034"/>
                  </a:xfrm>
                  <a:prstGeom prst="rect">
                    <a:avLst/>
                  </a:prstGeom>
                  <a:solidFill>
                    <a:schemeClr val="accent1">
                      <a:lumMod val="40000"/>
                      <a:lumOff val="60000"/>
                    </a:schemeClr>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badi Extra Light" panose="020B0204020104020204" pitchFamily="34" charset="0"/>
                      </a:rPr>
                      <a:t>Spectral signature</a:t>
                    </a:r>
                  </a:p>
                </p:txBody>
              </p:sp>
              <p:sp>
                <p:nvSpPr>
                  <p:cNvPr id="13" name="Rectangle 12">
                    <a:extLst>
                      <a:ext uri="{FF2B5EF4-FFF2-40B4-BE49-F238E27FC236}">
                        <a16:creationId xmlns:a16="http://schemas.microsoft.com/office/drawing/2014/main" id="{2637990E-8EF0-57CD-07C6-1BC997A73B88}"/>
                      </a:ext>
                    </a:extLst>
                  </p:cNvPr>
                  <p:cNvSpPr/>
                  <p:nvPr/>
                </p:nvSpPr>
                <p:spPr>
                  <a:xfrm>
                    <a:off x="7758592" y="2030322"/>
                    <a:ext cx="2610034" cy="781235"/>
                  </a:xfrm>
                  <a:prstGeom prst="rect">
                    <a:avLst/>
                  </a:prstGeom>
                  <a:solidFill>
                    <a:srgbClr val="1DAEFF"/>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badi Extra Light" panose="020B0204020104020204" pitchFamily="34" charset="0"/>
                      </a:rPr>
                      <a:t>Reflectance</a:t>
                    </a:r>
                    <a:endParaRPr lang="en-NL" b="1">
                      <a:solidFill>
                        <a:schemeClr val="tx1"/>
                      </a:solidFill>
                      <a:latin typeface="Abadi Extra Light" panose="020B0204020104020204" pitchFamily="34" charset="0"/>
                    </a:endParaRPr>
                  </a:p>
                </p:txBody>
              </p:sp>
            </p:grpSp>
            <p:cxnSp>
              <p:nvCxnSpPr>
                <p:cNvPr id="11" name="Connector: Elbow 10">
                  <a:extLst>
                    <a:ext uri="{FF2B5EF4-FFF2-40B4-BE49-F238E27FC236}">
                      <a16:creationId xmlns:a16="http://schemas.microsoft.com/office/drawing/2014/main" id="{9F69A9F4-2DB4-0265-A370-722F1A9EA212}"/>
                    </a:ext>
                  </a:extLst>
                </p:cNvPr>
                <p:cNvCxnSpPr>
                  <a:cxnSpLocks/>
                  <a:stCxn id="28" idx="3"/>
                  <a:endCxn id="5" idx="1"/>
                </p:cNvCxnSpPr>
                <p:nvPr/>
              </p:nvCxnSpPr>
              <p:spPr>
                <a:xfrm flipV="1">
                  <a:off x="3600865" y="1720171"/>
                  <a:ext cx="1730906" cy="1023660"/>
                </a:xfrm>
                <a:prstGeom prst="bentConnector3">
                  <a:avLst>
                    <a:gd name="adj1" fmla="val 50000"/>
                  </a:avLst>
                </a:prstGeom>
                <a:ln w="57150">
                  <a:solidFill>
                    <a:srgbClr val="00518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42865024-8839-BEA8-57D1-9D204B17195C}"/>
                    </a:ext>
                  </a:extLst>
                </p:cNvPr>
                <p:cNvCxnSpPr>
                  <a:cxnSpLocks/>
                  <a:stCxn id="28" idx="3"/>
                  <a:endCxn id="13" idx="1"/>
                </p:cNvCxnSpPr>
                <p:nvPr/>
              </p:nvCxnSpPr>
              <p:spPr>
                <a:xfrm>
                  <a:off x="3600865" y="2743831"/>
                  <a:ext cx="1730906" cy="1010980"/>
                </a:xfrm>
                <a:prstGeom prst="bentConnector3">
                  <a:avLst>
                    <a:gd name="adj1" fmla="val 50000"/>
                  </a:avLst>
                </a:prstGeom>
                <a:ln w="57150">
                  <a:solidFill>
                    <a:srgbClr val="00518E"/>
                  </a:solidFill>
                  <a:tailEnd type="triangle"/>
                </a:ln>
              </p:spPr>
              <p:style>
                <a:lnRef idx="2">
                  <a:schemeClr val="accent1"/>
                </a:lnRef>
                <a:fillRef idx="0">
                  <a:schemeClr val="accent1"/>
                </a:fillRef>
                <a:effectRef idx="1">
                  <a:schemeClr val="accent1"/>
                </a:effectRef>
                <a:fontRef idx="minor">
                  <a:schemeClr val="tx1"/>
                </a:fontRef>
              </p:style>
            </p:cxnSp>
          </p:grpSp>
          <p:pic>
            <p:nvPicPr>
              <p:cNvPr id="28" name="Picture 27" descr="A close-up of a pile of gravel&#10;&#10;AI-generated content may be incorrect.">
                <a:extLst>
                  <a:ext uri="{FF2B5EF4-FFF2-40B4-BE49-F238E27FC236}">
                    <a16:creationId xmlns:a16="http://schemas.microsoft.com/office/drawing/2014/main" id="{52AFBC2B-6D4E-267D-EF37-7F2ECD4BE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39" y="2433968"/>
                <a:ext cx="3032111" cy="1904466"/>
              </a:xfrm>
              <a:prstGeom prst="rect">
                <a:avLst/>
              </a:prstGeom>
            </p:spPr>
          </p:pic>
        </p:grpSp>
      </p:grpSp>
      <p:pic>
        <p:nvPicPr>
          <p:cNvPr id="3" name="Picture 2">
            <a:extLst>
              <a:ext uri="{FF2B5EF4-FFF2-40B4-BE49-F238E27FC236}">
                <a16:creationId xmlns:a16="http://schemas.microsoft.com/office/drawing/2014/main" id="{701ABC85-29BC-BD47-2E9F-478CC80783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upo 1">
            <a:extLst>
              <a:ext uri="{FF2B5EF4-FFF2-40B4-BE49-F238E27FC236}">
                <a16:creationId xmlns:a16="http://schemas.microsoft.com/office/drawing/2014/main" id="{D505E31A-FF21-D05D-9958-D61FCE19BE90}"/>
              </a:ext>
            </a:extLst>
          </p:cNvPr>
          <p:cNvGrpSpPr/>
          <p:nvPr/>
        </p:nvGrpSpPr>
        <p:grpSpPr>
          <a:xfrm rot="14969103">
            <a:off x="9892742" y="-1315570"/>
            <a:ext cx="2534856" cy="2631139"/>
            <a:chOff x="10176075" y="4523784"/>
            <a:chExt cx="2534856" cy="2631139"/>
          </a:xfrm>
        </p:grpSpPr>
        <p:sp>
          <p:nvSpPr>
            <p:cNvPr id="7" name="Triángulo isósceles 6">
              <a:extLst>
                <a:ext uri="{FF2B5EF4-FFF2-40B4-BE49-F238E27FC236}">
                  <a16:creationId xmlns:a16="http://schemas.microsoft.com/office/drawing/2014/main" id="{B3EF3AFF-E1D9-7975-781F-B096DDB819B3}"/>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ángulo isósceles 7">
              <a:extLst>
                <a:ext uri="{FF2B5EF4-FFF2-40B4-BE49-F238E27FC236}">
                  <a16:creationId xmlns:a16="http://schemas.microsoft.com/office/drawing/2014/main" id="{E6ABF716-A7C1-7090-86BC-862EED6F0B76}"/>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7603A081-8569-57C6-9325-9C3BD5318B79}"/>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ítulo 1">
            <a:extLst>
              <a:ext uri="{FF2B5EF4-FFF2-40B4-BE49-F238E27FC236}">
                <a16:creationId xmlns:a16="http://schemas.microsoft.com/office/drawing/2014/main" id="{5B73EF9E-893B-0632-4A7F-424829FBD272}"/>
              </a:ext>
            </a:extLst>
          </p:cNvPr>
          <p:cNvSpPr txBox="1">
            <a:spLocks/>
          </p:cNvSpPr>
          <p:nvPr/>
        </p:nvSpPr>
        <p:spPr>
          <a:xfrm>
            <a:off x="3055361" y="208699"/>
            <a:ext cx="6081277"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THEORETICAL BACKGROUND</a:t>
            </a:r>
            <a:endParaRPr lang="en-US" sz="3200">
              <a:latin typeface="Abadi Extra Light" panose="020B0204020104020204" pitchFamily="34" charset="0"/>
            </a:endParaRPr>
          </a:p>
        </p:txBody>
      </p:sp>
      <p:cxnSp>
        <p:nvCxnSpPr>
          <p:cNvPr id="22" name="Conector recto 21">
            <a:extLst>
              <a:ext uri="{FF2B5EF4-FFF2-40B4-BE49-F238E27FC236}">
                <a16:creationId xmlns:a16="http://schemas.microsoft.com/office/drawing/2014/main" id="{CB36ED6D-A2D6-18D5-A5AF-98F7F3A1B3B9}"/>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26" name="Slide Number Placeholder 25">
            <a:extLst>
              <a:ext uri="{FF2B5EF4-FFF2-40B4-BE49-F238E27FC236}">
                <a16:creationId xmlns:a16="http://schemas.microsoft.com/office/drawing/2014/main" id="{2C12BEEA-0AF0-E56A-B3C1-37D140109978}"/>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6</a:t>
            </a:fld>
            <a:endParaRPr lang="en-US">
              <a:solidFill>
                <a:schemeClr val="tx1"/>
              </a:solidFill>
            </a:endParaRPr>
          </a:p>
        </p:txBody>
      </p:sp>
    </p:spTree>
    <p:extLst>
      <p:ext uri="{BB962C8B-B14F-4D97-AF65-F5344CB8AC3E}">
        <p14:creationId xmlns:p14="http://schemas.microsoft.com/office/powerpoint/2010/main" val="4166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8C9D2-D54F-1F92-F746-079CC7EBEE00}"/>
            </a:ext>
          </a:extLst>
        </p:cNvPr>
        <p:cNvGrpSpPr/>
        <p:nvPr/>
      </p:nvGrpSpPr>
      <p:grpSpPr>
        <a:xfrm>
          <a:off x="0" y="0"/>
          <a:ext cx="0" cy="0"/>
          <a:chOff x="0" y="0"/>
          <a:chExt cx="0" cy="0"/>
        </a:xfrm>
      </p:grpSpPr>
      <p:pic>
        <p:nvPicPr>
          <p:cNvPr id="6" name="Content Placeholder 5" descr="A close-up of a machine&#10;&#10;AI-generated content may be incorrect.">
            <a:extLst>
              <a:ext uri="{FF2B5EF4-FFF2-40B4-BE49-F238E27FC236}">
                <a16:creationId xmlns:a16="http://schemas.microsoft.com/office/drawing/2014/main" id="{3BCAB4FE-F151-D6F0-B535-91C5006F558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2812" y="1481536"/>
            <a:ext cx="9306376" cy="4695426"/>
          </a:xfrm>
        </p:spPr>
      </p:pic>
      <p:pic>
        <p:nvPicPr>
          <p:cNvPr id="2" name="Picture 2">
            <a:extLst>
              <a:ext uri="{FF2B5EF4-FFF2-40B4-BE49-F238E27FC236}">
                <a16:creationId xmlns:a16="http://schemas.microsoft.com/office/drawing/2014/main" id="{AAE75EC1-F61B-1557-A490-72E44E4887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08D93BA5-F500-D00C-4735-304E45487774}"/>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EXPERIMENTAL TESTBED</a:t>
            </a:r>
            <a:endParaRPr lang="en-US" i="1"/>
          </a:p>
        </p:txBody>
      </p:sp>
      <p:grpSp>
        <p:nvGrpSpPr>
          <p:cNvPr id="8" name="Grupo 7">
            <a:extLst>
              <a:ext uri="{FF2B5EF4-FFF2-40B4-BE49-F238E27FC236}">
                <a16:creationId xmlns:a16="http://schemas.microsoft.com/office/drawing/2014/main" id="{945EDB2F-7DB9-A853-BBF0-E5765AA135EE}"/>
              </a:ext>
            </a:extLst>
          </p:cNvPr>
          <p:cNvGrpSpPr/>
          <p:nvPr/>
        </p:nvGrpSpPr>
        <p:grpSpPr>
          <a:xfrm rot="14969103">
            <a:off x="9892742" y="-1315570"/>
            <a:ext cx="2534856" cy="2631139"/>
            <a:chOff x="10176075" y="4523784"/>
            <a:chExt cx="2534856" cy="2631139"/>
          </a:xfrm>
        </p:grpSpPr>
        <p:sp>
          <p:nvSpPr>
            <p:cNvPr id="9" name="Triángulo isósceles 8">
              <a:extLst>
                <a:ext uri="{FF2B5EF4-FFF2-40B4-BE49-F238E27FC236}">
                  <a16:creationId xmlns:a16="http://schemas.microsoft.com/office/drawing/2014/main" id="{A9045200-11C3-D2F1-3E8D-F10828CC54DF}"/>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ángulo isósceles 12">
              <a:extLst>
                <a:ext uri="{FF2B5EF4-FFF2-40B4-BE49-F238E27FC236}">
                  <a16:creationId xmlns:a16="http://schemas.microsoft.com/office/drawing/2014/main" id="{E93BCB7C-9566-E07E-BB39-33E8C308DC3F}"/>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ángulo isósceles 13">
              <a:extLst>
                <a:ext uri="{FF2B5EF4-FFF2-40B4-BE49-F238E27FC236}">
                  <a16:creationId xmlns:a16="http://schemas.microsoft.com/office/drawing/2014/main" id="{FBA67793-ADDF-D47D-3C7C-DF6D3A62091F}"/>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ítulo 1">
            <a:extLst>
              <a:ext uri="{FF2B5EF4-FFF2-40B4-BE49-F238E27FC236}">
                <a16:creationId xmlns:a16="http://schemas.microsoft.com/office/drawing/2014/main" id="{76001781-9242-0459-E993-6E6965C27186}"/>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6" name="Conector recto 15">
            <a:extLst>
              <a:ext uri="{FF2B5EF4-FFF2-40B4-BE49-F238E27FC236}">
                <a16:creationId xmlns:a16="http://schemas.microsoft.com/office/drawing/2014/main" id="{F2C0120D-E7F6-C3E0-522E-E849BA8A56B9}"/>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8" name="Slide Number Placeholder 17">
            <a:extLst>
              <a:ext uri="{FF2B5EF4-FFF2-40B4-BE49-F238E27FC236}">
                <a16:creationId xmlns:a16="http://schemas.microsoft.com/office/drawing/2014/main" id="{5A9D37E6-C721-E11C-AEB2-569FE6C89C3D}"/>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7</a:t>
            </a:fld>
            <a:endParaRPr lang="en-US">
              <a:solidFill>
                <a:schemeClr val="tx1"/>
              </a:solidFill>
            </a:endParaRPr>
          </a:p>
        </p:txBody>
      </p:sp>
    </p:spTree>
    <p:extLst>
      <p:ext uri="{BB962C8B-B14F-4D97-AF65-F5344CB8AC3E}">
        <p14:creationId xmlns:p14="http://schemas.microsoft.com/office/powerpoint/2010/main" val="4078556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03137-90A1-FA13-D149-BC3565ED6553}"/>
            </a:ext>
          </a:extLst>
        </p:cNvPr>
        <p:cNvGrpSpPr/>
        <p:nvPr/>
      </p:nvGrpSpPr>
      <p:grpSpPr>
        <a:xfrm>
          <a:off x="0" y="0"/>
          <a:ext cx="0" cy="0"/>
          <a:chOff x="0" y="0"/>
          <a:chExt cx="0" cy="0"/>
        </a:xfrm>
      </p:grpSpPr>
      <p:sp>
        <p:nvSpPr>
          <p:cNvPr id="13" name="Marcador de contenido 2">
            <a:extLst>
              <a:ext uri="{FF2B5EF4-FFF2-40B4-BE49-F238E27FC236}">
                <a16:creationId xmlns:a16="http://schemas.microsoft.com/office/drawing/2014/main" id="{85E7783D-4E55-A68F-B182-D2142F889067}"/>
              </a:ext>
            </a:extLst>
          </p:cNvPr>
          <p:cNvSpPr>
            <a:spLocks noGrp="1"/>
          </p:cNvSpPr>
          <p:nvPr>
            <p:ph idx="1"/>
          </p:nvPr>
        </p:nvSpPr>
        <p:spPr>
          <a:xfrm>
            <a:off x="410326" y="1481994"/>
            <a:ext cx="4885679" cy="4351338"/>
          </a:xfrm>
        </p:spPr>
        <p:txBody>
          <a:bodyPr/>
          <a:lstStyle/>
          <a:p>
            <a:r>
              <a:rPr lang="en-US">
                <a:latin typeface="Abadi Extra Light" panose="020B0204020104020204" pitchFamily="34" charset="0"/>
              </a:rPr>
              <a:t>Why classical CV over ML?</a:t>
            </a:r>
          </a:p>
          <a:p>
            <a:pPr lvl="1"/>
            <a:r>
              <a:rPr lang="en-US">
                <a:latin typeface="Abadi Extra Light" panose="020B0204020104020204" pitchFamily="34" charset="0"/>
              </a:rPr>
              <a:t>Interpretability of results</a:t>
            </a:r>
          </a:p>
          <a:p>
            <a:pPr lvl="1"/>
            <a:r>
              <a:rPr lang="en-US">
                <a:latin typeface="Abadi Extra Light" panose="020B0204020104020204" pitchFamily="34" charset="0"/>
              </a:rPr>
              <a:t>Data requirement</a:t>
            </a:r>
          </a:p>
          <a:p>
            <a:pPr lvl="1"/>
            <a:r>
              <a:rPr lang="en-US">
                <a:latin typeface="Abadi Extra Light" panose="020B0204020104020204" pitchFamily="34" charset="0"/>
              </a:rPr>
              <a:t>Robustness</a:t>
            </a:r>
          </a:p>
        </p:txBody>
      </p:sp>
      <p:pic>
        <p:nvPicPr>
          <p:cNvPr id="15" name="Picture 14" descr="A close-up of a bowl&#10;&#10;AI-generated content may be incorrect.">
            <a:extLst>
              <a:ext uri="{FF2B5EF4-FFF2-40B4-BE49-F238E27FC236}">
                <a16:creationId xmlns:a16="http://schemas.microsoft.com/office/drawing/2014/main" id="{6A09614E-2D14-4124-5313-BAFFB2496E1E}"/>
              </a:ext>
            </a:extLst>
          </p:cNvPr>
          <p:cNvPicPr>
            <a:picLocks noChangeAspect="1"/>
          </p:cNvPicPr>
          <p:nvPr/>
        </p:nvPicPr>
        <p:blipFill>
          <a:blip r:embed="rId3">
            <a:extLst>
              <a:ext uri="{28A0092B-C50C-407E-A947-70E740481C1C}">
                <a14:useLocalDpi xmlns:a14="http://schemas.microsoft.com/office/drawing/2010/main" val="0"/>
              </a:ext>
            </a:extLst>
          </a:blip>
          <a:srcRect l="7370" t="11474" r="11734" b="1733"/>
          <a:stretch>
            <a:fillRect/>
          </a:stretch>
        </p:blipFill>
        <p:spPr>
          <a:xfrm>
            <a:off x="385466" y="3445705"/>
            <a:ext cx="4885200" cy="3144713"/>
          </a:xfrm>
          <a:prstGeom prst="rect">
            <a:avLst/>
          </a:prstGeom>
        </p:spPr>
      </p:pic>
      <p:pic>
        <p:nvPicPr>
          <p:cNvPr id="17" name="Picture 16" descr="A black and white image of a satellite&#10;&#10;AI-generated content may be incorrect.">
            <a:extLst>
              <a:ext uri="{FF2B5EF4-FFF2-40B4-BE49-F238E27FC236}">
                <a16:creationId xmlns:a16="http://schemas.microsoft.com/office/drawing/2014/main" id="{BF187603-602B-2EE5-B155-E4A5DC1E4D57}"/>
              </a:ext>
            </a:extLst>
          </p:cNvPr>
          <p:cNvPicPr>
            <a:picLocks noChangeAspect="1"/>
          </p:cNvPicPr>
          <p:nvPr/>
        </p:nvPicPr>
        <p:blipFill>
          <a:blip r:embed="rId4">
            <a:extLst>
              <a:ext uri="{28A0092B-C50C-407E-A947-70E740481C1C}">
                <a14:useLocalDpi xmlns:a14="http://schemas.microsoft.com/office/drawing/2010/main" val="0"/>
              </a:ext>
            </a:extLst>
          </a:blip>
          <a:srcRect l="7369" t="11034" r="11734" b="1733"/>
          <a:stretch>
            <a:fillRect/>
          </a:stretch>
        </p:blipFill>
        <p:spPr>
          <a:xfrm>
            <a:off x="6920854" y="3445704"/>
            <a:ext cx="4885680" cy="3161029"/>
          </a:xfrm>
          <a:prstGeom prst="rect">
            <a:avLst/>
          </a:prstGeom>
        </p:spPr>
      </p:pic>
      <p:cxnSp>
        <p:nvCxnSpPr>
          <p:cNvPr id="19" name="Straight Arrow Connector 18">
            <a:extLst>
              <a:ext uri="{FF2B5EF4-FFF2-40B4-BE49-F238E27FC236}">
                <a16:creationId xmlns:a16="http://schemas.microsoft.com/office/drawing/2014/main" id="{BB34BB9B-D56B-2655-018D-D7EDCE2DA410}"/>
              </a:ext>
            </a:extLst>
          </p:cNvPr>
          <p:cNvCxnSpPr>
            <a:cxnSpLocks/>
            <a:stCxn id="15" idx="3"/>
            <a:endCxn id="17" idx="1"/>
          </p:cNvCxnSpPr>
          <p:nvPr/>
        </p:nvCxnSpPr>
        <p:spPr>
          <a:xfrm>
            <a:off x="5270666" y="5018062"/>
            <a:ext cx="1650188" cy="815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3" name="Marcador de contenido 2">
            <a:extLst>
              <a:ext uri="{FF2B5EF4-FFF2-40B4-BE49-F238E27FC236}">
                <a16:creationId xmlns:a16="http://schemas.microsoft.com/office/drawing/2014/main" id="{78FC879D-8D05-18AC-5106-C7F0A4F65D76}"/>
              </a:ext>
            </a:extLst>
          </p:cNvPr>
          <p:cNvSpPr txBox="1">
            <a:spLocks/>
          </p:cNvSpPr>
          <p:nvPr/>
        </p:nvSpPr>
        <p:spPr>
          <a:xfrm>
            <a:off x="5271147" y="4657834"/>
            <a:ext cx="2180474" cy="776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solidFill>
                  <a:schemeClr val="accent1"/>
                </a:solidFill>
                <a:latin typeface="Abadi Extra Light" panose="020B0204020104020204" pitchFamily="34" charset="0"/>
              </a:rPr>
              <a:t>Segmentation</a:t>
            </a:r>
            <a:endParaRPr lang="en-US" sz="2400" b="1">
              <a:solidFill>
                <a:schemeClr val="accent1"/>
              </a:solidFill>
              <a:latin typeface="Abadi Extra Light" panose="020B0204020104020204" pitchFamily="34" charset="0"/>
            </a:endParaRPr>
          </a:p>
          <a:p>
            <a:pPr marL="0" indent="0">
              <a:buNone/>
            </a:pPr>
            <a:endParaRPr lang="en-US">
              <a:latin typeface="Abadi Extra Light" panose="020B0204020104020204" pitchFamily="34" charset="0"/>
            </a:endParaRPr>
          </a:p>
        </p:txBody>
      </p:sp>
      <p:sp>
        <p:nvSpPr>
          <p:cNvPr id="24" name="Rectangle 23">
            <a:extLst>
              <a:ext uri="{FF2B5EF4-FFF2-40B4-BE49-F238E27FC236}">
                <a16:creationId xmlns:a16="http://schemas.microsoft.com/office/drawing/2014/main" id="{AF1E0E33-F8E7-A97D-1BE0-50AA44D6183A}"/>
              </a:ext>
            </a:extLst>
          </p:cNvPr>
          <p:cNvSpPr/>
          <p:nvPr/>
        </p:nvSpPr>
        <p:spPr>
          <a:xfrm>
            <a:off x="822448" y="4412121"/>
            <a:ext cx="467090" cy="4490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noFill/>
            </a:endParaRPr>
          </a:p>
        </p:txBody>
      </p:sp>
      <p:pic>
        <p:nvPicPr>
          <p:cNvPr id="3" name="Picture 2">
            <a:extLst>
              <a:ext uri="{FF2B5EF4-FFF2-40B4-BE49-F238E27FC236}">
                <a16:creationId xmlns:a16="http://schemas.microsoft.com/office/drawing/2014/main" id="{8F88DA79-AFAA-8209-C209-700F1AB70B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upo 1">
            <a:extLst>
              <a:ext uri="{FF2B5EF4-FFF2-40B4-BE49-F238E27FC236}">
                <a16:creationId xmlns:a16="http://schemas.microsoft.com/office/drawing/2014/main" id="{588DACE9-8A0E-ADD3-73B8-B719E2D63B26}"/>
              </a:ext>
            </a:extLst>
          </p:cNvPr>
          <p:cNvGrpSpPr/>
          <p:nvPr/>
        </p:nvGrpSpPr>
        <p:grpSpPr>
          <a:xfrm rot="14969103">
            <a:off x="9892742" y="-1315570"/>
            <a:ext cx="2534856" cy="2631139"/>
            <a:chOff x="10176075" y="4523784"/>
            <a:chExt cx="2534856" cy="2631139"/>
          </a:xfrm>
        </p:grpSpPr>
        <p:sp>
          <p:nvSpPr>
            <p:cNvPr id="4" name="Triángulo isósceles 3">
              <a:extLst>
                <a:ext uri="{FF2B5EF4-FFF2-40B4-BE49-F238E27FC236}">
                  <a16:creationId xmlns:a16="http://schemas.microsoft.com/office/drawing/2014/main" id="{4837DFB8-4D43-B53C-366E-F9498128FA2F}"/>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ángulo isósceles 4">
              <a:extLst>
                <a:ext uri="{FF2B5EF4-FFF2-40B4-BE49-F238E27FC236}">
                  <a16:creationId xmlns:a16="http://schemas.microsoft.com/office/drawing/2014/main" id="{C769FE51-840C-A54E-47E6-FE2EC2E9E1F5}"/>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ángulo isósceles 5">
              <a:extLst>
                <a:ext uri="{FF2B5EF4-FFF2-40B4-BE49-F238E27FC236}">
                  <a16:creationId xmlns:a16="http://schemas.microsoft.com/office/drawing/2014/main" id="{02878668-BFFB-94B1-A4EB-38A34208735D}"/>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uadroTexto 6">
            <a:extLst>
              <a:ext uri="{FF2B5EF4-FFF2-40B4-BE49-F238E27FC236}">
                <a16:creationId xmlns:a16="http://schemas.microsoft.com/office/drawing/2014/main" id="{7E498423-9B3B-E0B3-5E58-137820508A81}"/>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1" name="Título 1">
            <a:extLst>
              <a:ext uri="{FF2B5EF4-FFF2-40B4-BE49-F238E27FC236}">
                <a16:creationId xmlns:a16="http://schemas.microsoft.com/office/drawing/2014/main" id="{C2153CB1-5AC8-479F-E9C7-37C5A54DCD65}"/>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2" name="Conector recto 11">
            <a:extLst>
              <a:ext uri="{FF2B5EF4-FFF2-40B4-BE49-F238E27FC236}">
                <a16:creationId xmlns:a16="http://schemas.microsoft.com/office/drawing/2014/main" id="{353B7143-A508-6FD9-3B33-1A5485D0F327}"/>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6" name="Slide Number Placeholder 15">
            <a:extLst>
              <a:ext uri="{FF2B5EF4-FFF2-40B4-BE49-F238E27FC236}">
                <a16:creationId xmlns:a16="http://schemas.microsoft.com/office/drawing/2014/main" id="{82D0C2CC-FE7C-A744-EAB8-19BF3659EFA5}"/>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8</a:t>
            </a:fld>
            <a:endParaRPr lang="en-US">
              <a:solidFill>
                <a:schemeClr val="tx1"/>
              </a:solidFill>
            </a:endParaRPr>
          </a:p>
        </p:txBody>
      </p:sp>
    </p:spTree>
    <p:extLst>
      <p:ext uri="{BB962C8B-B14F-4D97-AF65-F5344CB8AC3E}">
        <p14:creationId xmlns:p14="http://schemas.microsoft.com/office/powerpoint/2010/main" val="3246379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70D62-ADE9-D564-9DD6-C20284DD5C25}"/>
            </a:ext>
          </a:extLst>
        </p:cNvPr>
        <p:cNvGrpSpPr/>
        <p:nvPr/>
      </p:nvGrpSpPr>
      <p:grpSpPr>
        <a:xfrm>
          <a:off x="0" y="0"/>
          <a:ext cx="0" cy="0"/>
          <a:chOff x="0" y="0"/>
          <a:chExt cx="0" cy="0"/>
        </a:xfrm>
      </p:grpSpPr>
      <p:pic>
        <p:nvPicPr>
          <p:cNvPr id="2" name="Picture 1" descr="A black and white image of a satellite&#10;&#10;AI-generated content may be incorrect.">
            <a:extLst>
              <a:ext uri="{FF2B5EF4-FFF2-40B4-BE49-F238E27FC236}">
                <a16:creationId xmlns:a16="http://schemas.microsoft.com/office/drawing/2014/main" id="{94F48EE8-94FA-0E6E-CDF0-4392886F0EBD}"/>
              </a:ext>
            </a:extLst>
          </p:cNvPr>
          <p:cNvPicPr>
            <a:picLocks noChangeAspect="1"/>
          </p:cNvPicPr>
          <p:nvPr/>
        </p:nvPicPr>
        <p:blipFill>
          <a:blip r:embed="rId3">
            <a:extLst>
              <a:ext uri="{28A0092B-C50C-407E-A947-70E740481C1C}">
                <a14:useLocalDpi xmlns:a14="http://schemas.microsoft.com/office/drawing/2010/main" val="0"/>
              </a:ext>
            </a:extLst>
          </a:blip>
          <a:srcRect l="7369" t="11034" r="11734" b="1733"/>
          <a:stretch>
            <a:fillRect/>
          </a:stretch>
        </p:blipFill>
        <p:spPr>
          <a:xfrm>
            <a:off x="203824" y="2093982"/>
            <a:ext cx="4885680" cy="3161029"/>
          </a:xfrm>
          <a:prstGeom prst="rect">
            <a:avLst/>
          </a:prstGeom>
        </p:spPr>
      </p:pic>
      <p:pic>
        <p:nvPicPr>
          <p:cNvPr id="6" name="Picture 5" descr="A black and white image&#10;&#10;AI-generated content may be incorrect.">
            <a:extLst>
              <a:ext uri="{FF2B5EF4-FFF2-40B4-BE49-F238E27FC236}">
                <a16:creationId xmlns:a16="http://schemas.microsoft.com/office/drawing/2014/main" id="{D50811EC-4AA1-5277-DC7A-D286CEF760FB}"/>
              </a:ext>
            </a:extLst>
          </p:cNvPr>
          <p:cNvPicPr>
            <a:picLocks noChangeAspect="1"/>
          </p:cNvPicPr>
          <p:nvPr/>
        </p:nvPicPr>
        <p:blipFill>
          <a:blip r:embed="rId4">
            <a:extLst>
              <a:ext uri="{28A0092B-C50C-407E-A947-70E740481C1C}">
                <a14:useLocalDpi xmlns:a14="http://schemas.microsoft.com/office/drawing/2010/main" val="0"/>
              </a:ext>
            </a:extLst>
          </a:blip>
          <a:srcRect l="7370" t="11034" r="11292" b="1733"/>
          <a:stretch>
            <a:fillRect/>
          </a:stretch>
        </p:blipFill>
        <p:spPr>
          <a:xfrm>
            <a:off x="6705600" y="2093982"/>
            <a:ext cx="4912339" cy="3161019"/>
          </a:xfrm>
          <a:prstGeom prst="rect">
            <a:avLst/>
          </a:prstGeom>
        </p:spPr>
      </p:pic>
      <p:sp>
        <p:nvSpPr>
          <p:cNvPr id="7" name="Marcador de contenido 2">
            <a:extLst>
              <a:ext uri="{FF2B5EF4-FFF2-40B4-BE49-F238E27FC236}">
                <a16:creationId xmlns:a16="http://schemas.microsoft.com/office/drawing/2014/main" id="{C2331065-489A-5282-9A11-4CC4C4FA1747}"/>
              </a:ext>
            </a:extLst>
          </p:cNvPr>
          <p:cNvSpPr txBox="1">
            <a:spLocks/>
          </p:cNvSpPr>
          <p:nvPr/>
        </p:nvSpPr>
        <p:spPr>
          <a:xfrm>
            <a:off x="5089504" y="2751878"/>
            <a:ext cx="2180474" cy="776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solidFill>
                  <a:schemeClr val="accent1"/>
                </a:solidFill>
                <a:latin typeface="Abadi Extra Light" panose="020B0204020104020204" pitchFamily="34" charset="0"/>
              </a:rPr>
              <a:t>Morphological transformations</a:t>
            </a:r>
            <a:endParaRPr lang="en-US" sz="2400" b="1">
              <a:solidFill>
                <a:schemeClr val="accent1"/>
              </a:solidFill>
              <a:latin typeface="Abadi Extra Light" panose="020B0204020104020204" pitchFamily="34" charset="0"/>
            </a:endParaRPr>
          </a:p>
          <a:p>
            <a:pPr marL="0" indent="0">
              <a:buNone/>
            </a:pPr>
            <a:endParaRPr lang="en-US">
              <a:latin typeface="Abadi Extra Light" panose="020B0204020104020204" pitchFamily="34" charset="0"/>
            </a:endParaRPr>
          </a:p>
        </p:txBody>
      </p:sp>
      <p:cxnSp>
        <p:nvCxnSpPr>
          <p:cNvPr id="11" name="Straight Arrow Connector 10">
            <a:extLst>
              <a:ext uri="{FF2B5EF4-FFF2-40B4-BE49-F238E27FC236}">
                <a16:creationId xmlns:a16="http://schemas.microsoft.com/office/drawing/2014/main" id="{4D759002-93B6-76ED-E428-7640DDE5A5E6}"/>
              </a:ext>
            </a:extLst>
          </p:cNvPr>
          <p:cNvCxnSpPr>
            <a:cxnSpLocks/>
          </p:cNvCxnSpPr>
          <p:nvPr/>
        </p:nvCxnSpPr>
        <p:spPr>
          <a:xfrm>
            <a:off x="5089504" y="3554730"/>
            <a:ext cx="144083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AC968CD3-4DD2-C6C7-5C95-C24AFC4A03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941BDDB4-B67D-8F97-BD20-7BC1E5726CD1}"/>
              </a:ext>
            </a:extLst>
          </p:cNvPr>
          <p:cNvGrpSpPr/>
          <p:nvPr/>
        </p:nvGrpSpPr>
        <p:grpSpPr>
          <a:xfrm rot="14969103">
            <a:off x="9892742" y="-1315570"/>
            <a:ext cx="2534856" cy="2631139"/>
            <a:chOff x="10176075" y="4523784"/>
            <a:chExt cx="2534856" cy="2631139"/>
          </a:xfrm>
        </p:grpSpPr>
        <p:sp>
          <p:nvSpPr>
            <p:cNvPr id="5" name="Triángulo isósceles 4">
              <a:extLst>
                <a:ext uri="{FF2B5EF4-FFF2-40B4-BE49-F238E27FC236}">
                  <a16:creationId xmlns:a16="http://schemas.microsoft.com/office/drawing/2014/main" id="{5923A80C-6EA4-9057-1F35-719B19115268}"/>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ángulo isósceles 11">
              <a:extLst>
                <a:ext uri="{FF2B5EF4-FFF2-40B4-BE49-F238E27FC236}">
                  <a16:creationId xmlns:a16="http://schemas.microsoft.com/office/drawing/2014/main" id="{A3AB715F-A4B7-5E01-6E23-8AC5E5300203}"/>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ángulo isósceles 12">
              <a:extLst>
                <a:ext uri="{FF2B5EF4-FFF2-40B4-BE49-F238E27FC236}">
                  <a16:creationId xmlns:a16="http://schemas.microsoft.com/office/drawing/2014/main" id="{21853402-3A11-19F9-5E9F-B3CA81728532}"/>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uadroTexto 13">
            <a:extLst>
              <a:ext uri="{FF2B5EF4-FFF2-40B4-BE49-F238E27FC236}">
                <a16:creationId xmlns:a16="http://schemas.microsoft.com/office/drawing/2014/main" id="{09B56A09-AF58-8554-72F2-C32575F53329}"/>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5" name="Título 1">
            <a:extLst>
              <a:ext uri="{FF2B5EF4-FFF2-40B4-BE49-F238E27FC236}">
                <a16:creationId xmlns:a16="http://schemas.microsoft.com/office/drawing/2014/main" id="{D03534CD-DC19-2D81-D0BB-7BDDA93965FF}"/>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6" name="Conector recto 15">
            <a:extLst>
              <a:ext uri="{FF2B5EF4-FFF2-40B4-BE49-F238E27FC236}">
                <a16:creationId xmlns:a16="http://schemas.microsoft.com/office/drawing/2014/main" id="{C4DAADA5-3972-0758-07DE-EBCB5E555F7F}"/>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8" name="Slide Number Placeholder 17">
            <a:extLst>
              <a:ext uri="{FF2B5EF4-FFF2-40B4-BE49-F238E27FC236}">
                <a16:creationId xmlns:a16="http://schemas.microsoft.com/office/drawing/2014/main" id="{EA29C2BF-8A91-67B5-F296-00E06A1B4928}"/>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9</a:t>
            </a:fld>
            <a:endParaRPr lang="en-US">
              <a:solidFill>
                <a:schemeClr val="tx1"/>
              </a:solidFill>
            </a:endParaRPr>
          </a:p>
        </p:txBody>
      </p:sp>
      <p:sp>
        <p:nvSpPr>
          <p:cNvPr id="8" name="TextBox 7">
            <a:extLst>
              <a:ext uri="{FF2B5EF4-FFF2-40B4-BE49-F238E27FC236}">
                <a16:creationId xmlns:a16="http://schemas.microsoft.com/office/drawing/2014/main" id="{4A49AE18-ED0C-8422-2E22-404DDDE4B255}"/>
              </a:ext>
            </a:extLst>
          </p:cNvPr>
          <p:cNvSpPr txBox="1"/>
          <p:nvPr/>
        </p:nvSpPr>
        <p:spPr>
          <a:xfrm>
            <a:off x="521288" y="5338583"/>
            <a:ext cx="2084225" cy="646331"/>
          </a:xfrm>
          <a:prstGeom prst="rect">
            <a:avLst/>
          </a:prstGeom>
          <a:noFill/>
        </p:spPr>
        <p:txBody>
          <a:bodyPr wrap="none" rtlCol="0">
            <a:spAutoFit/>
          </a:bodyPr>
          <a:lstStyle/>
          <a:p>
            <a:r>
              <a:rPr lang="en-US">
                <a:latin typeface="Consolas" panose="020B0609020204030204" pitchFamily="49" charset="0"/>
              </a:rPr>
              <a:t>cv2.MORPH_OPEN</a:t>
            </a:r>
          </a:p>
          <a:p>
            <a:r>
              <a:rPr lang="en-US">
                <a:latin typeface="Consolas" panose="020B0609020204030204" pitchFamily="49" charset="0"/>
              </a:rPr>
              <a:t>cv2.MORPH_CLOSE</a:t>
            </a:r>
            <a:endParaRPr lang="en-NL">
              <a:latin typeface="Consolas" panose="020B0609020204030204" pitchFamily="49" charset="0"/>
            </a:endParaRPr>
          </a:p>
        </p:txBody>
      </p:sp>
    </p:spTree>
    <p:extLst>
      <p:ext uri="{BB962C8B-B14F-4D97-AF65-F5344CB8AC3E}">
        <p14:creationId xmlns:p14="http://schemas.microsoft.com/office/powerpoint/2010/main" val="3064315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6AFCA-35F8-37EA-A30C-39F3BE9ABF37}"/>
            </a:ext>
          </a:extLst>
        </p:cNvPr>
        <p:cNvGrpSpPr/>
        <p:nvPr/>
      </p:nvGrpSpPr>
      <p:grpSpPr>
        <a:xfrm>
          <a:off x="0" y="0"/>
          <a:ext cx="0" cy="0"/>
          <a:chOff x="0" y="0"/>
          <a:chExt cx="0" cy="0"/>
        </a:xfrm>
      </p:grpSpPr>
      <p:sp>
        <p:nvSpPr>
          <p:cNvPr id="7" name="Marcador de contenido 2">
            <a:extLst>
              <a:ext uri="{FF2B5EF4-FFF2-40B4-BE49-F238E27FC236}">
                <a16:creationId xmlns:a16="http://schemas.microsoft.com/office/drawing/2014/main" id="{DD9D4FDA-B44C-159E-248D-6CF4E418DBE7}"/>
              </a:ext>
            </a:extLst>
          </p:cNvPr>
          <p:cNvSpPr txBox="1">
            <a:spLocks/>
          </p:cNvSpPr>
          <p:nvPr/>
        </p:nvSpPr>
        <p:spPr>
          <a:xfrm>
            <a:off x="5179039" y="2652481"/>
            <a:ext cx="1619906" cy="77651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solidFill>
                  <a:schemeClr val="accent1"/>
                </a:solidFill>
                <a:latin typeface="Abadi Extra Light" panose="020B0204020104020204" pitchFamily="34" charset="0"/>
              </a:rPr>
              <a:t>Edge detection and contour selection</a:t>
            </a:r>
            <a:endParaRPr lang="en-US" sz="2400" b="1">
              <a:solidFill>
                <a:schemeClr val="accent1"/>
              </a:solidFill>
              <a:latin typeface="Abadi Extra Light" panose="020B0204020104020204" pitchFamily="34" charset="0"/>
            </a:endParaRPr>
          </a:p>
          <a:p>
            <a:pPr marL="0" indent="0">
              <a:buNone/>
            </a:pPr>
            <a:endParaRPr lang="en-US">
              <a:latin typeface="Abadi Extra Light" panose="020B0204020104020204" pitchFamily="34" charset="0"/>
            </a:endParaRPr>
          </a:p>
        </p:txBody>
      </p:sp>
      <p:cxnSp>
        <p:nvCxnSpPr>
          <p:cNvPr id="11" name="Straight Arrow Connector 10">
            <a:extLst>
              <a:ext uri="{FF2B5EF4-FFF2-40B4-BE49-F238E27FC236}">
                <a16:creationId xmlns:a16="http://schemas.microsoft.com/office/drawing/2014/main" id="{D4A4BAC7-BB73-6A80-5DC2-E0F0DEC2E164}"/>
              </a:ext>
            </a:extLst>
          </p:cNvPr>
          <p:cNvCxnSpPr>
            <a:cxnSpLocks/>
          </p:cNvCxnSpPr>
          <p:nvPr/>
        </p:nvCxnSpPr>
        <p:spPr>
          <a:xfrm>
            <a:off x="5090400" y="3553200"/>
            <a:ext cx="144083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12" name="Picture 11" descr="A black and white image&#10;&#10;AI-generated content may be incorrect.">
            <a:extLst>
              <a:ext uri="{FF2B5EF4-FFF2-40B4-BE49-F238E27FC236}">
                <a16:creationId xmlns:a16="http://schemas.microsoft.com/office/drawing/2014/main" id="{4AA101D7-43CC-2AC8-4869-442933DB5276}"/>
              </a:ext>
            </a:extLst>
          </p:cNvPr>
          <p:cNvPicPr>
            <a:picLocks noChangeAspect="1"/>
          </p:cNvPicPr>
          <p:nvPr/>
        </p:nvPicPr>
        <p:blipFill>
          <a:blip r:embed="rId3">
            <a:extLst>
              <a:ext uri="{28A0092B-C50C-407E-A947-70E740481C1C}">
                <a14:useLocalDpi xmlns:a14="http://schemas.microsoft.com/office/drawing/2010/main" val="0"/>
              </a:ext>
            </a:extLst>
          </a:blip>
          <a:srcRect l="7370" t="11034" r="11292" b="1733"/>
          <a:stretch>
            <a:fillRect/>
          </a:stretch>
        </p:blipFill>
        <p:spPr>
          <a:xfrm>
            <a:off x="205200" y="2095200"/>
            <a:ext cx="4885200" cy="3143555"/>
          </a:xfrm>
          <a:prstGeom prst="rect">
            <a:avLst/>
          </a:prstGeom>
        </p:spPr>
      </p:pic>
      <p:pic>
        <p:nvPicPr>
          <p:cNvPr id="14" name="Picture 13" descr="A close-up of a glass&#10;&#10;AI-generated content may be incorrect.">
            <a:extLst>
              <a:ext uri="{FF2B5EF4-FFF2-40B4-BE49-F238E27FC236}">
                <a16:creationId xmlns:a16="http://schemas.microsoft.com/office/drawing/2014/main" id="{E7D94234-D426-4168-1353-C2D391E66DD4}"/>
              </a:ext>
            </a:extLst>
          </p:cNvPr>
          <p:cNvPicPr>
            <a:picLocks noChangeAspect="1"/>
          </p:cNvPicPr>
          <p:nvPr/>
        </p:nvPicPr>
        <p:blipFill>
          <a:blip r:embed="rId4">
            <a:extLst>
              <a:ext uri="{28A0092B-C50C-407E-A947-70E740481C1C}">
                <a14:useLocalDpi xmlns:a14="http://schemas.microsoft.com/office/drawing/2010/main" val="0"/>
              </a:ext>
            </a:extLst>
          </a:blip>
          <a:srcRect l="7369" t="11034" r="11417" b="1733"/>
          <a:stretch>
            <a:fillRect/>
          </a:stretch>
        </p:blipFill>
        <p:spPr>
          <a:xfrm>
            <a:off x="6706800" y="2095200"/>
            <a:ext cx="4885200" cy="3148395"/>
          </a:xfrm>
          <a:prstGeom prst="rect">
            <a:avLst/>
          </a:prstGeom>
        </p:spPr>
      </p:pic>
      <p:pic>
        <p:nvPicPr>
          <p:cNvPr id="2" name="Picture 2">
            <a:extLst>
              <a:ext uri="{FF2B5EF4-FFF2-40B4-BE49-F238E27FC236}">
                <a16:creationId xmlns:a16="http://schemas.microsoft.com/office/drawing/2014/main" id="{8477C915-879B-5F89-EA6D-5BBE4AD2C3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5BA35134-0C24-0C66-0921-D9DE6F4BF8CE}"/>
              </a:ext>
            </a:extLst>
          </p:cNvPr>
          <p:cNvGrpSpPr/>
          <p:nvPr/>
        </p:nvGrpSpPr>
        <p:grpSpPr>
          <a:xfrm rot="14969103">
            <a:off x="9892742" y="-1315570"/>
            <a:ext cx="2534856" cy="2631139"/>
            <a:chOff x="10176075" y="4523784"/>
            <a:chExt cx="2534856" cy="2631139"/>
          </a:xfrm>
        </p:grpSpPr>
        <p:sp>
          <p:nvSpPr>
            <p:cNvPr id="4" name="Triángulo isósceles 3">
              <a:extLst>
                <a:ext uri="{FF2B5EF4-FFF2-40B4-BE49-F238E27FC236}">
                  <a16:creationId xmlns:a16="http://schemas.microsoft.com/office/drawing/2014/main" id="{40453364-B62B-B68B-6667-DF16D3F7A429}"/>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ángulo isósceles 4">
              <a:extLst>
                <a:ext uri="{FF2B5EF4-FFF2-40B4-BE49-F238E27FC236}">
                  <a16:creationId xmlns:a16="http://schemas.microsoft.com/office/drawing/2014/main" id="{4A1625B5-9254-5D91-B3ED-219B431D4D84}"/>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ángulo isósceles 5">
              <a:extLst>
                <a:ext uri="{FF2B5EF4-FFF2-40B4-BE49-F238E27FC236}">
                  <a16:creationId xmlns:a16="http://schemas.microsoft.com/office/drawing/2014/main" id="{4FACFD0E-D402-BEDA-10BE-138AF338D9E6}"/>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uadroTexto 12">
            <a:extLst>
              <a:ext uri="{FF2B5EF4-FFF2-40B4-BE49-F238E27FC236}">
                <a16:creationId xmlns:a16="http://schemas.microsoft.com/office/drawing/2014/main" id="{63C64768-7652-23D2-D0BC-64E5B86652DD}"/>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5" name="Título 1">
            <a:extLst>
              <a:ext uri="{FF2B5EF4-FFF2-40B4-BE49-F238E27FC236}">
                <a16:creationId xmlns:a16="http://schemas.microsoft.com/office/drawing/2014/main" id="{11BF36B8-87B8-FBF4-B7E3-60A2979E145C}"/>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6" name="Conector recto 15">
            <a:extLst>
              <a:ext uri="{FF2B5EF4-FFF2-40B4-BE49-F238E27FC236}">
                <a16:creationId xmlns:a16="http://schemas.microsoft.com/office/drawing/2014/main" id="{312D1427-9DC9-8982-B26E-535650AA74E3}"/>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8" name="Slide Number Placeholder 17">
            <a:extLst>
              <a:ext uri="{FF2B5EF4-FFF2-40B4-BE49-F238E27FC236}">
                <a16:creationId xmlns:a16="http://schemas.microsoft.com/office/drawing/2014/main" id="{9111C08F-CDFD-BC20-2FE5-C5412D32A5E2}"/>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10</a:t>
            </a:fld>
            <a:endParaRPr lang="en-US">
              <a:solidFill>
                <a:schemeClr val="tx1"/>
              </a:solidFill>
            </a:endParaRPr>
          </a:p>
        </p:txBody>
      </p:sp>
      <p:sp>
        <p:nvSpPr>
          <p:cNvPr id="8" name="TextBox 7">
            <a:extLst>
              <a:ext uri="{FF2B5EF4-FFF2-40B4-BE49-F238E27FC236}">
                <a16:creationId xmlns:a16="http://schemas.microsoft.com/office/drawing/2014/main" id="{57F663CA-0532-4CDF-9ABE-860476BCCFAB}"/>
              </a:ext>
            </a:extLst>
          </p:cNvPr>
          <p:cNvSpPr txBox="1"/>
          <p:nvPr/>
        </p:nvSpPr>
        <p:spPr>
          <a:xfrm>
            <a:off x="521288" y="5338583"/>
            <a:ext cx="3223959" cy="1200329"/>
          </a:xfrm>
          <a:prstGeom prst="rect">
            <a:avLst/>
          </a:prstGeom>
          <a:noFill/>
        </p:spPr>
        <p:txBody>
          <a:bodyPr wrap="none" rtlCol="0">
            <a:spAutoFit/>
          </a:bodyPr>
          <a:lstStyle/>
          <a:p>
            <a:r>
              <a:rPr lang="en-US">
                <a:latin typeface="Consolas" panose="020B0609020204030204" pitchFamily="49" charset="0"/>
              </a:rPr>
              <a:t>cv2.GaussianBlur()</a:t>
            </a:r>
          </a:p>
          <a:p>
            <a:r>
              <a:rPr lang="en-US">
                <a:latin typeface="Consolas" panose="020B0609020204030204" pitchFamily="49" charset="0"/>
              </a:rPr>
              <a:t>cv2.Canny()</a:t>
            </a:r>
          </a:p>
          <a:p>
            <a:r>
              <a:rPr lang="en-US">
                <a:latin typeface="Consolas" panose="020B0609020204030204" pitchFamily="49" charset="0"/>
              </a:rPr>
              <a:t>cv2.findContours()</a:t>
            </a:r>
          </a:p>
          <a:p>
            <a:r>
              <a:rPr lang="en-US">
                <a:latin typeface="Consolas" panose="020B0609020204030204" pitchFamily="49" charset="0"/>
              </a:rPr>
              <a:t>cv2.minEnclosingCircle()</a:t>
            </a:r>
            <a:endParaRPr lang="en-NL">
              <a:latin typeface="Consolas" panose="020B0609020204030204" pitchFamily="49" charset="0"/>
            </a:endParaRPr>
          </a:p>
        </p:txBody>
      </p:sp>
    </p:spTree>
    <p:extLst>
      <p:ext uri="{BB962C8B-B14F-4D97-AF65-F5344CB8AC3E}">
        <p14:creationId xmlns:p14="http://schemas.microsoft.com/office/powerpoint/2010/main" val="1955829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62BF-48CE-7B63-73A1-FE1D2913E7EA}"/>
            </a:ext>
          </a:extLst>
        </p:cNvPr>
        <p:cNvGrpSpPr/>
        <p:nvPr/>
      </p:nvGrpSpPr>
      <p:grpSpPr>
        <a:xfrm>
          <a:off x="0" y="0"/>
          <a:ext cx="0" cy="0"/>
          <a:chOff x="0" y="0"/>
          <a:chExt cx="0" cy="0"/>
        </a:xfrm>
      </p:grpSpPr>
      <p:sp>
        <p:nvSpPr>
          <p:cNvPr id="7" name="Marcador de contenido 2">
            <a:extLst>
              <a:ext uri="{FF2B5EF4-FFF2-40B4-BE49-F238E27FC236}">
                <a16:creationId xmlns:a16="http://schemas.microsoft.com/office/drawing/2014/main" id="{5EFCBD1B-20BB-11F8-277F-D7DE93B592C7}"/>
              </a:ext>
            </a:extLst>
          </p:cNvPr>
          <p:cNvSpPr txBox="1">
            <a:spLocks/>
          </p:cNvSpPr>
          <p:nvPr/>
        </p:nvSpPr>
        <p:spPr>
          <a:xfrm>
            <a:off x="5286047" y="2662609"/>
            <a:ext cx="1619906" cy="7765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solidFill>
                  <a:schemeClr val="accent1"/>
                </a:solidFill>
                <a:latin typeface="Abadi Extra Light" panose="020B0204020104020204" pitchFamily="34" charset="0"/>
              </a:rPr>
              <a:t>RANSAC ellipse fit</a:t>
            </a:r>
            <a:endParaRPr lang="en-US" sz="2400" b="1">
              <a:solidFill>
                <a:schemeClr val="accent1"/>
              </a:solidFill>
              <a:latin typeface="Abadi Extra Light" panose="020B0204020104020204" pitchFamily="34" charset="0"/>
            </a:endParaRPr>
          </a:p>
          <a:p>
            <a:pPr marL="0" indent="0">
              <a:buNone/>
            </a:pPr>
            <a:endParaRPr lang="en-US">
              <a:latin typeface="Abadi Extra Light" panose="020B0204020104020204" pitchFamily="34" charset="0"/>
            </a:endParaRPr>
          </a:p>
        </p:txBody>
      </p:sp>
      <p:cxnSp>
        <p:nvCxnSpPr>
          <p:cNvPr id="11" name="Straight Arrow Connector 10">
            <a:extLst>
              <a:ext uri="{FF2B5EF4-FFF2-40B4-BE49-F238E27FC236}">
                <a16:creationId xmlns:a16="http://schemas.microsoft.com/office/drawing/2014/main" id="{4B5BB52D-3130-DDF8-7595-70A6BC30AF25}"/>
              </a:ext>
            </a:extLst>
          </p:cNvPr>
          <p:cNvCxnSpPr>
            <a:cxnSpLocks/>
          </p:cNvCxnSpPr>
          <p:nvPr/>
        </p:nvCxnSpPr>
        <p:spPr>
          <a:xfrm>
            <a:off x="5090400" y="3553200"/>
            <a:ext cx="1440000"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14" name="Picture 13" descr="A close-up of a glass&#10;&#10;AI-generated content may be incorrect.">
            <a:extLst>
              <a:ext uri="{FF2B5EF4-FFF2-40B4-BE49-F238E27FC236}">
                <a16:creationId xmlns:a16="http://schemas.microsoft.com/office/drawing/2014/main" id="{C3F59D21-221F-AAAD-4990-CEC330369DBE}"/>
              </a:ext>
            </a:extLst>
          </p:cNvPr>
          <p:cNvPicPr>
            <a:picLocks noChangeAspect="1"/>
          </p:cNvPicPr>
          <p:nvPr/>
        </p:nvPicPr>
        <p:blipFill>
          <a:blip r:embed="rId3">
            <a:extLst>
              <a:ext uri="{28A0092B-C50C-407E-A947-70E740481C1C}">
                <a14:useLocalDpi xmlns:a14="http://schemas.microsoft.com/office/drawing/2010/main" val="0"/>
              </a:ext>
            </a:extLst>
          </a:blip>
          <a:srcRect l="7369" t="11034" r="11417" b="1733"/>
          <a:stretch>
            <a:fillRect/>
          </a:stretch>
        </p:blipFill>
        <p:spPr>
          <a:xfrm>
            <a:off x="205200" y="2095200"/>
            <a:ext cx="4885200" cy="3148395"/>
          </a:xfrm>
          <a:prstGeom prst="rect">
            <a:avLst/>
          </a:prstGeom>
        </p:spPr>
      </p:pic>
      <p:pic>
        <p:nvPicPr>
          <p:cNvPr id="3" name="Picture 2" descr="A close-up of a silver object&#10;&#10;AI-generated content may be incorrect.">
            <a:extLst>
              <a:ext uri="{FF2B5EF4-FFF2-40B4-BE49-F238E27FC236}">
                <a16:creationId xmlns:a16="http://schemas.microsoft.com/office/drawing/2014/main" id="{E7AC26E5-9598-6BC0-4DA9-CE8487D70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8916" y="2058276"/>
            <a:ext cx="5001133" cy="3058320"/>
          </a:xfrm>
          <a:prstGeom prst="rect">
            <a:avLst/>
          </a:prstGeom>
        </p:spPr>
      </p:pic>
      <p:pic>
        <p:nvPicPr>
          <p:cNvPr id="2" name="Picture 2">
            <a:extLst>
              <a:ext uri="{FF2B5EF4-FFF2-40B4-BE49-F238E27FC236}">
                <a16:creationId xmlns:a16="http://schemas.microsoft.com/office/drawing/2014/main" id="{CAA03500-945C-1656-C6ED-A869E2A6E2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65CAF20A-C8DB-5BA2-9483-A3EA17AACA9B}"/>
              </a:ext>
            </a:extLst>
          </p:cNvPr>
          <p:cNvGrpSpPr/>
          <p:nvPr/>
        </p:nvGrpSpPr>
        <p:grpSpPr>
          <a:xfrm rot="14969103">
            <a:off x="9892742" y="-1315570"/>
            <a:ext cx="2534856" cy="2631139"/>
            <a:chOff x="10176075" y="4523784"/>
            <a:chExt cx="2534856" cy="2631139"/>
          </a:xfrm>
        </p:grpSpPr>
        <p:sp>
          <p:nvSpPr>
            <p:cNvPr id="6" name="Triángulo isósceles 5">
              <a:extLst>
                <a:ext uri="{FF2B5EF4-FFF2-40B4-BE49-F238E27FC236}">
                  <a16:creationId xmlns:a16="http://schemas.microsoft.com/office/drawing/2014/main" id="{E07C79D6-A59C-E69D-FB34-D56B707330F2}"/>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ángulo isósceles 11">
              <a:extLst>
                <a:ext uri="{FF2B5EF4-FFF2-40B4-BE49-F238E27FC236}">
                  <a16:creationId xmlns:a16="http://schemas.microsoft.com/office/drawing/2014/main" id="{B3E1AAD9-8785-9EAE-35C7-AE21E2140993}"/>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ángulo isósceles 12">
              <a:extLst>
                <a:ext uri="{FF2B5EF4-FFF2-40B4-BE49-F238E27FC236}">
                  <a16:creationId xmlns:a16="http://schemas.microsoft.com/office/drawing/2014/main" id="{DA74FF3A-C11B-855A-F2C5-2AF054B356A5}"/>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CuadroTexto 14">
            <a:extLst>
              <a:ext uri="{FF2B5EF4-FFF2-40B4-BE49-F238E27FC236}">
                <a16:creationId xmlns:a16="http://schemas.microsoft.com/office/drawing/2014/main" id="{D0538683-EE0E-EEF9-8E70-D9EE954927F4}"/>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6" name="Título 1">
            <a:extLst>
              <a:ext uri="{FF2B5EF4-FFF2-40B4-BE49-F238E27FC236}">
                <a16:creationId xmlns:a16="http://schemas.microsoft.com/office/drawing/2014/main" id="{F7955002-4D3B-D5FE-E327-E081614DF604}"/>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7" name="Conector recto 16">
            <a:extLst>
              <a:ext uri="{FF2B5EF4-FFF2-40B4-BE49-F238E27FC236}">
                <a16:creationId xmlns:a16="http://schemas.microsoft.com/office/drawing/2014/main" id="{FB025DEF-7B95-E312-E7B0-BA7977D5B322}"/>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9" name="Slide Number Placeholder 18">
            <a:extLst>
              <a:ext uri="{FF2B5EF4-FFF2-40B4-BE49-F238E27FC236}">
                <a16:creationId xmlns:a16="http://schemas.microsoft.com/office/drawing/2014/main" id="{0DF1D17D-3D87-E358-64BF-085AAA40451E}"/>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11</a:t>
            </a:fld>
            <a:endParaRPr lang="en-US">
              <a:solidFill>
                <a:schemeClr val="tx1"/>
              </a:solidFill>
            </a:endParaRPr>
          </a:p>
        </p:txBody>
      </p:sp>
    </p:spTree>
    <p:extLst>
      <p:ext uri="{BB962C8B-B14F-4D97-AF65-F5344CB8AC3E}">
        <p14:creationId xmlns:p14="http://schemas.microsoft.com/office/powerpoint/2010/main" val="1180182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ED95-3215-ED70-18E5-48E67D7ECD31}"/>
            </a:ext>
          </a:extLst>
        </p:cNvPr>
        <p:cNvGrpSpPr/>
        <p:nvPr/>
      </p:nvGrpSpPr>
      <p:grpSpPr>
        <a:xfrm>
          <a:off x="0" y="0"/>
          <a:ext cx="0" cy="0"/>
          <a:chOff x="0" y="0"/>
          <a:chExt cx="0" cy="0"/>
        </a:xfrm>
      </p:grpSpPr>
      <p:pic>
        <p:nvPicPr>
          <p:cNvPr id="5126" name="Picture 6" descr="Electromagnetic Spectrum | EM Wave Spectrum - apniPhysics">
            <a:extLst>
              <a:ext uri="{FF2B5EF4-FFF2-40B4-BE49-F238E27FC236}">
                <a16:creationId xmlns:a16="http://schemas.microsoft.com/office/drawing/2014/main" id="{D00BEEE1-6A9B-BE95-4642-81F015C71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872" y="1432057"/>
            <a:ext cx="7718641" cy="443584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Conector recto de flecha 10">
            <a:extLst>
              <a:ext uri="{FF2B5EF4-FFF2-40B4-BE49-F238E27FC236}">
                <a16:creationId xmlns:a16="http://schemas.microsoft.com/office/drawing/2014/main" id="{B554C961-1C83-A492-F3BC-D8E94E84FAC4}"/>
              </a:ext>
            </a:extLst>
          </p:cNvPr>
          <p:cNvCxnSpPr>
            <a:cxnSpLocks/>
          </p:cNvCxnSpPr>
          <p:nvPr/>
        </p:nvCxnSpPr>
        <p:spPr>
          <a:xfrm flipV="1">
            <a:off x="5617030" y="5538418"/>
            <a:ext cx="0" cy="6589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Conector recto de flecha 12">
            <a:extLst>
              <a:ext uri="{FF2B5EF4-FFF2-40B4-BE49-F238E27FC236}">
                <a16:creationId xmlns:a16="http://schemas.microsoft.com/office/drawing/2014/main" id="{9F4C06E3-E3D8-54F7-D11F-CC2D30659F98}"/>
              </a:ext>
            </a:extLst>
          </p:cNvPr>
          <p:cNvCxnSpPr>
            <a:cxnSpLocks/>
          </p:cNvCxnSpPr>
          <p:nvPr/>
        </p:nvCxnSpPr>
        <p:spPr>
          <a:xfrm flipV="1">
            <a:off x="5856514" y="5538418"/>
            <a:ext cx="0" cy="6589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2F94A502-8CE9-F118-B78C-DFEE37A2BA75}"/>
              </a:ext>
            </a:extLst>
          </p:cNvPr>
          <p:cNvSpPr txBox="1"/>
          <p:nvPr/>
        </p:nvSpPr>
        <p:spPr>
          <a:xfrm rot="2041352">
            <a:off x="5249501" y="6334421"/>
            <a:ext cx="709023" cy="369332"/>
          </a:xfrm>
          <a:prstGeom prst="rect">
            <a:avLst/>
          </a:prstGeom>
          <a:noFill/>
        </p:spPr>
        <p:txBody>
          <a:bodyPr wrap="square">
            <a:spAutoFit/>
          </a:bodyPr>
          <a:lstStyle/>
          <a:p>
            <a:pPr algn="ctr"/>
            <a:r>
              <a:rPr lang="en-US" b="1" i="1">
                <a:latin typeface="Abadi Extra Light" panose="020B0204020104020204" pitchFamily="34" charset="0"/>
              </a:rPr>
              <a:t>LED1</a:t>
            </a:r>
          </a:p>
        </p:txBody>
      </p:sp>
      <p:cxnSp>
        <p:nvCxnSpPr>
          <p:cNvPr id="16" name="Conector recto de flecha 15">
            <a:extLst>
              <a:ext uri="{FF2B5EF4-FFF2-40B4-BE49-F238E27FC236}">
                <a16:creationId xmlns:a16="http://schemas.microsoft.com/office/drawing/2014/main" id="{1A0E181F-2069-152B-165B-20CE8463CE33}"/>
              </a:ext>
            </a:extLst>
          </p:cNvPr>
          <p:cNvCxnSpPr>
            <a:cxnSpLocks/>
          </p:cNvCxnSpPr>
          <p:nvPr/>
        </p:nvCxnSpPr>
        <p:spPr>
          <a:xfrm flipV="1">
            <a:off x="6210988" y="5538417"/>
            <a:ext cx="0" cy="6589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CuadroTexto 17">
            <a:extLst>
              <a:ext uri="{FF2B5EF4-FFF2-40B4-BE49-F238E27FC236}">
                <a16:creationId xmlns:a16="http://schemas.microsoft.com/office/drawing/2014/main" id="{B8F28F11-CFE5-208B-C66F-F3C8AA30863E}"/>
              </a:ext>
            </a:extLst>
          </p:cNvPr>
          <p:cNvSpPr txBox="1"/>
          <p:nvPr/>
        </p:nvSpPr>
        <p:spPr>
          <a:xfrm rot="2041352">
            <a:off x="5702680" y="6321924"/>
            <a:ext cx="709023" cy="369332"/>
          </a:xfrm>
          <a:prstGeom prst="rect">
            <a:avLst/>
          </a:prstGeom>
          <a:noFill/>
        </p:spPr>
        <p:txBody>
          <a:bodyPr wrap="square">
            <a:spAutoFit/>
          </a:bodyPr>
          <a:lstStyle/>
          <a:p>
            <a:pPr algn="ctr"/>
            <a:r>
              <a:rPr lang="en-US" b="1" i="1">
                <a:latin typeface="Abadi Extra Light" panose="020B0204020104020204" pitchFamily="34" charset="0"/>
              </a:rPr>
              <a:t>LED2</a:t>
            </a:r>
          </a:p>
        </p:txBody>
      </p:sp>
      <p:sp>
        <p:nvSpPr>
          <p:cNvPr id="19" name="CuadroTexto 18">
            <a:extLst>
              <a:ext uri="{FF2B5EF4-FFF2-40B4-BE49-F238E27FC236}">
                <a16:creationId xmlns:a16="http://schemas.microsoft.com/office/drawing/2014/main" id="{38B442C9-8C8D-2620-EDA0-F21173ECDA40}"/>
              </a:ext>
            </a:extLst>
          </p:cNvPr>
          <p:cNvSpPr txBox="1"/>
          <p:nvPr/>
        </p:nvSpPr>
        <p:spPr>
          <a:xfrm rot="2041352">
            <a:off x="6188449" y="6311601"/>
            <a:ext cx="709023" cy="369332"/>
          </a:xfrm>
          <a:prstGeom prst="rect">
            <a:avLst/>
          </a:prstGeom>
          <a:noFill/>
        </p:spPr>
        <p:txBody>
          <a:bodyPr wrap="square">
            <a:spAutoFit/>
          </a:bodyPr>
          <a:lstStyle/>
          <a:p>
            <a:pPr algn="ctr"/>
            <a:r>
              <a:rPr lang="en-US" b="1" i="1">
                <a:latin typeface="Abadi Extra Light" panose="020B0204020104020204" pitchFamily="34" charset="0"/>
              </a:rPr>
              <a:t>LED3</a:t>
            </a:r>
          </a:p>
        </p:txBody>
      </p:sp>
      <p:pic>
        <p:nvPicPr>
          <p:cNvPr id="2" name="Picture 2">
            <a:extLst>
              <a:ext uri="{FF2B5EF4-FFF2-40B4-BE49-F238E27FC236}">
                <a16:creationId xmlns:a16="http://schemas.microsoft.com/office/drawing/2014/main" id="{7A46CF50-A476-3C26-00E5-2A5C3A7C0C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36D76F94-1164-6F32-DC8B-ABC0B71F563F}"/>
              </a:ext>
            </a:extLst>
          </p:cNvPr>
          <p:cNvGrpSpPr/>
          <p:nvPr/>
        </p:nvGrpSpPr>
        <p:grpSpPr>
          <a:xfrm rot="14969103">
            <a:off x="9892742" y="-1315570"/>
            <a:ext cx="2534856" cy="2631139"/>
            <a:chOff x="10176075" y="4523784"/>
            <a:chExt cx="2534856" cy="2631139"/>
          </a:xfrm>
        </p:grpSpPr>
        <p:sp>
          <p:nvSpPr>
            <p:cNvPr id="4" name="Triángulo isósceles 3">
              <a:extLst>
                <a:ext uri="{FF2B5EF4-FFF2-40B4-BE49-F238E27FC236}">
                  <a16:creationId xmlns:a16="http://schemas.microsoft.com/office/drawing/2014/main" id="{8945A2F0-8F45-E59E-E5CE-0A6F0D4EADE1}"/>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ángulo isósceles 4">
              <a:extLst>
                <a:ext uri="{FF2B5EF4-FFF2-40B4-BE49-F238E27FC236}">
                  <a16:creationId xmlns:a16="http://schemas.microsoft.com/office/drawing/2014/main" id="{BED6FB73-2D1F-06F4-74BE-ED0A0696E83B}"/>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ángulo isósceles 5">
              <a:extLst>
                <a:ext uri="{FF2B5EF4-FFF2-40B4-BE49-F238E27FC236}">
                  <a16:creationId xmlns:a16="http://schemas.microsoft.com/office/drawing/2014/main" id="{CEDF722A-DCD3-C774-5EFB-54291029BE53}"/>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CuadroTexto 9">
            <a:extLst>
              <a:ext uri="{FF2B5EF4-FFF2-40B4-BE49-F238E27FC236}">
                <a16:creationId xmlns:a16="http://schemas.microsoft.com/office/drawing/2014/main" id="{428FF213-FA26-5711-E62E-83FCC0F6BAFD}"/>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12" name="Título 1">
            <a:extLst>
              <a:ext uri="{FF2B5EF4-FFF2-40B4-BE49-F238E27FC236}">
                <a16:creationId xmlns:a16="http://schemas.microsoft.com/office/drawing/2014/main" id="{F3A0F22B-2A34-C502-A4A0-791C7BE5DD78}"/>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5" name="Conector recto 14">
            <a:extLst>
              <a:ext uri="{FF2B5EF4-FFF2-40B4-BE49-F238E27FC236}">
                <a16:creationId xmlns:a16="http://schemas.microsoft.com/office/drawing/2014/main" id="{AEAC12EC-3550-0298-F868-7734D8FAD886}"/>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20" name="Slide Number Placeholder 19">
            <a:extLst>
              <a:ext uri="{FF2B5EF4-FFF2-40B4-BE49-F238E27FC236}">
                <a16:creationId xmlns:a16="http://schemas.microsoft.com/office/drawing/2014/main" id="{E5F17953-9E22-D6BE-171A-47F2FA94B887}"/>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12</a:t>
            </a:fld>
            <a:endParaRPr lang="en-US">
              <a:solidFill>
                <a:schemeClr val="tx1"/>
              </a:solidFill>
            </a:endParaRPr>
          </a:p>
        </p:txBody>
      </p:sp>
    </p:spTree>
    <p:extLst>
      <p:ext uri="{BB962C8B-B14F-4D97-AF65-F5344CB8AC3E}">
        <p14:creationId xmlns:p14="http://schemas.microsoft.com/office/powerpoint/2010/main" val="1865248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AB5F6-AA09-663E-A752-17C68E3BBA0B}"/>
            </a:ext>
          </a:extLst>
        </p:cNvPr>
        <p:cNvGrpSpPr/>
        <p:nvPr/>
      </p:nvGrpSpPr>
      <p:grpSpPr>
        <a:xfrm>
          <a:off x="0" y="0"/>
          <a:ext cx="0" cy="0"/>
          <a:chOff x="0" y="0"/>
          <a:chExt cx="0" cy="0"/>
        </a:xfrm>
      </p:grpSpPr>
      <p:pic>
        <p:nvPicPr>
          <p:cNvPr id="11" name="Imagen 10" descr="Imagen que contiene interior, tabla, escritorio, moto&#10;&#10;El contenido generado por IA puede ser incorrecto.">
            <a:extLst>
              <a:ext uri="{FF2B5EF4-FFF2-40B4-BE49-F238E27FC236}">
                <a16:creationId xmlns:a16="http://schemas.microsoft.com/office/drawing/2014/main" id="{3A75E026-128A-A07E-69CC-27EAB69B8067}"/>
              </a:ext>
            </a:extLst>
          </p:cNvPr>
          <p:cNvPicPr>
            <a:picLocks noChangeAspect="1"/>
          </p:cNvPicPr>
          <p:nvPr/>
        </p:nvPicPr>
        <p:blipFill>
          <a:blip r:embed="rId3">
            <a:extLst>
              <a:ext uri="{28A0092B-C50C-407E-A947-70E740481C1C}">
                <a14:useLocalDpi xmlns:a14="http://schemas.microsoft.com/office/drawing/2010/main" val="0"/>
              </a:ext>
            </a:extLst>
          </a:blip>
          <a:srcRect b="23810"/>
          <a:stretch>
            <a:fillRect/>
          </a:stretch>
        </p:blipFill>
        <p:spPr>
          <a:xfrm>
            <a:off x="485126" y="1529039"/>
            <a:ext cx="4711219" cy="4786000"/>
          </a:xfrm>
          <a:prstGeom prst="rect">
            <a:avLst/>
          </a:prstGeom>
        </p:spPr>
      </p:pic>
      <p:pic>
        <p:nvPicPr>
          <p:cNvPr id="14" name="Imagen 13" descr="Imagen en blanco y negro&#10;&#10;El contenido generado por IA puede ser incorrecto.">
            <a:extLst>
              <a:ext uri="{FF2B5EF4-FFF2-40B4-BE49-F238E27FC236}">
                <a16:creationId xmlns:a16="http://schemas.microsoft.com/office/drawing/2014/main" id="{627EAEA3-200E-BE49-8B90-4700A4A8953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574693" y="1939770"/>
            <a:ext cx="2850050" cy="1790114"/>
          </a:xfrm>
          <a:prstGeom prst="rect">
            <a:avLst/>
          </a:prstGeom>
        </p:spPr>
      </p:pic>
      <p:pic>
        <p:nvPicPr>
          <p:cNvPr id="16" name="Imagen 15" descr="Imagen en blanco y negro&#10;&#10;El contenido generado por IA puede ser incorrecto.">
            <a:extLst>
              <a:ext uri="{FF2B5EF4-FFF2-40B4-BE49-F238E27FC236}">
                <a16:creationId xmlns:a16="http://schemas.microsoft.com/office/drawing/2014/main" id="{E4F1DE19-7EC5-4539-73DB-20E1A468EF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70632" y="4146088"/>
            <a:ext cx="2850050" cy="1790114"/>
          </a:xfrm>
          <a:prstGeom prst="rect">
            <a:avLst/>
          </a:prstGeom>
        </p:spPr>
      </p:pic>
      <p:pic>
        <p:nvPicPr>
          <p:cNvPr id="18" name="Imagen 17" descr="Imagen en blanco y negro&#10;&#10;El contenido generado por IA puede ser incorrecto.">
            <a:extLst>
              <a:ext uri="{FF2B5EF4-FFF2-40B4-BE49-F238E27FC236}">
                <a16:creationId xmlns:a16="http://schemas.microsoft.com/office/drawing/2014/main" id="{9D18727B-AFC4-D0B0-A16A-5264258C0006}"/>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574693" y="4146088"/>
            <a:ext cx="2850050" cy="1790114"/>
          </a:xfrm>
          <a:prstGeom prst="rect">
            <a:avLst/>
          </a:prstGeom>
        </p:spPr>
      </p:pic>
      <p:pic>
        <p:nvPicPr>
          <p:cNvPr id="6" name="Imagen 5" descr="Imagen en blanco y negro&#10;&#10;El contenido generado por IA puede ser incorrecto.">
            <a:extLst>
              <a:ext uri="{FF2B5EF4-FFF2-40B4-BE49-F238E27FC236}">
                <a16:creationId xmlns:a16="http://schemas.microsoft.com/office/drawing/2014/main" id="{21B245C5-F15A-76A6-6BDE-DACDCABF05A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70632" y="1939770"/>
            <a:ext cx="2850051" cy="1790115"/>
          </a:xfrm>
          <a:prstGeom prst="rect">
            <a:avLst/>
          </a:prstGeom>
        </p:spPr>
      </p:pic>
      <p:pic>
        <p:nvPicPr>
          <p:cNvPr id="10" name="Picture 2">
            <a:extLst>
              <a:ext uri="{FF2B5EF4-FFF2-40B4-BE49-F238E27FC236}">
                <a16:creationId xmlns:a16="http://schemas.microsoft.com/office/drawing/2014/main" id="{358446DA-EFF8-0D46-A5F6-6B2B8007A3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upo 1">
            <a:extLst>
              <a:ext uri="{FF2B5EF4-FFF2-40B4-BE49-F238E27FC236}">
                <a16:creationId xmlns:a16="http://schemas.microsoft.com/office/drawing/2014/main" id="{4CB43184-5856-A6D4-AC11-3D64CCB7A5D3}"/>
              </a:ext>
            </a:extLst>
          </p:cNvPr>
          <p:cNvGrpSpPr/>
          <p:nvPr/>
        </p:nvGrpSpPr>
        <p:grpSpPr>
          <a:xfrm rot="14969103">
            <a:off x="9892742" y="-1315570"/>
            <a:ext cx="2534856" cy="2631139"/>
            <a:chOff x="10176075" y="4523784"/>
            <a:chExt cx="2534856" cy="2631139"/>
          </a:xfrm>
        </p:grpSpPr>
        <p:sp>
          <p:nvSpPr>
            <p:cNvPr id="3" name="Triángulo isósceles 2">
              <a:extLst>
                <a:ext uri="{FF2B5EF4-FFF2-40B4-BE49-F238E27FC236}">
                  <a16:creationId xmlns:a16="http://schemas.microsoft.com/office/drawing/2014/main" id="{33AD82B3-771D-5003-9502-9AF2A8A98667}"/>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ángulo isósceles 3">
              <a:extLst>
                <a:ext uri="{FF2B5EF4-FFF2-40B4-BE49-F238E27FC236}">
                  <a16:creationId xmlns:a16="http://schemas.microsoft.com/office/drawing/2014/main" id="{6D612E8B-996B-5651-F998-D9017CB8320C}"/>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ángulo isósceles 4">
              <a:extLst>
                <a:ext uri="{FF2B5EF4-FFF2-40B4-BE49-F238E27FC236}">
                  <a16:creationId xmlns:a16="http://schemas.microsoft.com/office/drawing/2014/main" id="{DF7D821C-C79E-227E-D5EA-7F3E983378A6}"/>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uadroTexto 11">
            <a:extLst>
              <a:ext uri="{FF2B5EF4-FFF2-40B4-BE49-F238E27FC236}">
                <a16:creationId xmlns:a16="http://schemas.microsoft.com/office/drawing/2014/main" id="{C53E20CD-A4C7-E15C-6F04-DE9BD4163170}"/>
              </a:ext>
            </a:extLst>
          </p:cNvPr>
          <p:cNvSpPr txBox="1"/>
          <p:nvPr/>
        </p:nvSpPr>
        <p:spPr>
          <a:xfrm>
            <a:off x="5770609" y="1548569"/>
            <a:ext cx="2450095" cy="369332"/>
          </a:xfrm>
          <a:prstGeom prst="rect">
            <a:avLst/>
          </a:prstGeom>
          <a:noFill/>
        </p:spPr>
        <p:txBody>
          <a:bodyPr wrap="square">
            <a:spAutoFit/>
          </a:bodyPr>
          <a:lstStyle/>
          <a:p>
            <a:pPr algn="ctr"/>
            <a:r>
              <a:rPr lang="en-US" i="1">
                <a:latin typeface="Abadi Extra Light" panose="020B0204020104020204" pitchFamily="34" charset="0"/>
              </a:rPr>
              <a:t>Spectrometer Laser</a:t>
            </a:r>
          </a:p>
        </p:txBody>
      </p:sp>
      <p:sp>
        <p:nvSpPr>
          <p:cNvPr id="13" name="CuadroTexto 12">
            <a:extLst>
              <a:ext uri="{FF2B5EF4-FFF2-40B4-BE49-F238E27FC236}">
                <a16:creationId xmlns:a16="http://schemas.microsoft.com/office/drawing/2014/main" id="{943E6C0F-ABD5-D68A-11C0-FF2786103E5C}"/>
              </a:ext>
            </a:extLst>
          </p:cNvPr>
          <p:cNvSpPr txBox="1"/>
          <p:nvPr/>
        </p:nvSpPr>
        <p:spPr>
          <a:xfrm>
            <a:off x="5770609" y="3776756"/>
            <a:ext cx="2450095" cy="369332"/>
          </a:xfrm>
          <a:prstGeom prst="rect">
            <a:avLst/>
          </a:prstGeom>
          <a:noFill/>
        </p:spPr>
        <p:txBody>
          <a:bodyPr wrap="square">
            <a:spAutoFit/>
          </a:bodyPr>
          <a:lstStyle/>
          <a:p>
            <a:pPr algn="ctr"/>
            <a:r>
              <a:rPr lang="en-US" i="1">
                <a:latin typeface="Abadi Extra Light" panose="020B0204020104020204" pitchFamily="34" charset="0"/>
              </a:rPr>
              <a:t>LED2 (720 nm Red)</a:t>
            </a:r>
          </a:p>
        </p:txBody>
      </p:sp>
      <p:sp>
        <p:nvSpPr>
          <p:cNvPr id="15" name="CuadroTexto 14">
            <a:extLst>
              <a:ext uri="{FF2B5EF4-FFF2-40B4-BE49-F238E27FC236}">
                <a16:creationId xmlns:a16="http://schemas.microsoft.com/office/drawing/2014/main" id="{12CB9072-25E9-2515-84D2-9FD1756A8AFE}"/>
              </a:ext>
            </a:extLst>
          </p:cNvPr>
          <p:cNvSpPr txBox="1"/>
          <p:nvPr/>
        </p:nvSpPr>
        <p:spPr>
          <a:xfrm>
            <a:off x="8753547" y="1577626"/>
            <a:ext cx="2450095" cy="369332"/>
          </a:xfrm>
          <a:prstGeom prst="rect">
            <a:avLst/>
          </a:prstGeom>
          <a:noFill/>
        </p:spPr>
        <p:txBody>
          <a:bodyPr wrap="square">
            <a:spAutoFit/>
          </a:bodyPr>
          <a:lstStyle/>
          <a:p>
            <a:pPr algn="ctr"/>
            <a:r>
              <a:rPr lang="en-US" i="1">
                <a:latin typeface="Abadi Extra Light" panose="020B0204020104020204" pitchFamily="34" charset="0"/>
              </a:rPr>
              <a:t>LED1 (590nm Yellow)</a:t>
            </a:r>
          </a:p>
        </p:txBody>
      </p:sp>
      <p:sp>
        <p:nvSpPr>
          <p:cNvPr id="17" name="CuadroTexto 16">
            <a:extLst>
              <a:ext uri="{FF2B5EF4-FFF2-40B4-BE49-F238E27FC236}">
                <a16:creationId xmlns:a16="http://schemas.microsoft.com/office/drawing/2014/main" id="{A0312A68-F8B7-1F2D-4BA4-1FB12A9D4473}"/>
              </a:ext>
            </a:extLst>
          </p:cNvPr>
          <p:cNvSpPr txBox="1"/>
          <p:nvPr/>
        </p:nvSpPr>
        <p:spPr>
          <a:xfrm>
            <a:off x="8794968" y="3776756"/>
            <a:ext cx="2450095" cy="369332"/>
          </a:xfrm>
          <a:prstGeom prst="rect">
            <a:avLst/>
          </a:prstGeom>
          <a:noFill/>
        </p:spPr>
        <p:txBody>
          <a:bodyPr wrap="square">
            <a:spAutoFit/>
          </a:bodyPr>
          <a:lstStyle/>
          <a:p>
            <a:pPr algn="ctr"/>
            <a:r>
              <a:rPr lang="en-US" i="1">
                <a:latin typeface="Abadi Extra Light" panose="020B0204020104020204" pitchFamily="34" charset="0"/>
              </a:rPr>
              <a:t>LED3 (880 nm IR)</a:t>
            </a:r>
          </a:p>
        </p:txBody>
      </p:sp>
      <p:sp>
        <p:nvSpPr>
          <p:cNvPr id="19" name="CuadroTexto 18">
            <a:extLst>
              <a:ext uri="{FF2B5EF4-FFF2-40B4-BE49-F238E27FC236}">
                <a16:creationId xmlns:a16="http://schemas.microsoft.com/office/drawing/2014/main" id="{857813F0-13A2-DF68-4098-0BF190F62091}"/>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20" name="Título 1">
            <a:extLst>
              <a:ext uri="{FF2B5EF4-FFF2-40B4-BE49-F238E27FC236}">
                <a16:creationId xmlns:a16="http://schemas.microsoft.com/office/drawing/2014/main" id="{4E0EBA07-8D37-CB0F-A50A-3D0C497B9D64}"/>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21" name="Conector recto 20">
            <a:extLst>
              <a:ext uri="{FF2B5EF4-FFF2-40B4-BE49-F238E27FC236}">
                <a16:creationId xmlns:a16="http://schemas.microsoft.com/office/drawing/2014/main" id="{10A80D22-27C6-9FD4-300B-AAC0497C1272}"/>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23" name="Slide Number Placeholder 22">
            <a:extLst>
              <a:ext uri="{FF2B5EF4-FFF2-40B4-BE49-F238E27FC236}">
                <a16:creationId xmlns:a16="http://schemas.microsoft.com/office/drawing/2014/main" id="{0C508426-FB6E-2780-25A5-819AC40598CC}"/>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13</a:t>
            </a:fld>
            <a:endParaRPr lang="en-US">
              <a:solidFill>
                <a:schemeClr val="tx1"/>
              </a:solidFill>
            </a:endParaRPr>
          </a:p>
        </p:txBody>
      </p:sp>
    </p:spTree>
    <p:extLst>
      <p:ext uri="{BB962C8B-B14F-4D97-AF65-F5344CB8AC3E}">
        <p14:creationId xmlns:p14="http://schemas.microsoft.com/office/powerpoint/2010/main" val="398393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33D98-2CDF-24CD-0B47-72BB70F3F55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9754793-B1B2-573E-97F8-7EF76389D865}"/>
              </a:ext>
            </a:extLst>
          </p:cNvPr>
          <p:cNvPicPr>
            <a:picLocks noChangeAspect="1"/>
          </p:cNvPicPr>
          <p:nvPr/>
        </p:nvPicPr>
        <p:blipFill>
          <a:blip r:embed="rId3"/>
          <a:stretch>
            <a:fillRect/>
          </a:stretch>
        </p:blipFill>
        <p:spPr>
          <a:xfrm>
            <a:off x="1302470" y="5834676"/>
            <a:ext cx="3947502" cy="823031"/>
          </a:xfrm>
          <a:prstGeom prst="rect">
            <a:avLst/>
          </a:prstGeom>
        </p:spPr>
      </p:pic>
      <p:pic>
        <p:nvPicPr>
          <p:cNvPr id="11" name="Imagen 10">
            <a:extLst>
              <a:ext uri="{FF2B5EF4-FFF2-40B4-BE49-F238E27FC236}">
                <a16:creationId xmlns:a16="http://schemas.microsoft.com/office/drawing/2014/main" id="{CE39F5D7-E2BA-9880-8FFD-E3D820E838D8}"/>
              </a:ext>
            </a:extLst>
          </p:cNvPr>
          <p:cNvPicPr>
            <a:picLocks noChangeAspect="1"/>
          </p:cNvPicPr>
          <p:nvPr/>
        </p:nvPicPr>
        <p:blipFill>
          <a:blip r:embed="rId4"/>
          <a:stretch>
            <a:fillRect/>
          </a:stretch>
        </p:blipFill>
        <p:spPr>
          <a:xfrm>
            <a:off x="6886612" y="5830772"/>
            <a:ext cx="4381880" cy="838273"/>
          </a:xfrm>
          <a:prstGeom prst="rect">
            <a:avLst/>
          </a:prstGeom>
        </p:spPr>
      </p:pic>
      <p:pic>
        <p:nvPicPr>
          <p:cNvPr id="12" name="Picture 2">
            <a:extLst>
              <a:ext uri="{FF2B5EF4-FFF2-40B4-BE49-F238E27FC236}">
                <a16:creationId xmlns:a16="http://schemas.microsoft.com/office/drawing/2014/main" id="{B3227EB6-233E-33EF-1BF8-A889D9ACAD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17978B7E-708D-BC6E-2768-F18CEA321A2F}"/>
              </a:ext>
            </a:extLst>
          </p:cNvPr>
          <p:cNvSpPr txBox="1"/>
          <p:nvPr/>
        </p:nvSpPr>
        <p:spPr>
          <a:xfrm>
            <a:off x="121541" y="5461440"/>
            <a:ext cx="6309360" cy="369332"/>
          </a:xfrm>
          <a:prstGeom prst="rect">
            <a:avLst/>
          </a:prstGeom>
          <a:noFill/>
        </p:spPr>
        <p:txBody>
          <a:bodyPr wrap="square">
            <a:spAutoFit/>
          </a:bodyPr>
          <a:lstStyle/>
          <a:p>
            <a:pPr algn="ctr"/>
            <a:r>
              <a:rPr lang="en-US" b="1">
                <a:latin typeface="Abadi Extra Light" panose="020B0204020104020204" pitchFamily="34" charset="0"/>
              </a:rPr>
              <a:t>PEARSON CORRELATION</a:t>
            </a:r>
          </a:p>
        </p:txBody>
      </p:sp>
      <p:sp>
        <p:nvSpPr>
          <p:cNvPr id="15" name="CuadroTexto 14">
            <a:extLst>
              <a:ext uri="{FF2B5EF4-FFF2-40B4-BE49-F238E27FC236}">
                <a16:creationId xmlns:a16="http://schemas.microsoft.com/office/drawing/2014/main" id="{443496D8-CE2E-ED20-D0FD-A521041139C6}"/>
              </a:ext>
            </a:extLst>
          </p:cNvPr>
          <p:cNvSpPr txBox="1"/>
          <p:nvPr/>
        </p:nvSpPr>
        <p:spPr>
          <a:xfrm>
            <a:off x="5608099" y="5461440"/>
            <a:ext cx="6309360" cy="369332"/>
          </a:xfrm>
          <a:prstGeom prst="rect">
            <a:avLst/>
          </a:prstGeom>
          <a:noFill/>
        </p:spPr>
        <p:txBody>
          <a:bodyPr wrap="square">
            <a:spAutoFit/>
          </a:bodyPr>
          <a:lstStyle/>
          <a:p>
            <a:pPr algn="ctr"/>
            <a:r>
              <a:rPr lang="en-US" b="1">
                <a:latin typeface="Abadi Extra Light" panose="020B0204020104020204" pitchFamily="34" charset="0"/>
              </a:rPr>
              <a:t>COSINE SIMILARITY</a:t>
            </a:r>
          </a:p>
        </p:txBody>
      </p:sp>
      <p:grpSp>
        <p:nvGrpSpPr>
          <p:cNvPr id="2" name="Grupo 1">
            <a:extLst>
              <a:ext uri="{FF2B5EF4-FFF2-40B4-BE49-F238E27FC236}">
                <a16:creationId xmlns:a16="http://schemas.microsoft.com/office/drawing/2014/main" id="{E1A39424-CB76-4B51-42D1-63C9216CEC36}"/>
              </a:ext>
            </a:extLst>
          </p:cNvPr>
          <p:cNvGrpSpPr/>
          <p:nvPr/>
        </p:nvGrpSpPr>
        <p:grpSpPr>
          <a:xfrm rot="14969103">
            <a:off x="9892742" y="-1315570"/>
            <a:ext cx="2534856" cy="2631139"/>
            <a:chOff x="10176075" y="4523784"/>
            <a:chExt cx="2534856" cy="2631139"/>
          </a:xfrm>
        </p:grpSpPr>
        <p:sp>
          <p:nvSpPr>
            <p:cNvPr id="4" name="Triángulo isósceles 3">
              <a:extLst>
                <a:ext uri="{FF2B5EF4-FFF2-40B4-BE49-F238E27FC236}">
                  <a16:creationId xmlns:a16="http://schemas.microsoft.com/office/drawing/2014/main" id="{770C067B-71BC-F189-AADD-0EAF3C49DF34}"/>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6EC4F45F-F94F-FFFD-AE3F-98DA233A2806}"/>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ángulo isósceles 12">
              <a:extLst>
                <a:ext uri="{FF2B5EF4-FFF2-40B4-BE49-F238E27FC236}">
                  <a16:creationId xmlns:a16="http://schemas.microsoft.com/office/drawing/2014/main" id="{FE005653-22B7-390D-53F1-86684B975AF4}"/>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CuadroTexto 15">
            <a:extLst>
              <a:ext uri="{FF2B5EF4-FFF2-40B4-BE49-F238E27FC236}">
                <a16:creationId xmlns:a16="http://schemas.microsoft.com/office/drawing/2014/main" id="{D173B495-2FDA-C56D-7772-9A8DAD8465F8}"/>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17" name="Título 1">
            <a:extLst>
              <a:ext uri="{FF2B5EF4-FFF2-40B4-BE49-F238E27FC236}">
                <a16:creationId xmlns:a16="http://schemas.microsoft.com/office/drawing/2014/main" id="{20B8E827-3CC8-6768-D4BF-9E779EC7951D}"/>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METHODOLOGY</a:t>
            </a:r>
            <a:endParaRPr lang="en-US" sz="3200">
              <a:latin typeface="Abadi Extra Light" panose="020B0204020104020204" pitchFamily="34" charset="0"/>
            </a:endParaRPr>
          </a:p>
        </p:txBody>
      </p:sp>
      <p:cxnSp>
        <p:nvCxnSpPr>
          <p:cNvPr id="18" name="Conector recto 17">
            <a:extLst>
              <a:ext uri="{FF2B5EF4-FFF2-40B4-BE49-F238E27FC236}">
                <a16:creationId xmlns:a16="http://schemas.microsoft.com/office/drawing/2014/main" id="{E640DED5-1408-9AE5-CE6D-0A61211D4A7C}"/>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20" name="Slide Number Placeholder 19">
            <a:extLst>
              <a:ext uri="{FF2B5EF4-FFF2-40B4-BE49-F238E27FC236}">
                <a16:creationId xmlns:a16="http://schemas.microsoft.com/office/drawing/2014/main" id="{89DD3455-BA24-0FAA-3C1E-48B76B2CCFC7}"/>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14</a:t>
            </a:fld>
            <a:endParaRPr lang="en-US">
              <a:solidFill>
                <a:schemeClr val="tx1"/>
              </a:solidFill>
            </a:endParaRPr>
          </a:p>
        </p:txBody>
      </p:sp>
      <p:pic>
        <p:nvPicPr>
          <p:cNvPr id="8" name="Imagen 7" descr="Gráfico, Gráfico de dispersión&#10;&#10;El contenido generado por IA puede ser incorrecto.">
            <a:extLst>
              <a:ext uri="{FF2B5EF4-FFF2-40B4-BE49-F238E27FC236}">
                <a16:creationId xmlns:a16="http://schemas.microsoft.com/office/drawing/2014/main" id="{CB099BA2-50BE-2AFF-E553-924EB596B6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6826" y="1267779"/>
            <a:ext cx="5333559" cy="3998645"/>
          </a:xfrm>
          <a:prstGeom prst="rect">
            <a:avLst/>
          </a:prstGeom>
        </p:spPr>
      </p:pic>
      <p:pic>
        <p:nvPicPr>
          <p:cNvPr id="19" name="Imagen 18" descr="Gráfico, Gráfico de líneas&#10;&#10;El contenido generado por IA puede ser incorrecto.">
            <a:extLst>
              <a:ext uri="{FF2B5EF4-FFF2-40B4-BE49-F238E27FC236}">
                <a16:creationId xmlns:a16="http://schemas.microsoft.com/office/drawing/2014/main" id="{5B20F50F-83F2-00A3-567F-DD06094FEE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61615" y="1267779"/>
            <a:ext cx="5333559" cy="3998645"/>
          </a:xfrm>
          <a:prstGeom prst="rect">
            <a:avLst/>
          </a:prstGeom>
        </p:spPr>
      </p:pic>
    </p:spTree>
    <p:extLst>
      <p:ext uri="{BB962C8B-B14F-4D97-AF65-F5344CB8AC3E}">
        <p14:creationId xmlns:p14="http://schemas.microsoft.com/office/powerpoint/2010/main" val="710767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B424-01B7-9BBB-0362-AB4E99B6DC97}"/>
            </a:ext>
          </a:extLst>
        </p:cNvPr>
        <p:cNvGrpSpPr/>
        <p:nvPr/>
      </p:nvGrpSpPr>
      <p:grpSpPr>
        <a:xfrm>
          <a:off x="0" y="0"/>
          <a:ext cx="0" cy="0"/>
          <a:chOff x="0" y="0"/>
          <a:chExt cx="0" cy="0"/>
        </a:xfrm>
      </p:grpSpPr>
      <p:pic>
        <p:nvPicPr>
          <p:cNvPr id="6" name="Picture 5" descr="A close-up of a lamp&#10;&#10;AI-generated content may be incorrect.">
            <a:extLst>
              <a:ext uri="{FF2B5EF4-FFF2-40B4-BE49-F238E27FC236}">
                <a16:creationId xmlns:a16="http://schemas.microsoft.com/office/drawing/2014/main" id="{F25C12F3-99D4-63BF-1FD0-8C8A54A35832}"/>
              </a:ext>
            </a:extLst>
          </p:cNvPr>
          <p:cNvPicPr>
            <a:picLocks noChangeAspect="1"/>
          </p:cNvPicPr>
          <p:nvPr/>
        </p:nvPicPr>
        <p:blipFill>
          <a:blip r:embed="rId3">
            <a:extLst>
              <a:ext uri="{28A0092B-C50C-407E-A947-70E740481C1C}">
                <a14:useLocalDpi xmlns:a14="http://schemas.microsoft.com/office/drawing/2010/main" val="0"/>
              </a:ext>
            </a:extLst>
          </a:blip>
          <a:srcRect l="7370" t="11034" r="11019" b="1733"/>
          <a:stretch>
            <a:fillRect/>
          </a:stretch>
        </p:blipFill>
        <p:spPr>
          <a:xfrm>
            <a:off x="463040" y="1977754"/>
            <a:ext cx="5303060" cy="3401067"/>
          </a:xfrm>
          <a:prstGeom prst="rect">
            <a:avLst/>
          </a:prstGeom>
        </p:spPr>
      </p:pic>
      <p:sp>
        <p:nvSpPr>
          <p:cNvPr id="10" name="Marcador de contenido 2">
            <a:extLst>
              <a:ext uri="{FF2B5EF4-FFF2-40B4-BE49-F238E27FC236}">
                <a16:creationId xmlns:a16="http://schemas.microsoft.com/office/drawing/2014/main" id="{BFC1A1DC-CCE8-2395-14DB-03C5FF4FCC80}"/>
              </a:ext>
            </a:extLst>
          </p:cNvPr>
          <p:cNvSpPr>
            <a:spLocks noGrp="1"/>
          </p:cNvSpPr>
          <p:nvPr>
            <p:ph idx="1"/>
          </p:nvPr>
        </p:nvSpPr>
        <p:spPr>
          <a:xfrm>
            <a:off x="880421" y="1565353"/>
            <a:ext cx="4885679" cy="469846"/>
          </a:xfrm>
        </p:spPr>
        <p:txBody>
          <a:bodyPr>
            <a:normAutofit lnSpcReduction="10000"/>
          </a:bodyPr>
          <a:lstStyle/>
          <a:p>
            <a:pPr marL="0" indent="0">
              <a:buNone/>
            </a:pPr>
            <a:r>
              <a:rPr lang="en-US">
                <a:latin typeface="Abadi Extra Light" panose="020B0204020104020204" pitchFamily="34" charset="0"/>
              </a:rPr>
              <a:t>Moon simulant, low sinkage </a:t>
            </a:r>
          </a:p>
        </p:txBody>
      </p:sp>
      <p:sp>
        <p:nvSpPr>
          <p:cNvPr id="11" name="Marcador de contenido 2">
            <a:extLst>
              <a:ext uri="{FF2B5EF4-FFF2-40B4-BE49-F238E27FC236}">
                <a16:creationId xmlns:a16="http://schemas.microsoft.com/office/drawing/2014/main" id="{54C5EFB9-6E75-7E28-ECF2-03DB80B9515C}"/>
              </a:ext>
            </a:extLst>
          </p:cNvPr>
          <p:cNvSpPr txBox="1">
            <a:spLocks/>
          </p:cNvSpPr>
          <p:nvPr/>
        </p:nvSpPr>
        <p:spPr>
          <a:xfrm>
            <a:off x="6778466" y="1565353"/>
            <a:ext cx="4885679" cy="46984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Abadi Extra Light" panose="020B0204020104020204" pitchFamily="34" charset="0"/>
              </a:rPr>
              <a:t>Coarse gravel, high sinkage</a:t>
            </a:r>
          </a:p>
        </p:txBody>
      </p:sp>
      <p:pic>
        <p:nvPicPr>
          <p:cNvPr id="2" name="Picture 2">
            <a:extLst>
              <a:ext uri="{FF2B5EF4-FFF2-40B4-BE49-F238E27FC236}">
                <a16:creationId xmlns:a16="http://schemas.microsoft.com/office/drawing/2014/main" id="{27CFFEF8-4D79-2D18-665C-E55924230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A7E4FA28-C628-A045-3CAA-2D1014F2DD7C}"/>
              </a:ext>
            </a:extLst>
          </p:cNvPr>
          <p:cNvSpPr txBox="1">
            <a:spLocks/>
          </p:cNvSpPr>
          <p:nvPr/>
        </p:nvSpPr>
        <p:spPr>
          <a:xfrm>
            <a:off x="463040" y="5637600"/>
            <a:ext cx="4885679" cy="7331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latin typeface="Abadi Extra Light" panose="020B0204020104020204" pitchFamily="34" charset="0"/>
              </a:rPr>
              <a:t>Good quality contour</a:t>
            </a:r>
          </a:p>
          <a:p>
            <a:r>
              <a:rPr lang="en-US" sz="1600">
                <a:latin typeface="Abadi Extra Light" panose="020B0204020104020204" pitchFamily="34" charset="0"/>
              </a:rPr>
              <a:t>Stable ellipse fit</a:t>
            </a:r>
          </a:p>
        </p:txBody>
      </p:sp>
      <p:sp>
        <p:nvSpPr>
          <p:cNvPr id="5" name="Marcador de contenido 2">
            <a:extLst>
              <a:ext uri="{FF2B5EF4-FFF2-40B4-BE49-F238E27FC236}">
                <a16:creationId xmlns:a16="http://schemas.microsoft.com/office/drawing/2014/main" id="{EF5FD61B-915D-859E-B8D9-B4B14FE30555}"/>
              </a:ext>
            </a:extLst>
          </p:cNvPr>
          <p:cNvSpPr txBox="1">
            <a:spLocks/>
          </p:cNvSpPr>
          <p:nvPr/>
        </p:nvSpPr>
        <p:spPr>
          <a:xfrm>
            <a:off x="6361083" y="5638647"/>
            <a:ext cx="5303062" cy="8343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latin typeface="Abadi Extra Light" panose="020B0204020104020204" pitchFamily="34" charset="0"/>
              </a:rPr>
              <a:t>Good contour tracking but many outliers</a:t>
            </a:r>
          </a:p>
          <a:p>
            <a:r>
              <a:rPr lang="en-US" sz="1600">
                <a:latin typeface="Abadi Extra Light" panose="020B0204020104020204" pitchFamily="34" charset="0"/>
              </a:rPr>
              <a:t>Processing of contour required before ellipse fit</a:t>
            </a:r>
          </a:p>
        </p:txBody>
      </p:sp>
      <p:grpSp>
        <p:nvGrpSpPr>
          <p:cNvPr id="12" name="Grupo 11">
            <a:extLst>
              <a:ext uri="{FF2B5EF4-FFF2-40B4-BE49-F238E27FC236}">
                <a16:creationId xmlns:a16="http://schemas.microsoft.com/office/drawing/2014/main" id="{878354DE-35A8-E7FA-ED27-4F9CD5748B4A}"/>
              </a:ext>
            </a:extLst>
          </p:cNvPr>
          <p:cNvGrpSpPr/>
          <p:nvPr/>
        </p:nvGrpSpPr>
        <p:grpSpPr>
          <a:xfrm rot="14969103">
            <a:off x="9892742" y="-1315570"/>
            <a:ext cx="2534856" cy="2631139"/>
            <a:chOff x="10176075" y="4523784"/>
            <a:chExt cx="2534856" cy="2631139"/>
          </a:xfrm>
        </p:grpSpPr>
        <p:sp>
          <p:nvSpPr>
            <p:cNvPr id="13" name="Triángulo isósceles 12">
              <a:extLst>
                <a:ext uri="{FF2B5EF4-FFF2-40B4-BE49-F238E27FC236}">
                  <a16:creationId xmlns:a16="http://schemas.microsoft.com/office/drawing/2014/main" id="{BED2E045-6B09-6DF2-0693-FCAFAD4604AB}"/>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ángulo isósceles 13">
              <a:extLst>
                <a:ext uri="{FF2B5EF4-FFF2-40B4-BE49-F238E27FC236}">
                  <a16:creationId xmlns:a16="http://schemas.microsoft.com/office/drawing/2014/main" id="{BCF18323-B7D8-7544-D5A4-0A30DEEADD2D}"/>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iángulo isósceles 14">
              <a:extLst>
                <a:ext uri="{FF2B5EF4-FFF2-40B4-BE49-F238E27FC236}">
                  <a16:creationId xmlns:a16="http://schemas.microsoft.com/office/drawing/2014/main" id="{BB83F2EB-AA52-A2B4-291F-12F80EBADDD1}"/>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CuadroTexto 15">
            <a:extLst>
              <a:ext uri="{FF2B5EF4-FFF2-40B4-BE49-F238E27FC236}">
                <a16:creationId xmlns:a16="http://schemas.microsoft.com/office/drawing/2014/main" id="{056AA53A-DB0B-FA01-7EC9-7334C02341E0}"/>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7" name="Título 1">
            <a:extLst>
              <a:ext uri="{FF2B5EF4-FFF2-40B4-BE49-F238E27FC236}">
                <a16:creationId xmlns:a16="http://schemas.microsoft.com/office/drawing/2014/main" id="{B2495252-2268-C1CB-0842-66A541D89413}"/>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RESULTS</a:t>
            </a:r>
            <a:endParaRPr lang="en-US" sz="3200">
              <a:latin typeface="Abadi Extra Light" panose="020B0204020104020204" pitchFamily="34" charset="0"/>
            </a:endParaRPr>
          </a:p>
        </p:txBody>
      </p:sp>
      <p:cxnSp>
        <p:nvCxnSpPr>
          <p:cNvPr id="18" name="Conector recto 17">
            <a:extLst>
              <a:ext uri="{FF2B5EF4-FFF2-40B4-BE49-F238E27FC236}">
                <a16:creationId xmlns:a16="http://schemas.microsoft.com/office/drawing/2014/main" id="{A64F1D74-E354-F585-8583-D1E6E11FEDC4}"/>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20" name="Slide Number Placeholder 19">
            <a:extLst>
              <a:ext uri="{FF2B5EF4-FFF2-40B4-BE49-F238E27FC236}">
                <a16:creationId xmlns:a16="http://schemas.microsoft.com/office/drawing/2014/main" id="{9E78E9E9-89CD-D76C-AECD-B29E91626717}"/>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15</a:t>
            </a:fld>
            <a:endParaRPr lang="en-US">
              <a:solidFill>
                <a:schemeClr val="tx1"/>
              </a:solidFill>
            </a:endParaRPr>
          </a:p>
        </p:txBody>
      </p:sp>
      <p:pic>
        <p:nvPicPr>
          <p:cNvPr id="8" name="Picture 7" descr="A pile of rocks with a red circle&#10;&#10;AI-generated content may be incorrect.">
            <a:extLst>
              <a:ext uri="{FF2B5EF4-FFF2-40B4-BE49-F238E27FC236}">
                <a16:creationId xmlns:a16="http://schemas.microsoft.com/office/drawing/2014/main" id="{D6ACAD79-20ED-97F7-E3E1-EDD9B27A607D}"/>
              </a:ext>
            </a:extLst>
          </p:cNvPr>
          <p:cNvPicPr>
            <a:picLocks noChangeAspect="1"/>
          </p:cNvPicPr>
          <p:nvPr/>
        </p:nvPicPr>
        <p:blipFill>
          <a:blip r:embed="rId5">
            <a:extLst>
              <a:ext uri="{28A0092B-C50C-407E-A947-70E740481C1C}">
                <a14:useLocalDpi xmlns:a14="http://schemas.microsoft.com/office/drawing/2010/main" val="0"/>
              </a:ext>
            </a:extLst>
          </a:blip>
          <a:srcRect l="6709" t="11192" r="9690" b="3867"/>
          <a:stretch>
            <a:fillRect/>
          </a:stretch>
        </p:blipFill>
        <p:spPr>
          <a:xfrm>
            <a:off x="6361082" y="1976400"/>
            <a:ext cx="5580612" cy="3402000"/>
          </a:xfrm>
          <a:prstGeom prst="rect">
            <a:avLst/>
          </a:prstGeom>
        </p:spPr>
      </p:pic>
    </p:spTree>
    <p:extLst>
      <p:ext uri="{BB962C8B-B14F-4D97-AF65-F5344CB8AC3E}">
        <p14:creationId xmlns:p14="http://schemas.microsoft.com/office/powerpoint/2010/main" val="3250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B569-C4EA-4C8A-DC5C-FB8B87943422}"/>
            </a:ext>
          </a:extLst>
        </p:cNvPr>
        <p:cNvGrpSpPr/>
        <p:nvPr/>
      </p:nvGrpSpPr>
      <p:grpSpPr>
        <a:xfrm>
          <a:off x="0" y="0"/>
          <a:ext cx="0" cy="0"/>
          <a:chOff x="0" y="0"/>
          <a:chExt cx="0" cy="0"/>
        </a:xfrm>
      </p:grpSpPr>
      <p:pic>
        <p:nvPicPr>
          <p:cNvPr id="3" name="Picture 2" descr="A close-up of a wheel&#10;&#10;AI-generated content may be incorrect.">
            <a:extLst>
              <a:ext uri="{FF2B5EF4-FFF2-40B4-BE49-F238E27FC236}">
                <a16:creationId xmlns:a16="http://schemas.microsoft.com/office/drawing/2014/main" id="{6F5C7B78-DC93-8CBE-B09A-319144B93FD2}"/>
              </a:ext>
            </a:extLst>
          </p:cNvPr>
          <p:cNvPicPr>
            <a:picLocks noChangeAspect="1"/>
          </p:cNvPicPr>
          <p:nvPr/>
        </p:nvPicPr>
        <p:blipFill>
          <a:blip r:embed="rId3">
            <a:extLst>
              <a:ext uri="{28A0092B-C50C-407E-A947-70E740481C1C}">
                <a14:useLocalDpi xmlns:a14="http://schemas.microsoft.com/office/drawing/2010/main" val="0"/>
              </a:ext>
            </a:extLst>
          </a:blip>
          <a:srcRect l="6596" t="8777" r="11449" b="2395"/>
          <a:stretch>
            <a:fillRect/>
          </a:stretch>
        </p:blipFill>
        <p:spPr>
          <a:xfrm>
            <a:off x="5669280" y="1699709"/>
            <a:ext cx="6123253" cy="3982031"/>
          </a:xfrm>
          <a:prstGeom prst="rect">
            <a:avLst/>
          </a:prstGeom>
        </p:spPr>
      </p:pic>
      <p:sp>
        <p:nvSpPr>
          <p:cNvPr id="5" name="Marcador de contenido 2">
            <a:extLst>
              <a:ext uri="{FF2B5EF4-FFF2-40B4-BE49-F238E27FC236}">
                <a16:creationId xmlns:a16="http://schemas.microsoft.com/office/drawing/2014/main" id="{F15D84BD-C1D8-F21A-C24F-A86F3A569EC6}"/>
              </a:ext>
            </a:extLst>
          </p:cNvPr>
          <p:cNvSpPr>
            <a:spLocks noGrp="1"/>
          </p:cNvSpPr>
          <p:nvPr>
            <p:ph idx="1"/>
          </p:nvPr>
        </p:nvSpPr>
        <p:spPr>
          <a:xfrm>
            <a:off x="399467" y="1847754"/>
            <a:ext cx="4885679" cy="4351338"/>
          </a:xfrm>
        </p:spPr>
        <p:txBody>
          <a:bodyPr/>
          <a:lstStyle/>
          <a:p>
            <a:r>
              <a:rPr lang="en-US">
                <a:latin typeface="Abadi Extra Light" panose="020B0204020104020204" pitchFamily="34" charset="0"/>
              </a:rPr>
              <a:t>Issues with front </a:t>
            </a:r>
            <a:r>
              <a:rPr lang="en-US" err="1">
                <a:latin typeface="Abadi Extra Light" panose="020B0204020104020204" pitchFamily="34" charset="0"/>
              </a:rPr>
              <a:t>WheelCam</a:t>
            </a:r>
            <a:endParaRPr lang="en-US">
              <a:latin typeface="Abadi Extra Light" panose="020B0204020104020204" pitchFamily="34" charset="0"/>
            </a:endParaRPr>
          </a:p>
          <a:p>
            <a:pPr lvl="1"/>
            <a:r>
              <a:rPr lang="en-US">
                <a:latin typeface="Abadi Extra Light" panose="020B0204020104020204" pitchFamily="34" charset="0"/>
              </a:rPr>
              <a:t>Detection on one side</a:t>
            </a:r>
          </a:p>
          <a:p>
            <a:pPr lvl="1"/>
            <a:r>
              <a:rPr lang="en-US">
                <a:latin typeface="Abadi Extra Light" panose="020B0204020104020204" pitchFamily="34" charset="0"/>
              </a:rPr>
              <a:t>Unstable ellipse fit</a:t>
            </a:r>
          </a:p>
          <a:p>
            <a:pPr lvl="1"/>
            <a:r>
              <a:rPr lang="en-US">
                <a:latin typeface="Abadi Extra Light" panose="020B0204020104020204" pitchFamily="34" charset="0"/>
              </a:rPr>
              <a:t>May require a custom algorithm</a:t>
            </a:r>
          </a:p>
        </p:txBody>
      </p:sp>
      <p:pic>
        <p:nvPicPr>
          <p:cNvPr id="2" name="Picture 2">
            <a:extLst>
              <a:ext uri="{FF2B5EF4-FFF2-40B4-BE49-F238E27FC236}">
                <a16:creationId xmlns:a16="http://schemas.microsoft.com/office/drawing/2014/main" id="{E6E42218-4669-665F-2A66-35559E8BA5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412AC090-3C8B-68DF-23BD-F3EAE312AEA3}"/>
              </a:ext>
            </a:extLst>
          </p:cNvPr>
          <p:cNvGrpSpPr/>
          <p:nvPr/>
        </p:nvGrpSpPr>
        <p:grpSpPr>
          <a:xfrm rot="14969103">
            <a:off x="9892742" y="-1315570"/>
            <a:ext cx="2534856" cy="2631139"/>
            <a:chOff x="10176075" y="4523784"/>
            <a:chExt cx="2534856" cy="2631139"/>
          </a:xfrm>
        </p:grpSpPr>
        <p:sp>
          <p:nvSpPr>
            <p:cNvPr id="6" name="Triángulo isósceles 5">
              <a:extLst>
                <a:ext uri="{FF2B5EF4-FFF2-40B4-BE49-F238E27FC236}">
                  <a16:creationId xmlns:a16="http://schemas.microsoft.com/office/drawing/2014/main" id="{A57659F6-7E5E-BF70-5727-860AD8A99BD7}"/>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E1F9CA31-85A0-982C-3AE1-B6132060C401}"/>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ángulo isósceles 10">
              <a:extLst>
                <a:ext uri="{FF2B5EF4-FFF2-40B4-BE49-F238E27FC236}">
                  <a16:creationId xmlns:a16="http://schemas.microsoft.com/office/drawing/2014/main" id="{0054EB75-1C75-984B-42A7-3E05C650275F}"/>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uadroTexto 11">
            <a:extLst>
              <a:ext uri="{FF2B5EF4-FFF2-40B4-BE49-F238E27FC236}">
                <a16:creationId xmlns:a16="http://schemas.microsoft.com/office/drawing/2014/main" id="{0372D8BF-9390-6512-882D-6357802A10FD}"/>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WHEEL SINKAGE</a:t>
            </a:r>
            <a:endParaRPr lang="en-US" i="1"/>
          </a:p>
        </p:txBody>
      </p:sp>
      <p:sp>
        <p:nvSpPr>
          <p:cNvPr id="13" name="Título 1">
            <a:extLst>
              <a:ext uri="{FF2B5EF4-FFF2-40B4-BE49-F238E27FC236}">
                <a16:creationId xmlns:a16="http://schemas.microsoft.com/office/drawing/2014/main" id="{3810B99B-FE37-C3BE-2C52-98FAFEB2F214}"/>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RESULTS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155010FE-8091-FA7E-2F7A-26680CC47B72}"/>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6" name="Slide Number Placeholder 15">
            <a:extLst>
              <a:ext uri="{FF2B5EF4-FFF2-40B4-BE49-F238E27FC236}">
                <a16:creationId xmlns:a16="http://schemas.microsoft.com/office/drawing/2014/main" id="{D7EE74F2-BB7F-A6A9-9293-2729B64B00CB}"/>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16</a:t>
            </a:fld>
            <a:endParaRPr lang="en-US">
              <a:solidFill>
                <a:schemeClr val="tx1"/>
              </a:solidFill>
            </a:endParaRPr>
          </a:p>
        </p:txBody>
      </p:sp>
    </p:spTree>
    <p:extLst>
      <p:ext uri="{BB962C8B-B14F-4D97-AF65-F5344CB8AC3E}">
        <p14:creationId xmlns:p14="http://schemas.microsoft.com/office/powerpoint/2010/main" val="250911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DB66D-E2B9-1960-D229-82D8AF40284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336BDDEB-AAEF-1858-3AC0-0C293EB5EF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0C8661A7-F0C5-BBC6-C6BB-7720F79E32A3}"/>
              </a:ext>
            </a:extLst>
          </p:cNvPr>
          <p:cNvGrpSpPr/>
          <p:nvPr/>
        </p:nvGrpSpPr>
        <p:grpSpPr>
          <a:xfrm rot="14969103">
            <a:off x="9892742" y="-1315570"/>
            <a:ext cx="2534856" cy="2631139"/>
            <a:chOff x="10176075" y="4523784"/>
            <a:chExt cx="2534856" cy="2631139"/>
          </a:xfrm>
        </p:grpSpPr>
        <p:sp>
          <p:nvSpPr>
            <p:cNvPr id="4" name="Triángulo isósceles 3">
              <a:extLst>
                <a:ext uri="{FF2B5EF4-FFF2-40B4-BE49-F238E27FC236}">
                  <a16:creationId xmlns:a16="http://schemas.microsoft.com/office/drawing/2014/main" id="{8B001FBC-4838-7FA3-0F2B-9780C0DE01AB}"/>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ángulo isósceles 4">
              <a:extLst>
                <a:ext uri="{FF2B5EF4-FFF2-40B4-BE49-F238E27FC236}">
                  <a16:creationId xmlns:a16="http://schemas.microsoft.com/office/drawing/2014/main" id="{DE30D05E-76DB-275F-486D-3CDC9301771E}"/>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22F134C5-3738-14C6-FC59-0A110359E647}"/>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Imagen 11" descr="Gráfico, Histograma&#10;&#10;El contenido generado por IA puede ser incorrecto.">
            <a:extLst>
              <a:ext uri="{FF2B5EF4-FFF2-40B4-BE49-F238E27FC236}">
                <a16:creationId xmlns:a16="http://schemas.microsoft.com/office/drawing/2014/main" id="{064014AF-1B61-34A3-4E29-893A30B22D68}"/>
              </a:ext>
            </a:extLst>
          </p:cNvPr>
          <p:cNvPicPr>
            <a:picLocks noChangeAspect="1"/>
          </p:cNvPicPr>
          <p:nvPr/>
        </p:nvPicPr>
        <p:blipFill>
          <a:blip r:embed="rId4">
            <a:extLst>
              <a:ext uri="{28A0092B-C50C-407E-A947-70E740481C1C}">
                <a14:useLocalDpi xmlns:a14="http://schemas.microsoft.com/office/drawing/2010/main" val="0"/>
              </a:ext>
            </a:extLst>
          </a:blip>
          <a:srcRect l="9900" t="3641" r="7225" b="2536"/>
          <a:stretch>
            <a:fillRect/>
          </a:stretch>
        </p:blipFill>
        <p:spPr>
          <a:xfrm>
            <a:off x="1286954" y="1085965"/>
            <a:ext cx="9618092" cy="5591792"/>
          </a:xfrm>
          <a:prstGeom prst="rect">
            <a:avLst/>
          </a:prstGeom>
        </p:spPr>
      </p:pic>
      <p:sp>
        <p:nvSpPr>
          <p:cNvPr id="13" name="CuadroTexto 12">
            <a:extLst>
              <a:ext uri="{FF2B5EF4-FFF2-40B4-BE49-F238E27FC236}">
                <a16:creationId xmlns:a16="http://schemas.microsoft.com/office/drawing/2014/main" id="{741B06F0-C158-3774-951B-7E8E23E9755B}"/>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14" name="Título 1">
            <a:extLst>
              <a:ext uri="{FF2B5EF4-FFF2-40B4-BE49-F238E27FC236}">
                <a16:creationId xmlns:a16="http://schemas.microsoft.com/office/drawing/2014/main" id="{FFBDFEF6-054C-754E-19DB-443354259F9C}"/>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RESULTS</a:t>
            </a:r>
            <a:endParaRPr lang="en-US" sz="3200">
              <a:latin typeface="Abadi Extra Light" panose="020B0204020104020204" pitchFamily="34" charset="0"/>
            </a:endParaRPr>
          </a:p>
        </p:txBody>
      </p:sp>
      <p:cxnSp>
        <p:nvCxnSpPr>
          <p:cNvPr id="15" name="Conector recto 14">
            <a:extLst>
              <a:ext uri="{FF2B5EF4-FFF2-40B4-BE49-F238E27FC236}">
                <a16:creationId xmlns:a16="http://schemas.microsoft.com/office/drawing/2014/main" id="{DC642144-D6EE-C3E1-95FC-1FA82F97F4D2}"/>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6" name="Slide Number Placeholder 15">
            <a:extLst>
              <a:ext uri="{FF2B5EF4-FFF2-40B4-BE49-F238E27FC236}">
                <a16:creationId xmlns:a16="http://schemas.microsoft.com/office/drawing/2014/main" id="{2B609CE9-1344-17ED-7B99-B7DD461BDC62}"/>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17</a:t>
            </a:fld>
            <a:endParaRPr lang="en-US">
              <a:solidFill>
                <a:schemeClr val="tx1"/>
              </a:solidFill>
            </a:endParaRPr>
          </a:p>
        </p:txBody>
      </p:sp>
    </p:spTree>
    <p:extLst>
      <p:ext uri="{BB962C8B-B14F-4D97-AF65-F5344CB8AC3E}">
        <p14:creationId xmlns:p14="http://schemas.microsoft.com/office/powerpoint/2010/main" val="3526550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CC60-2058-DCC0-EE23-196FBB48246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8BC4197-310E-139D-C418-F7DA442B2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E6A01890-3EEA-6002-DE92-2F1921750045}"/>
              </a:ext>
            </a:extLst>
          </p:cNvPr>
          <p:cNvGrpSpPr/>
          <p:nvPr/>
        </p:nvGrpSpPr>
        <p:grpSpPr>
          <a:xfrm rot="14969103">
            <a:off x="9892742" y="-1315570"/>
            <a:ext cx="2534856" cy="2631139"/>
            <a:chOff x="10176075" y="4523784"/>
            <a:chExt cx="2534856" cy="2631139"/>
          </a:xfrm>
        </p:grpSpPr>
        <p:sp>
          <p:nvSpPr>
            <p:cNvPr id="5" name="Triángulo isósceles 4">
              <a:extLst>
                <a:ext uri="{FF2B5EF4-FFF2-40B4-BE49-F238E27FC236}">
                  <a16:creationId xmlns:a16="http://schemas.microsoft.com/office/drawing/2014/main" id="{B2B270FF-7FAE-8BD3-EADC-3546C7DBFB89}"/>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538E87EC-D6D5-F890-C02C-80ABF48CEDF0}"/>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ángulo isósceles 10">
              <a:extLst>
                <a:ext uri="{FF2B5EF4-FFF2-40B4-BE49-F238E27FC236}">
                  <a16:creationId xmlns:a16="http://schemas.microsoft.com/office/drawing/2014/main" id="{9427A9D3-6BD0-50CC-B32C-29E11D5313ED}"/>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uadroTexto 11">
            <a:extLst>
              <a:ext uri="{FF2B5EF4-FFF2-40B4-BE49-F238E27FC236}">
                <a16:creationId xmlns:a16="http://schemas.microsoft.com/office/drawing/2014/main" id="{8A6D9E3E-2FD3-BBD8-F9DD-E3EA5E3D908B}"/>
              </a:ext>
            </a:extLst>
          </p:cNvPr>
          <p:cNvSpPr txBox="1"/>
          <p:nvPr/>
        </p:nvSpPr>
        <p:spPr>
          <a:xfrm>
            <a:off x="2941320" y="5672929"/>
            <a:ext cx="6309360" cy="646331"/>
          </a:xfrm>
          <a:prstGeom prst="rect">
            <a:avLst/>
          </a:prstGeom>
          <a:noFill/>
        </p:spPr>
        <p:txBody>
          <a:bodyPr wrap="square">
            <a:spAutoFit/>
          </a:bodyPr>
          <a:lstStyle/>
          <a:p>
            <a:pPr algn="ctr"/>
            <a:r>
              <a:rPr lang="en-US" b="1">
                <a:latin typeface="Abadi Extra Light" panose="020B0204020104020204" pitchFamily="34" charset="0"/>
              </a:rPr>
              <a:t>PEARSON CORRELATION &gt; 0.98</a:t>
            </a:r>
          </a:p>
          <a:p>
            <a:pPr algn="ctr"/>
            <a:r>
              <a:rPr lang="en-US" b="1">
                <a:latin typeface="Abadi Extra Light" panose="020B0204020104020204" pitchFamily="34" charset="0"/>
              </a:rPr>
              <a:t>COSINE SIMILARITY &gt; 0.99</a:t>
            </a:r>
          </a:p>
        </p:txBody>
      </p:sp>
      <p:sp>
        <p:nvSpPr>
          <p:cNvPr id="13" name="CuadroTexto 12">
            <a:extLst>
              <a:ext uri="{FF2B5EF4-FFF2-40B4-BE49-F238E27FC236}">
                <a16:creationId xmlns:a16="http://schemas.microsoft.com/office/drawing/2014/main" id="{6105E34D-372E-183E-E0F8-98BED42CC5DB}"/>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14" name="Título 1">
            <a:extLst>
              <a:ext uri="{FF2B5EF4-FFF2-40B4-BE49-F238E27FC236}">
                <a16:creationId xmlns:a16="http://schemas.microsoft.com/office/drawing/2014/main" id="{5F837536-A6F0-2CEC-1784-CE2B28D1A939}"/>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RESULTS</a:t>
            </a:r>
            <a:endParaRPr lang="en-US" sz="3200">
              <a:latin typeface="Abadi Extra Light" panose="020B0204020104020204" pitchFamily="34" charset="0"/>
            </a:endParaRPr>
          </a:p>
        </p:txBody>
      </p:sp>
      <p:cxnSp>
        <p:nvCxnSpPr>
          <p:cNvPr id="15" name="Conector recto 14">
            <a:extLst>
              <a:ext uri="{FF2B5EF4-FFF2-40B4-BE49-F238E27FC236}">
                <a16:creationId xmlns:a16="http://schemas.microsoft.com/office/drawing/2014/main" id="{24154EDB-FA42-9841-5AF0-2AF2EA444EB7}"/>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7" name="Slide Number Placeholder 16">
            <a:extLst>
              <a:ext uri="{FF2B5EF4-FFF2-40B4-BE49-F238E27FC236}">
                <a16:creationId xmlns:a16="http://schemas.microsoft.com/office/drawing/2014/main" id="{E671E4B4-13AF-1F90-4003-6B9C7BEA0D7D}"/>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18</a:t>
            </a:fld>
            <a:endParaRPr lang="en-US">
              <a:solidFill>
                <a:schemeClr val="tx1"/>
              </a:solidFill>
            </a:endParaRPr>
          </a:p>
        </p:txBody>
      </p:sp>
      <p:pic>
        <p:nvPicPr>
          <p:cNvPr id="8" name="Imagen 7" descr="Gráfico, Gráfico de dispersión&#10;&#10;El contenido generado por IA puede ser incorrecto.">
            <a:extLst>
              <a:ext uri="{FF2B5EF4-FFF2-40B4-BE49-F238E27FC236}">
                <a16:creationId xmlns:a16="http://schemas.microsoft.com/office/drawing/2014/main" id="{65B050F2-EF93-0432-4C40-090BFA75A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809" y="1492418"/>
            <a:ext cx="5333559" cy="3998645"/>
          </a:xfrm>
          <a:prstGeom prst="rect">
            <a:avLst/>
          </a:prstGeom>
        </p:spPr>
      </p:pic>
      <p:pic>
        <p:nvPicPr>
          <p:cNvPr id="16" name="Imagen 15" descr="Gráfico, Gráfico de dispersión&#10;&#10;El contenido generado por IA puede ser incorrecto.">
            <a:extLst>
              <a:ext uri="{FF2B5EF4-FFF2-40B4-BE49-F238E27FC236}">
                <a16:creationId xmlns:a16="http://schemas.microsoft.com/office/drawing/2014/main" id="{0164081E-D3C5-9E57-FEE3-D8F750F8E4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429200"/>
            <a:ext cx="5332800" cy="3999600"/>
          </a:xfrm>
          <a:prstGeom prst="rect">
            <a:avLst/>
          </a:prstGeom>
        </p:spPr>
      </p:pic>
    </p:spTree>
    <p:extLst>
      <p:ext uri="{BB962C8B-B14F-4D97-AF65-F5344CB8AC3E}">
        <p14:creationId xmlns:p14="http://schemas.microsoft.com/office/powerpoint/2010/main" val="607729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5421-7E1D-20E8-D839-A5DB5F6B4D5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77FBACD-1931-F320-84BF-A05083D297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9AC8776C-67C0-95D5-682E-41FBF54B7041}"/>
              </a:ext>
            </a:extLst>
          </p:cNvPr>
          <p:cNvGrpSpPr/>
          <p:nvPr/>
        </p:nvGrpSpPr>
        <p:grpSpPr>
          <a:xfrm rot="14969103">
            <a:off x="9892743" y="-1315570"/>
            <a:ext cx="2534856" cy="2631139"/>
            <a:chOff x="10176075" y="4523784"/>
            <a:chExt cx="2534856" cy="2631139"/>
          </a:xfrm>
        </p:grpSpPr>
        <p:sp>
          <p:nvSpPr>
            <p:cNvPr id="5" name="Triángulo isósceles 4">
              <a:extLst>
                <a:ext uri="{FF2B5EF4-FFF2-40B4-BE49-F238E27FC236}">
                  <a16:creationId xmlns:a16="http://schemas.microsoft.com/office/drawing/2014/main" id="{CB865CBD-CA57-F2DA-FB5E-83D04145E788}"/>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2EF0EA04-F088-EBC6-6201-24D8B3DA3666}"/>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ángulo isósceles 10">
              <a:extLst>
                <a:ext uri="{FF2B5EF4-FFF2-40B4-BE49-F238E27FC236}">
                  <a16:creationId xmlns:a16="http://schemas.microsoft.com/office/drawing/2014/main" id="{0F163367-3A0E-197D-E4AA-BF2E2F1F9B49}"/>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Imagen 14" descr="Gráfico, Gráfico de líneas&#10;&#10;El contenido generado por IA puede ser incorrecto.">
            <a:extLst>
              <a:ext uri="{FF2B5EF4-FFF2-40B4-BE49-F238E27FC236}">
                <a16:creationId xmlns:a16="http://schemas.microsoft.com/office/drawing/2014/main" id="{69052786-420E-2910-8C0D-9DEF39ABEC0B}"/>
              </a:ext>
            </a:extLst>
          </p:cNvPr>
          <p:cNvPicPr>
            <a:picLocks noChangeAspect="1"/>
          </p:cNvPicPr>
          <p:nvPr/>
        </p:nvPicPr>
        <p:blipFill>
          <a:blip r:embed="rId4">
            <a:extLst>
              <a:ext uri="{28A0092B-C50C-407E-A947-70E740481C1C}">
                <a14:useLocalDpi xmlns:a14="http://schemas.microsoft.com/office/drawing/2010/main" val="0"/>
              </a:ext>
            </a:extLst>
          </a:blip>
          <a:srcRect l="8400" t="4870" r="8500" b="5311"/>
          <a:stretch>
            <a:fillRect/>
          </a:stretch>
        </p:blipFill>
        <p:spPr>
          <a:xfrm>
            <a:off x="5514914" y="2795337"/>
            <a:ext cx="6415486" cy="3561013"/>
          </a:xfrm>
          <a:prstGeom prst="rect">
            <a:avLst/>
          </a:prstGeom>
        </p:spPr>
      </p:pic>
      <p:pic>
        <p:nvPicPr>
          <p:cNvPr id="13" name="Imagen 12" descr="Gráfico, Gráfico de líneas&#10;&#10;El contenido generado por IA puede ser incorrecto.">
            <a:extLst>
              <a:ext uri="{FF2B5EF4-FFF2-40B4-BE49-F238E27FC236}">
                <a16:creationId xmlns:a16="http://schemas.microsoft.com/office/drawing/2014/main" id="{439C5CB1-A742-69D0-BC26-F20B3CF85B88}"/>
              </a:ext>
            </a:extLst>
          </p:cNvPr>
          <p:cNvPicPr>
            <a:picLocks noChangeAspect="1"/>
          </p:cNvPicPr>
          <p:nvPr/>
        </p:nvPicPr>
        <p:blipFill>
          <a:blip r:embed="rId5">
            <a:extLst>
              <a:ext uri="{28A0092B-C50C-407E-A947-70E740481C1C}">
                <a14:useLocalDpi xmlns:a14="http://schemas.microsoft.com/office/drawing/2010/main" val="0"/>
              </a:ext>
            </a:extLst>
          </a:blip>
          <a:srcRect l="9300" t="3558" r="8425" b="5164"/>
          <a:stretch>
            <a:fillRect/>
          </a:stretch>
        </p:blipFill>
        <p:spPr>
          <a:xfrm>
            <a:off x="0" y="2753089"/>
            <a:ext cx="6324443" cy="3603261"/>
          </a:xfrm>
          <a:prstGeom prst="rect">
            <a:avLst/>
          </a:prstGeom>
        </p:spPr>
      </p:pic>
      <p:sp>
        <p:nvSpPr>
          <p:cNvPr id="16" name="CuadroTexto 15">
            <a:extLst>
              <a:ext uri="{FF2B5EF4-FFF2-40B4-BE49-F238E27FC236}">
                <a16:creationId xmlns:a16="http://schemas.microsoft.com/office/drawing/2014/main" id="{9B83A106-E523-72F3-EB9D-4C5742C6E046}"/>
              </a:ext>
            </a:extLst>
          </p:cNvPr>
          <p:cNvSpPr txBox="1"/>
          <p:nvPr/>
        </p:nvSpPr>
        <p:spPr>
          <a:xfrm>
            <a:off x="2941320" y="726782"/>
            <a:ext cx="6309360" cy="369332"/>
          </a:xfrm>
          <a:prstGeom prst="rect">
            <a:avLst/>
          </a:prstGeom>
          <a:noFill/>
        </p:spPr>
        <p:txBody>
          <a:bodyPr wrap="square">
            <a:spAutoFit/>
          </a:bodyPr>
          <a:lstStyle/>
          <a:p>
            <a:pPr algn="ctr"/>
            <a:r>
              <a:rPr lang="en-US" i="1">
                <a:latin typeface="Abadi Extra Light" panose="020B0204020104020204" pitchFamily="34" charset="0"/>
              </a:rPr>
              <a:t>SPECTROMETRY</a:t>
            </a:r>
            <a:endParaRPr lang="en-US" i="1"/>
          </a:p>
        </p:txBody>
      </p:sp>
      <p:sp>
        <p:nvSpPr>
          <p:cNvPr id="17" name="Título 1">
            <a:extLst>
              <a:ext uri="{FF2B5EF4-FFF2-40B4-BE49-F238E27FC236}">
                <a16:creationId xmlns:a16="http://schemas.microsoft.com/office/drawing/2014/main" id="{E1DB609F-FC0C-1075-359F-EC1667EE31F0}"/>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RESULTS</a:t>
            </a:r>
            <a:endParaRPr lang="en-US" sz="3200">
              <a:latin typeface="Abadi Extra Light" panose="020B0204020104020204" pitchFamily="34" charset="0"/>
            </a:endParaRPr>
          </a:p>
        </p:txBody>
      </p:sp>
      <p:cxnSp>
        <p:nvCxnSpPr>
          <p:cNvPr id="18" name="Conector recto 17">
            <a:extLst>
              <a:ext uri="{FF2B5EF4-FFF2-40B4-BE49-F238E27FC236}">
                <a16:creationId xmlns:a16="http://schemas.microsoft.com/office/drawing/2014/main" id="{3E101E7F-52C8-71E5-41B7-CB1F24799F0F}"/>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6" name="Slide Number Placeholder 5">
            <a:extLst>
              <a:ext uri="{FF2B5EF4-FFF2-40B4-BE49-F238E27FC236}">
                <a16:creationId xmlns:a16="http://schemas.microsoft.com/office/drawing/2014/main" id="{BF871724-5496-4FDF-B048-0D8829CFEC04}"/>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19</a:t>
            </a:fld>
            <a:endParaRPr lang="en-US">
              <a:solidFill>
                <a:schemeClr val="tx1"/>
              </a:solidFill>
            </a:endParaRPr>
          </a:p>
        </p:txBody>
      </p:sp>
      <p:sp>
        <p:nvSpPr>
          <p:cNvPr id="4" name="Marcador de contenido 2">
            <a:extLst>
              <a:ext uri="{FF2B5EF4-FFF2-40B4-BE49-F238E27FC236}">
                <a16:creationId xmlns:a16="http://schemas.microsoft.com/office/drawing/2014/main" id="{01845B92-92CF-5ABC-4197-B3258BD4B607}"/>
              </a:ext>
            </a:extLst>
          </p:cNvPr>
          <p:cNvSpPr>
            <a:spLocks noGrp="1"/>
          </p:cNvSpPr>
          <p:nvPr>
            <p:ph idx="1"/>
          </p:nvPr>
        </p:nvSpPr>
        <p:spPr>
          <a:xfrm>
            <a:off x="451337" y="1534197"/>
            <a:ext cx="11289325" cy="957486"/>
          </a:xfrm>
        </p:spPr>
        <p:txBody>
          <a:bodyPr/>
          <a:lstStyle/>
          <a:p>
            <a:pPr marL="0" indent="0" algn="ctr">
              <a:buNone/>
            </a:pPr>
            <a:r>
              <a:rPr lang="en-US">
                <a:latin typeface="Abadi Extra Light" panose="020B0204020104020204" pitchFamily="34" charset="0"/>
              </a:rPr>
              <a:t>Reverse recognition: comparing the brightness of one paper to all the spectrometer measurements and finding the correct color. </a:t>
            </a:r>
          </a:p>
        </p:txBody>
      </p:sp>
    </p:spTree>
    <p:extLst>
      <p:ext uri="{BB962C8B-B14F-4D97-AF65-F5344CB8AC3E}">
        <p14:creationId xmlns:p14="http://schemas.microsoft.com/office/powerpoint/2010/main" val="1661391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1CA4-6AB0-5C1E-99C3-58DCF74D34B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C2A2BE3-20C4-9F7C-62D5-A70B5C0A0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E4E00AAA-3595-879D-729C-10D1B2F7C1A7}"/>
              </a:ext>
            </a:extLst>
          </p:cNvPr>
          <p:cNvSpPr>
            <a:spLocks noGrp="1"/>
          </p:cNvSpPr>
          <p:nvPr>
            <p:ph idx="1"/>
          </p:nvPr>
        </p:nvSpPr>
        <p:spPr>
          <a:xfrm>
            <a:off x="528525" y="2230124"/>
            <a:ext cx="4885679" cy="3129709"/>
          </a:xfrm>
        </p:spPr>
        <p:txBody>
          <a:bodyPr>
            <a:normAutofit/>
          </a:bodyPr>
          <a:lstStyle/>
          <a:p>
            <a:pPr lvl="1"/>
            <a:endParaRPr lang="en-US">
              <a:latin typeface="Abadi Extra Light" panose="020B0204020104020204" pitchFamily="34" charset="0"/>
            </a:endParaRPr>
          </a:p>
          <a:p>
            <a:pPr lvl="1"/>
            <a:r>
              <a:rPr lang="en-US">
                <a:latin typeface="Abadi Extra Light" panose="020B0204020104020204" pitchFamily="34" charset="0"/>
              </a:rPr>
              <a:t>Good performance of wheel detection algorithm in different conditions</a:t>
            </a:r>
          </a:p>
          <a:p>
            <a:pPr lvl="1"/>
            <a:r>
              <a:rPr lang="en-US">
                <a:latin typeface="Abadi Extra Light" panose="020B0204020104020204" pitchFamily="34" charset="0"/>
              </a:rPr>
              <a:t>Algorithm is not optimized for the front </a:t>
            </a:r>
            <a:r>
              <a:rPr lang="en-US" err="1">
                <a:latin typeface="Abadi Extra Light" panose="020B0204020104020204" pitchFamily="34" charset="0"/>
              </a:rPr>
              <a:t>WheelCam</a:t>
            </a:r>
            <a:r>
              <a:rPr lang="en-US">
                <a:latin typeface="Abadi Extra Light" panose="020B0204020104020204" pitchFamily="34" charset="0"/>
              </a:rPr>
              <a:t> images</a:t>
            </a:r>
          </a:p>
          <a:p>
            <a:pPr marL="0" indent="0">
              <a:buNone/>
            </a:pPr>
            <a:endParaRPr lang="en-US">
              <a:latin typeface="Abadi Extra Light" panose="020B0204020104020204" pitchFamily="34" charset="0"/>
            </a:endParaRPr>
          </a:p>
          <a:p>
            <a:pPr marL="0" indent="0">
              <a:buNone/>
            </a:pPr>
            <a:endParaRPr lang="en-US">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00EDCD6E-07D9-C117-B3F1-404BDF64025A}"/>
              </a:ext>
            </a:extLst>
          </p:cNvPr>
          <p:cNvSpPr txBox="1">
            <a:spLocks/>
          </p:cNvSpPr>
          <p:nvPr/>
        </p:nvSpPr>
        <p:spPr>
          <a:xfrm>
            <a:off x="6689707" y="2115469"/>
            <a:ext cx="5323114" cy="3244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a:latin typeface="Abadi Extra Light" panose="020B0204020104020204" pitchFamily="34" charset="0"/>
            </a:endParaRPr>
          </a:p>
          <a:p>
            <a:pPr lvl="1"/>
            <a:r>
              <a:rPr lang="en-US">
                <a:latin typeface="Abadi Extra Light" panose="020B0204020104020204" pitchFamily="34" charset="0"/>
              </a:rPr>
              <a:t>Simplified model – effective initial step</a:t>
            </a:r>
          </a:p>
          <a:p>
            <a:pPr lvl="1"/>
            <a:r>
              <a:rPr lang="en-US">
                <a:latin typeface="Abadi Extra Light" panose="020B0204020104020204" pitchFamily="34" charset="0"/>
              </a:rPr>
              <a:t>Obtaining trend similarity from brightness – possible </a:t>
            </a:r>
          </a:p>
          <a:p>
            <a:pPr lvl="1"/>
            <a:r>
              <a:rPr lang="en-US">
                <a:latin typeface="Abadi Extra Light" panose="020B0204020104020204" pitchFamily="34" charset="0"/>
              </a:rPr>
              <a:t>Assumptions made must be corrected as complexity increases</a:t>
            </a:r>
          </a:p>
          <a:p>
            <a:pPr lvl="1"/>
            <a:r>
              <a:rPr lang="en-US">
                <a:latin typeface="Abadi Extra Light" panose="020B0204020104020204" pitchFamily="34" charset="0"/>
              </a:rPr>
              <a:t>Reverse recognition is limited</a:t>
            </a:r>
          </a:p>
        </p:txBody>
      </p:sp>
      <p:grpSp>
        <p:nvGrpSpPr>
          <p:cNvPr id="4" name="Grupo 3">
            <a:extLst>
              <a:ext uri="{FF2B5EF4-FFF2-40B4-BE49-F238E27FC236}">
                <a16:creationId xmlns:a16="http://schemas.microsoft.com/office/drawing/2014/main" id="{7B6ABABA-A47D-4966-D174-E31294C1A560}"/>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29062331-776B-5A23-FC3B-16000C21F988}"/>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7BA0489D-8135-D525-E49B-4669F3CEA7DC}"/>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ACED59CA-74E1-D9D0-AE5A-81BDAC73ABD7}"/>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8172DB6B-E2C4-2B0C-1CF3-62F197DD8310}"/>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CONCLUSIONS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7ACBFA19-BE35-F733-D355-018646C2A6A6}"/>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5" name="Título 1">
            <a:extLst>
              <a:ext uri="{FF2B5EF4-FFF2-40B4-BE49-F238E27FC236}">
                <a16:creationId xmlns:a16="http://schemas.microsoft.com/office/drawing/2014/main" id="{B458CA07-99DB-2362-110C-581FB2ACF260}"/>
              </a:ext>
            </a:extLst>
          </p:cNvPr>
          <p:cNvSpPr txBox="1">
            <a:spLocks/>
          </p:cNvSpPr>
          <p:nvPr/>
        </p:nvSpPr>
        <p:spPr>
          <a:xfrm>
            <a:off x="381789" y="1776079"/>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latin typeface="Abadi Extra Light" panose="020B0204020104020204" pitchFamily="34" charset="0"/>
              </a:rPr>
              <a:t>WHEEL</a:t>
            </a:r>
            <a:r>
              <a:rPr lang="en-US" sz="3200" i="1">
                <a:latin typeface="Abadi Extra Light" panose="020B0204020104020204" pitchFamily="34" charset="0"/>
              </a:rPr>
              <a:t> </a:t>
            </a:r>
            <a:r>
              <a:rPr lang="en-US" sz="3200" b="1">
                <a:latin typeface="Abadi Extra Light" panose="020B0204020104020204" pitchFamily="34" charset="0"/>
              </a:rPr>
              <a:t>DETECTION</a:t>
            </a:r>
            <a:endParaRPr lang="en-US" sz="2800" b="1">
              <a:latin typeface="Abadi Extra Light" panose="020B0204020104020204" pitchFamily="34" charset="0"/>
            </a:endParaRPr>
          </a:p>
        </p:txBody>
      </p:sp>
      <p:sp>
        <p:nvSpPr>
          <p:cNvPr id="16" name="Título 1">
            <a:extLst>
              <a:ext uri="{FF2B5EF4-FFF2-40B4-BE49-F238E27FC236}">
                <a16:creationId xmlns:a16="http://schemas.microsoft.com/office/drawing/2014/main" id="{4A9B75FF-C65F-A324-F30C-1695EC62051C}"/>
              </a:ext>
            </a:extLst>
          </p:cNvPr>
          <p:cNvSpPr txBox="1">
            <a:spLocks/>
          </p:cNvSpPr>
          <p:nvPr/>
        </p:nvSpPr>
        <p:spPr>
          <a:xfrm>
            <a:off x="6096000" y="1739318"/>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latin typeface="Abadi Extra Light" panose="020B0204020104020204" pitchFamily="34" charset="0"/>
              </a:rPr>
              <a:t>SPECTROMETRY</a:t>
            </a:r>
            <a:endParaRPr lang="en-US" sz="2800" b="1">
              <a:latin typeface="Abadi Extra Light" panose="020B0204020104020204" pitchFamily="34" charset="0"/>
            </a:endParaRPr>
          </a:p>
        </p:txBody>
      </p:sp>
      <p:sp>
        <p:nvSpPr>
          <p:cNvPr id="8" name="Slide Number Placeholder 7">
            <a:extLst>
              <a:ext uri="{FF2B5EF4-FFF2-40B4-BE49-F238E27FC236}">
                <a16:creationId xmlns:a16="http://schemas.microsoft.com/office/drawing/2014/main" id="{0DB5709C-86EB-0516-2006-96E23B288DDA}"/>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20</a:t>
            </a:fld>
            <a:endParaRPr lang="en-US">
              <a:solidFill>
                <a:schemeClr val="tx1"/>
              </a:solidFill>
            </a:endParaRPr>
          </a:p>
        </p:txBody>
      </p:sp>
    </p:spTree>
    <p:extLst>
      <p:ext uri="{BB962C8B-B14F-4D97-AF65-F5344CB8AC3E}">
        <p14:creationId xmlns:p14="http://schemas.microsoft.com/office/powerpoint/2010/main" val="3881059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DC47-D741-7050-1F00-695EB253E56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78BB2E0-29B5-3071-3AA2-D61908807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07C3059F-5935-9553-D5D4-54052F661296}"/>
              </a:ext>
            </a:extLst>
          </p:cNvPr>
          <p:cNvSpPr>
            <a:spLocks noGrp="1"/>
          </p:cNvSpPr>
          <p:nvPr>
            <p:ph idx="1"/>
          </p:nvPr>
        </p:nvSpPr>
        <p:spPr>
          <a:xfrm>
            <a:off x="616615" y="1892080"/>
            <a:ext cx="4885679" cy="1828503"/>
          </a:xfrm>
        </p:spPr>
        <p:txBody>
          <a:bodyPr>
            <a:normAutofit/>
          </a:bodyPr>
          <a:lstStyle/>
          <a:p>
            <a:pPr lvl="1"/>
            <a:endParaRPr lang="en-US" dirty="0">
              <a:latin typeface="Abadi Extra Light" panose="020B0204020104020204" pitchFamily="34" charset="0"/>
            </a:endParaRPr>
          </a:p>
          <a:p>
            <a:pPr lvl="1"/>
            <a:r>
              <a:rPr lang="en-US" sz="2200" dirty="0">
                <a:latin typeface="Abadi Extra Light" panose="020B0204020104020204" pitchFamily="34" charset="0"/>
              </a:rPr>
              <a:t>Implement sinkage calculation</a:t>
            </a:r>
          </a:p>
          <a:p>
            <a:pPr lvl="1"/>
            <a:r>
              <a:rPr lang="en-US" sz="2200" dirty="0">
                <a:latin typeface="Abadi Extra Light" panose="020B0204020104020204" pitchFamily="34" charset="0"/>
              </a:rPr>
              <a:t>Validate rear </a:t>
            </a:r>
            <a:r>
              <a:rPr lang="en-US" sz="2200" dirty="0" err="1">
                <a:latin typeface="Abadi Extra Light" panose="020B0204020104020204" pitchFamily="34" charset="0"/>
              </a:rPr>
              <a:t>WheelCam</a:t>
            </a:r>
            <a:r>
              <a:rPr lang="en-US" sz="2200" dirty="0">
                <a:latin typeface="Abadi Extra Light" panose="020B0204020104020204" pitchFamily="34" charset="0"/>
              </a:rPr>
              <a:t> detection</a:t>
            </a:r>
          </a:p>
          <a:p>
            <a:pPr lvl="1"/>
            <a:r>
              <a:rPr lang="en-US" sz="2200" dirty="0">
                <a:latin typeface="Abadi Extra Light" panose="020B0204020104020204" pitchFamily="34" charset="0"/>
              </a:rPr>
              <a:t>Improve performance on front </a:t>
            </a:r>
            <a:r>
              <a:rPr lang="en-US" sz="2200" dirty="0" err="1">
                <a:latin typeface="Abadi Extra Light" panose="020B0204020104020204" pitchFamily="34" charset="0"/>
              </a:rPr>
              <a:t>WheelCam</a:t>
            </a:r>
            <a:endParaRPr lang="en-US" sz="2200" dirty="0">
              <a:latin typeface="Abadi Extra Light" panose="020B0204020104020204" pitchFamily="34" charset="0"/>
            </a:endParaRPr>
          </a:p>
          <a:p>
            <a:pPr marL="0" indent="0">
              <a:buNone/>
            </a:pPr>
            <a:endParaRPr lang="en-US" dirty="0">
              <a:latin typeface="Abadi Extra Light" panose="020B0204020104020204" pitchFamily="34" charset="0"/>
            </a:endParaRPr>
          </a:p>
        </p:txBody>
      </p:sp>
      <p:sp>
        <p:nvSpPr>
          <p:cNvPr id="3" name="Marcador de contenido 2">
            <a:extLst>
              <a:ext uri="{FF2B5EF4-FFF2-40B4-BE49-F238E27FC236}">
                <a16:creationId xmlns:a16="http://schemas.microsoft.com/office/drawing/2014/main" id="{2D373EF2-905F-8956-0623-807DC7A0BDFC}"/>
              </a:ext>
            </a:extLst>
          </p:cNvPr>
          <p:cNvSpPr txBox="1">
            <a:spLocks/>
          </p:cNvSpPr>
          <p:nvPr/>
        </p:nvSpPr>
        <p:spPr>
          <a:xfrm>
            <a:off x="616615" y="4074469"/>
            <a:ext cx="5323114" cy="24599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200">
              <a:latin typeface="Abadi Extra Light" panose="020B0204020104020204" pitchFamily="34" charset="0"/>
            </a:endParaRPr>
          </a:p>
          <a:p>
            <a:pPr lvl="1"/>
            <a:r>
              <a:rPr lang="en-US" sz="2200">
                <a:latin typeface="Abadi Extra Light" panose="020B0204020104020204" pitchFamily="34" charset="0"/>
              </a:rPr>
              <a:t>Obtaining values of reflectance using a calibrating panel</a:t>
            </a:r>
          </a:p>
          <a:p>
            <a:pPr lvl="1"/>
            <a:r>
              <a:rPr lang="en-US" sz="2200">
                <a:latin typeface="Abadi Extra Light" panose="020B0204020104020204" pitchFamily="34" charset="0"/>
              </a:rPr>
              <a:t>Experimental study of real materials: solid blocks and eventually powdered.</a:t>
            </a:r>
          </a:p>
          <a:p>
            <a:pPr lvl="1"/>
            <a:r>
              <a:rPr lang="en-US" sz="2200">
                <a:latin typeface="Abadi Extra Light" panose="020B0204020104020204" pitchFamily="34" charset="0"/>
              </a:rPr>
              <a:t>Reverse recognition algorithm will be improved</a:t>
            </a:r>
          </a:p>
        </p:txBody>
      </p:sp>
      <p:grpSp>
        <p:nvGrpSpPr>
          <p:cNvPr id="4" name="Grupo 3">
            <a:extLst>
              <a:ext uri="{FF2B5EF4-FFF2-40B4-BE49-F238E27FC236}">
                <a16:creationId xmlns:a16="http://schemas.microsoft.com/office/drawing/2014/main" id="{DABEAE8A-4587-BCF6-43AC-BB6E14ED71E7}"/>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E5D717B0-1FFE-62A4-79BD-588B3F807D75}"/>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42135F68-0D8D-F90B-BF5E-9A1CC1955BE7}"/>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92907591-7846-46D5-4AE4-DCEA3FD20797}"/>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Conector recto 13">
            <a:extLst>
              <a:ext uri="{FF2B5EF4-FFF2-40B4-BE49-F238E27FC236}">
                <a16:creationId xmlns:a16="http://schemas.microsoft.com/office/drawing/2014/main" id="{29DD34BA-D258-7DCF-E7F5-B8702495D086}"/>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5" name="Título 1">
            <a:extLst>
              <a:ext uri="{FF2B5EF4-FFF2-40B4-BE49-F238E27FC236}">
                <a16:creationId xmlns:a16="http://schemas.microsoft.com/office/drawing/2014/main" id="{8AA6587A-3A0F-4AB4-4093-579EFE2441E8}"/>
              </a:ext>
            </a:extLst>
          </p:cNvPr>
          <p:cNvSpPr txBox="1">
            <a:spLocks/>
          </p:cNvSpPr>
          <p:nvPr/>
        </p:nvSpPr>
        <p:spPr>
          <a:xfrm>
            <a:off x="381789" y="1776079"/>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latin typeface="Abadi Extra Light" panose="020B0204020104020204" pitchFamily="34" charset="0"/>
              </a:rPr>
              <a:t>WHEEL</a:t>
            </a:r>
            <a:r>
              <a:rPr lang="en-US" sz="3200" i="1">
                <a:latin typeface="Abadi Extra Light" panose="020B0204020104020204" pitchFamily="34" charset="0"/>
              </a:rPr>
              <a:t> </a:t>
            </a:r>
            <a:r>
              <a:rPr lang="en-US" sz="3200" b="1">
                <a:latin typeface="Abadi Extra Light" panose="020B0204020104020204" pitchFamily="34" charset="0"/>
              </a:rPr>
              <a:t>DETECTION</a:t>
            </a:r>
            <a:endParaRPr lang="en-US" sz="2800" b="1">
              <a:latin typeface="Abadi Extra Light" panose="020B0204020104020204" pitchFamily="34" charset="0"/>
            </a:endParaRPr>
          </a:p>
        </p:txBody>
      </p:sp>
      <p:sp>
        <p:nvSpPr>
          <p:cNvPr id="16" name="Título 1">
            <a:extLst>
              <a:ext uri="{FF2B5EF4-FFF2-40B4-BE49-F238E27FC236}">
                <a16:creationId xmlns:a16="http://schemas.microsoft.com/office/drawing/2014/main" id="{D3BDAF40-25E3-B6F6-BCB8-BCD0E2A0681B}"/>
              </a:ext>
            </a:extLst>
          </p:cNvPr>
          <p:cNvSpPr txBox="1">
            <a:spLocks/>
          </p:cNvSpPr>
          <p:nvPr/>
        </p:nvSpPr>
        <p:spPr>
          <a:xfrm>
            <a:off x="144674" y="3894430"/>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latin typeface="Abadi Extra Light" panose="020B0204020104020204" pitchFamily="34" charset="0"/>
              </a:rPr>
              <a:t>SPECTROMETRY</a:t>
            </a:r>
            <a:endParaRPr lang="en-US" sz="2800" b="1">
              <a:latin typeface="Abadi Extra Light" panose="020B0204020104020204" pitchFamily="34" charset="0"/>
            </a:endParaRPr>
          </a:p>
        </p:txBody>
      </p:sp>
      <p:pic>
        <p:nvPicPr>
          <p:cNvPr id="11" name="Image 5">
            <a:extLst>
              <a:ext uri="{FF2B5EF4-FFF2-40B4-BE49-F238E27FC236}">
                <a16:creationId xmlns:a16="http://schemas.microsoft.com/office/drawing/2014/main" id="{18839C0F-6B23-343C-1B38-C0A8A3CD5202}"/>
              </a:ext>
            </a:extLst>
          </p:cNvPr>
          <p:cNvPicPr>
            <a:picLocks noChangeAspect="1"/>
          </p:cNvPicPr>
          <p:nvPr/>
        </p:nvPicPr>
        <p:blipFill>
          <a:blip r:embed="rId4" cstate="screen">
            <a:extLst>
              <a:ext uri="{28A0092B-C50C-407E-A947-70E740481C1C}">
                <a14:useLocalDpi xmlns:a14="http://schemas.microsoft.com/office/drawing/2010/main"/>
              </a:ext>
            </a:extLst>
          </a:blip>
          <a:srcRect l="16328" t="4151" b="17444"/>
          <a:stretch>
            <a:fillRect/>
          </a:stretch>
        </p:blipFill>
        <p:spPr>
          <a:xfrm>
            <a:off x="7341416" y="3934761"/>
            <a:ext cx="3698986" cy="2599657"/>
          </a:xfrm>
          <a:prstGeom prst="rect">
            <a:avLst/>
          </a:prstGeom>
          <a:ln>
            <a:solidFill>
              <a:schemeClr val="tx1"/>
            </a:solidFill>
          </a:ln>
        </p:spPr>
      </p:pic>
      <p:sp>
        <p:nvSpPr>
          <p:cNvPr id="12" name="Título 1">
            <a:extLst>
              <a:ext uri="{FF2B5EF4-FFF2-40B4-BE49-F238E27FC236}">
                <a16:creationId xmlns:a16="http://schemas.microsoft.com/office/drawing/2014/main" id="{46D4AD1C-2FD4-DFDD-040B-5638B624B39C}"/>
              </a:ext>
            </a:extLst>
          </p:cNvPr>
          <p:cNvSpPr txBox="1">
            <a:spLocks/>
          </p:cNvSpPr>
          <p:nvPr/>
        </p:nvSpPr>
        <p:spPr>
          <a:xfrm>
            <a:off x="3055361" y="208699"/>
            <a:ext cx="6081277"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FUTURE WORK</a:t>
            </a:r>
            <a:endParaRPr lang="en-US" sz="3200">
              <a:latin typeface="Abadi Extra Light" panose="020B0204020104020204" pitchFamily="34" charset="0"/>
            </a:endParaRPr>
          </a:p>
        </p:txBody>
      </p:sp>
      <p:pic>
        <p:nvPicPr>
          <p:cNvPr id="17" name="Picture 16" descr="A close-up of a metal wheel&#10;&#10;AI-generated content may be incorrect.">
            <a:extLst>
              <a:ext uri="{FF2B5EF4-FFF2-40B4-BE49-F238E27FC236}">
                <a16:creationId xmlns:a16="http://schemas.microsoft.com/office/drawing/2014/main" id="{4F901200-46B8-C4D3-B354-ABE6953D0D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905" y="1369085"/>
            <a:ext cx="3698986" cy="2323330"/>
          </a:xfrm>
          <a:prstGeom prst="rect">
            <a:avLst/>
          </a:prstGeom>
        </p:spPr>
      </p:pic>
      <p:sp>
        <p:nvSpPr>
          <p:cNvPr id="8" name="Slide Number Placeholder 7">
            <a:extLst>
              <a:ext uri="{FF2B5EF4-FFF2-40B4-BE49-F238E27FC236}">
                <a16:creationId xmlns:a16="http://schemas.microsoft.com/office/drawing/2014/main" id="{7E100E00-B93C-DC3B-E896-631B168FDBD5}"/>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21</a:t>
            </a:fld>
            <a:endParaRPr lang="en-US">
              <a:solidFill>
                <a:schemeClr val="tx1"/>
              </a:solidFill>
            </a:endParaRPr>
          </a:p>
        </p:txBody>
      </p:sp>
    </p:spTree>
    <p:extLst>
      <p:ext uri="{BB962C8B-B14F-4D97-AF65-F5344CB8AC3E}">
        <p14:creationId xmlns:p14="http://schemas.microsoft.com/office/powerpoint/2010/main" val="927282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3DC8-5DC2-DF92-2424-6E8A09FD3E4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B2C3E95-67B6-DF8F-C637-95F2CFF28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C91573F3-D3A0-E961-301F-A445B1DBA799}"/>
              </a:ext>
            </a:extLst>
          </p:cNvPr>
          <p:cNvSpPr txBox="1">
            <a:spLocks/>
          </p:cNvSpPr>
          <p:nvPr/>
        </p:nvSpPr>
        <p:spPr>
          <a:xfrm>
            <a:off x="772886" y="1739317"/>
            <a:ext cx="10488672" cy="40572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nl-NL"/>
              <a:t>Murdoch, N. et al (2025). </a:t>
            </a:r>
            <a:r>
              <a:rPr lang="nl-NL" i="1"/>
              <a:t>The WheelCams on the IDEFIX rover</a:t>
            </a:r>
            <a:r>
              <a:rPr lang="nl-NL"/>
              <a:t>.</a:t>
            </a:r>
          </a:p>
          <a:p>
            <a:pPr lvl="1"/>
            <a:r>
              <a:rPr lang="en-US" i="1"/>
              <a:t>MMX Exploration Mission</a:t>
            </a:r>
            <a:r>
              <a:rPr lang="en-US"/>
              <a:t>. [Online]. Available: https://www.esa.int/Science_Exploration/Space_Science/MMX_factsheet</a:t>
            </a:r>
          </a:p>
          <a:p>
            <a:pPr lvl="1"/>
            <a:r>
              <a:rPr lang="en-US" i="1"/>
              <a:t>The Radio Spectrum: Understanding ITU Frequency Bands from VLF to UHF</a:t>
            </a:r>
            <a:r>
              <a:rPr lang="en-US"/>
              <a:t>. [Online]. Available: https://www.ariat-tech.com/blog/the-radio-spectrum-understanding-itu-frequency-bands-from-vlf-to-uhf.html</a:t>
            </a:r>
          </a:p>
          <a:p>
            <a:pPr lvl="1"/>
            <a:r>
              <a:rPr lang="nl-NL" i="1"/>
              <a:t>Phobos</a:t>
            </a:r>
            <a:r>
              <a:rPr lang="nl-NL"/>
              <a:t>. [Online]. Available: https://thesolarsystem.fandom.com/wiki/Phobos</a:t>
            </a:r>
            <a:endParaRPr lang="en-US"/>
          </a:p>
          <a:p>
            <a:pPr lvl="1"/>
            <a:endParaRPr lang="en-NL"/>
          </a:p>
        </p:txBody>
      </p:sp>
      <p:grpSp>
        <p:nvGrpSpPr>
          <p:cNvPr id="4" name="Grupo 3">
            <a:extLst>
              <a:ext uri="{FF2B5EF4-FFF2-40B4-BE49-F238E27FC236}">
                <a16:creationId xmlns:a16="http://schemas.microsoft.com/office/drawing/2014/main" id="{9F1C1E97-DD1A-D670-16F2-B875640D49BD}"/>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938FE925-2252-7A3A-B7A4-F2C82480B7DA}"/>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BF8CDE52-9D33-B9BC-D564-CB69639ED783}"/>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F0174C69-9739-D6A3-D6FA-FD5653F33503}"/>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E08D7597-9F55-A569-3014-40EA84549F48}"/>
              </a:ext>
            </a:extLst>
          </p:cNvPr>
          <p:cNvSpPr txBox="1">
            <a:spLocks/>
          </p:cNvSpPr>
          <p:nvPr/>
        </p:nvSpPr>
        <p:spPr>
          <a:xfrm>
            <a:off x="4360123" y="200040"/>
            <a:ext cx="3471754" cy="3461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REFERENCES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1F37B459-5B02-5FB0-F28B-F57377CFB154}"/>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15" name="Título 1">
            <a:extLst>
              <a:ext uri="{FF2B5EF4-FFF2-40B4-BE49-F238E27FC236}">
                <a16:creationId xmlns:a16="http://schemas.microsoft.com/office/drawing/2014/main" id="{D389B7C9-0ED9-5880-B30A-56BA06D10AC0}"/>
              </a:ext>
            </a:extLst>
          </p:cNvPr>
          <p:cNvSpPr txBox="1">
            <a:spLocks/>
          </p:cNvSpPr>
          <p:nvPr/>
        </p:nvSpPr>
        <p:spPr>
          <a:xfrm>
            <a:off x="381789" y="1776079"/>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a:latin typeface="Abadi Extra Light" panose="020B0204020104020204" pitchFamily="34" charset="0"/>
            </a:endParaRPr>
          </a:p>
        </p:txBody>
      </p:sp>
      <p:sp>
        <p:nvSpPr>
          <p:cNvPr id="16" name="Título 1">
            <a:extLst>
              <a:ext uri="{FF2B5EF4-FFF2-40B4-BE49-F238E27FC236}">
                <a16:creationId xmlns:a16="http://schemas.microsoft.com/office/drawing/2014/main" id="{DB7F8221-6EED-0332-CCF4-9134EE059F00}"/>
              </a:ext>
            </a:extLst>
          </p:cNvPr>
          <p:cNvSpPr txBox="1">
            <a:spLocks/>
          </p:cNvSpPr>
          <p:nvPr/>
        </p:nvSpPr>
        <p:spPr>
          <a:xfrm>
            <a:off x="6096000" y="1739318"/>
            <a:ext cx="3978334" cy="312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a:latin typeface="Abadi Extra Light" panose="020B0204020104020204" pitchFamily="34" charset="0"/>
            </a:endParaRPr>
          </a:p>
        </p:txBody>
      </p:sp>
      <p:sp>
        <p:nvSpPr>
          <p:cNvPr id="8" name="Slide Number Placeholder 7">
            <a:extLst>
              <a:ext uri="{FF2B5EF4-FFF2-40B4-BE49-F238E27FC236}">
                <a16:creationId xmlns:a16="http://schemas.microsoft.com/office/drawing/2014/main" id="{92DD8405-1730-9033-C1DA-602C2409EE13}"/>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22</a:t>
            </a:fld>
            <a:endParaRPr lang="en-US">
              <a:solidFill>
                <a:schemeClr val="tx1"/>
              </a:solidFill>
            </a:endParaRPr>
          </a:p>
        </p:txBody>
      </p:sp>
    </p:spTree>
    <p:extLst>
      <p:ext uri="{BB962C8B-B14F-4D97-AF65-F5344CB8AC3E}">
        <p14:creationId xmlns:p14="http://schemas.microsoft.com/office/powerpoint/2010/main" val="429002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651C3-3B76-7A48-1643-9DC97EA969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EA4546-E476-5B49-FF31-4C6040E81E27}"/>
              </a:ext>
            </a:extLst>
          </p:cNvPr>
          <p:cNvSpPr>
            <a:spLocks noGrp="1"/>
          </p:cNvSpPr>
          <p:nvPr>
            <p:ph type="ctrTitle"/>
          </p:nvPr>
        </p:nvSpPr>
        <p:spPr>
          <a:xfrm>
            <a:off x="1524000" y="1401212"/>
            <a:ext cx="9144000" cy="2387600"/>
          </a:xfrm>
        </p:spPr>
        <p:txBody>
          <a:bodyPr>
            <a:normAutofit fontScale="90000"/>
          </a:bodyPr>
          <a:lstStyle/>
          <a:p>
            <a:r>
              <a:rPr lang="en-US">
                <a:latin typeface="Abadi Extra Light" panose="020B0204020104020204" pitchFamily="34" charset="0"/>
              </a:rPr>
              <a:t>Preparing to study the surface of Phobos using IDEFIX </a:t>
            </a:r>
            <a:r>
              <a:rPr lang="en-US" err="1">
                <a:latin typeface="Abadi Extra Light" panose="020B0204020104020204" pitchFamily="34" charset="0"/>
              </a:rPr>
              <a:t>WheelCam</a:t>
            </a:r>
            <a:r>
              <a:rPr lang="en-US">
                <a:latin typeface="Abadi Extra Light" panose="020B0204020104020204" pitchFamily="34" charset="0"/>
              </a:rPr>
              <a:t> Images</a:t>
            </a:r>
          </a:p>
        </p:txBody>
      </p:sp>
      <p:sp>
        <p:nvSpPr>
          <p:cNvPr id="3" name="Subtítulo 2">
            <a:extLst>
              <a:ext uri="{FF2B5EF4-FFF2-40B4-BE49-F238E27FC236}">
                <a16:creationId xmlns:a16="http://schemas.microsoft.com/office/drawing/2014/main" id="{90FD1AE3-A17E-E553-F6A7-244A721398C9}"/>
              </a:ext>
            </a:extLst>
          </p:cNvPr>
          <p:cNvSpPr>
            <a:spLocks noGrp="1"/>
          </p:cNvSpPr>
          <p:nvPr>
            <p:ph type="subTitle" idx="1"/>
          </p:nvPr>
        </p:nvSpPr>
        <p:spPr>
          <a:xfrm>
            <a:off x="1524000" y="4546918"/>
            <a:ext cx="9144000" cy="1655762"/>
          </a:xfrm>
        </p:spPr>
        <p:txBody>
          <a:bodyPr>
            <a:normAutofit fontScale="92500" lnSpcReduction="20000"/>
          </a:bodyPr>
          <a:lstStyle/>
          <a:p>
            <a:r>
              <a:rPr lang="en-US" sz="2000">
                <a:latin typeface="Abadi Extra Light" panose="020B0204020104020204" pitchFamily="34" charset="0"/>
              </a:rPr>
              <a:t>Florian </a:t>
            </a:r>
            <a:r>
              <a:rPr lang="en-US" sz="2000" err="1">
                <a:latin typeface="Abadi Extra Light" panose="020B0204020104020204" pitchFamily="34" charset="0"/>
              </a:rPr>
              <a:t>Mellab</a:t>
            </a:r>
            <a:r>
              <a:rPr lang="en-US" sz="2000">
                <a:latin typeface="Abadi Extra Light" panose="020B0204020104020204" pitchFamily="34" charset="0"/>
              </a:rPr>
              <a:t> and Paloma Tejero Aranguren </a:t>
            </a:r>
          </a:p>
          <a:p>
            <a:endParaRPr lang="en-US" sz="2000">
              <a:latin typeface="Abadi Extra Light" panose="020B0204020104020204" pitchFamily="34" charset="0"/>
            </a:endParaRPr>
          </a:p>
          <a:p>
            <a:r>
              <a:rPr lang="en-US" sz="2000">
                <a:latin typeface="Abadi Extra Light" panose="020B0204020104020204" pitchFamily="34" charset="0"/>
              </a:rPr>
              <a:t>Supervisors:</a:t>
            </a:r>
          </a:p>
          <a:p>
            <a:r>
              <a:rPr lang="en-US" sz="2000">
                <a:latin typeface="Abadi Extra Light" panose="020B0204020104020204" pitchFamily="34" charset="0"/>
              </a:rPr>
              <a:t>Dr. Naomi Murdoch</a:t>
            </a:r>
          </a:p>
          <a:p>
            <a:r>
              <a:rPr lang="en-US" sz="2000">
                <a:latin typeface="Abadi Extra Light" panose="020B0204020104020204" pitchFamily="34" charset="0"/>
              </a:rPr>
              <a:t>Alice Amsili</a:t>
            </a:r>
          </a:p>
        </p:txBody>
      </p:sp>
      <p:cxnSp>
        <p:nvCxnSpPr>
          <p:cNvPr id="4" name="Conector recto 3">
            <a:extLst>
              <a:ext uri="{FF2B5EF4-FFF2-40B4-BE49-F238E27FC236}">
                <a16:creationId xmlns:a16="http://schemas.microsoft.com/office/drawing/2014/main" id="{17192A62-1122-2E65-6A2C-8B5E1C781236}"/>
              </a:ext>
            </a:extLst>
          </p:cNvPr>
          <p:cNvCxnSpPr>
            <a:cxnSpLocks/>
          </p:cNvCxnSpPr>
          <p:nvPr/>
        </p:nvCxnSpPr>
        <p:spPr>
          <a:xfrm>
            <a:off x="2840735" y="4089718"/>
            <a:ext cx="6510528" cy="0"/>
          </a:xfrm>
          <a:prstGeom prst="line">
            <a:avLst/>
          </a:prstGeom>
        </p:spPr>
        <p:style>
          <a:lnRef idx="2">
            <a:schemeClr val="dk1"/>
          </a:lnRef>
          <a:fillRef idx="0">
            <a:schemeClr val="dk1"/>
          </a:fillRef>
          <a:effectRef idx="1">
            <a:schemeClr val="dk1"/>
          </a:effectRef>
          <a:fontRef idx="minor">
            <a:schemeClr val="tx1"/>
          </a:fontRef>
        </p:style>
      </p:cxnSp>
      <p:sp>
        <p:nvSpPr>
          <p:cNvPr id="5" name="CuadroTexto 4">
            <a:extLst>
              <a:ext uri="{FF2B5EF4-FFF2-40B4-BE49-F238E27FC236}">
                <a16:creationId xmlns:a16="http://schemas.microsoft.com/office/drawing/2014/main" id="{51207F5A-DAD4-4BE9-011D-33C4E37FB8D1}"/>
              </a:ext>
            </a:extLst>
          </p:cNvPr>
          <p:cNvSpPr txBox="1"/>
          <p:nvPr/>
        </p:nvSpPr>
        <p:spPr>
          <a:xfrm>
            <a:off x="4246454" y="287925"/>
            <a:ext cx="3699090" cy="369332"/>
          </a:xfrm>
          <a:prstGeom prst="rect">
            <a:avLst/>
          </a:prstGeom>
          <a:noFill/>
        </p:spPr>
        <p:txBody>
          <a:bodyPr wrap="none" rtlCol="0">
            <a:spAutoFit/>
          </a:bodyPr>
          <a:lstStyle/>
          <a:p>
            <a:r>
              <a:rPr lang="en-US" b="1">
                <a:latin typeface="Abadi Extra Light" panose="020B0204020104020204" pitchFamily="34" charset="0"/>
              </a:rPr>
              <a:t>MASTER in AEROSPACE ENGINEERING</a:t>
            </a:r>
          </a:p>
        </p:txBody>
      </p:sp>
      <p:sp>
        <p:nvSpPr>
          <p:cNvPr id="6" name="CuadroTexto 5">
            <a:extLst>
              <a:ext uri="{FF2B5EF4-FFF2-40B4-BE49-F238E27FC236}">
                <a16:creationId xmlns:a16="http://schemas.microsoft.com/office/drawing/2014/main" id="{5209F56D-7281-4C19-2FA4-DD87A600C928}"/>
              </a:ext>
            </a:extLst>
          </p:cNvPr>
          <p:cNvSpPr txBox="1"/>
          <p:nvPr/>
        </p:nvSpPr>
        <p:spPr>
          <a:xfrm>
            <a:off x="5250576" y="879160"/>
            <a:ext cx="1690847" cy="369332"/>
          </a:xfrm>
          <a:prstGeom prst="rect">
            <a:avLst/>
          </a:prstGeom>
          <a:noFill/>
        </p:spPr>
        <p:txBody>
          <a:bodyPr wrap="none" rtlCol="0">
            <a:spAutoFit/>
          </a:bodyPr>
          <a:lstStyle/>
          <a:p>
            <a:r>
              <a:rPr lang="en-US" i="1">
                <a:latin typeface="Abadi Extra Light" panose="020B0204020104020204" pitchFamily="34" charset="0"/>
              </a:rPr>
              <a:t>Research Project</a:t>
            </a:r>
          </a:p>
        </p:txBody>
      </p:sp>
      <p:pic>
        <p:nvPicPr>
          <p:cNvPr id="1026" name="Picture 2">
            <a:extLst>
              <a:ext uri="{FF2B5EF4-FFF2-40B4-BE49-F238E27FC236}">
                <a16:creationId xmlns:a16="http://schemas.microsoft.com/office/drawing/2014/main" id="{80B7B860-2728-FA05-CD3B-DFB5D619C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 y="581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o 6">
            <a:extLst>
              <a:ext uri="{FF2B5EF4-FFF2-40B4-BE49-F238E27FC236}">
                <a16:creationId xmlns:a16="http://schemas.microsoft.com/office/drawing/2014/main" id="{E070771C-6AB0-57F7-18F7-C3B73C95DF7B}"/>
              </a:ext>
            </a:extLst>
          </p:cNvPr>
          <p:cNvGrpSpPr/>
          <p:nvPr/>
        </p:nvGrpSpPr>
        <p:grpSpPr>
          <a:xfrm rot="14969103">
            <a:off x="9892742" y="-1315570"/>
            <a:ext cx="2534856" cy="2631139"/>
            <a:chOff x="10176075" y="4523784"/>
            <a:chExt cx="2534856" cy="2631139"/>
          </a:xfrm>
        </p:grpSpPr>
        <p:sp>
          <p:nvSpPr>
            <p:cNvPr id="8" name="Triángulo isósceles 7">
              <a:extLst>
                <a:ext uri="{FF2B5EF4-FFF2-40B4-BE49-F238E27FC236}">
                  <a16:creationId xmlns:a16="http://schemas.microsoft.com/office/drawing/2014/main" id="{4E1156D0-4A89-F17B-CD42-073F285248AA}"/>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46D69D87-5435-7A2F-F46B-B61C735E5119}"/>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3978427D-4B55-4455-55C0-D591B5DB05C5}"/>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457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7C73-2D39-7F3C-8AA5-21368221FAB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B02841B-1AE4-A167-F6A8-814529106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EFCF460D-B152-326F-F7BA-C05A955D1541}"/>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FCBA966E-555C-43B0-005E-C3D3AE6B1116}"/>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33211428-FCFD-6782-ED5E-42C6E74B7547}"/>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2799812F-2A20-E1C1-2192-737CB2FB29C4}"/>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2BE41026-0D2A-7843-8B73-5D849000D50B}"/>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Regolith properties from sinkage</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5B74C2EA-DD2E-BF71-A0B4-C133BABAF576}"/>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167325C4-0E51-0EB1-1410-224157032E97}"/>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24</a:t>
            </a:fld>
            <a:endParaRPr lang="en-US">
              <a:solidFill>
                <a:schemeClr val="tx1"/>
              </a:solidFill>
            </a:endParaRPr>
          </a:p>
        </p:txBody>
      </p:sp>
      <p:sp>
        <p:nvSpPr>
          <p:cNvPr id="12" name="Marcador de contenido 2">
            <a:extLst>
              <a:ext uri="{FF2B5EF4-FFF2-40B4-BE49-F238E27FC236}">
                <a16:creationId xmlns:a16="http://schemas.microsoft.com/office/drawing/2014/main" id="{3CD2DD9A-6700-BA38-63C4-3A8FE33E0B3A}"/>
              </a:ext>
            </a:extLst>
          </p:cNvPr>
          <p:cNvSpPr>
            <a:spLocks noGrp="1"/>
          </p:cNvSpPr>
          <p:nvPr>
            <p:ph idx="1"/>
          </p:nvPr>
        </p:nvSpPr>
        <p:spPr>
          <a:xfrm>
            <a:off x="399467" y="1847754"/>
            <a:ext cx="9223205" cy="4351338"/>
          </a:xfrm>
        </p:spPr>
        <p:txBody>
          <a:bodyPr/>
          <a:lstStyle/>
          <a:p>
            <a:r>
              <a:rPr lang="en-US">
                <a:latin typeface="Abadi Extra Light" panose="020B0204020104020204" pitchFamily="34" charset="0"/>
              </a:rPr>
              <a:t>Key parameters: Cohesion, internal friction angle, shear strength and stiffness</a:t>
            </a:r>
          </a:p>
          <a:p>
            <a:r>
              <a:rPr lang="en-US">
                <a:latin typeface="Abadi Extra Light" panose="020B0204020104020204" pitchFamily="34" charset="0"/>
              </a:rPr>
              <a:t>Modeling approach: Semi-empirical </a:t>
            </a:r>
            <a:r>
              <a:rPr lang="en-US" err="1">
                <a:latin typeface="Abadi Extra Light" panose="020B0204020104020204" pitchFamily="34" charset="0"/>
              </a:rPr>
              <a:t>terramechanics</a:t>
            </a:r>
            <a:r>
              <a:rPr lang="en-US">
                <a:latin typeface="Abadi Extra Light" panose="020B0204020104020204" pitchFamily="34" charset="0"/>
              </a:rPr>
              <a:t> models (Bekker and Reece-Wong models)</a:t>
            </a:r>
          </a:p>
          <a:p>
            <a:r>
              <a:rPr lang="en-US">
                <a:latin typeface="Abadi Extra Light" panose="020B0204020104020204" pitchFamily="34" charset="0"/>
              </a:rPr>
              <a:t>Important to adapt models to low-gravity conditions</a:t>
            </a:r>
          </a:p>
          <a:p>
            <a:r>
              <a:rPr lang="en-US">
                <a:latin typeface="Abadi Extra Light" panose="020B0204020104020204" pitchFamily="34" charset="0"/>
              </a:rPr>
              <a:t>Fit sinkage and slip data</a:t>
            </a:r>
          </a:p>
          <a:p>
            <a:r>
              <a:rPr lang="en-US">
                <a:latin typeface="Abadi Extra Light" panose="020B0204020104020204" pitchFamily="34" charset="0"/>
              </a:rPr>
              <a:t>Bearing capacity: independently from rover trench morphology and sinkage analysis</a:t>
            </a:r>
          </a:p>
        </p:txBody>
      </p:sp>
    </p:spTree>
    <p:extLst>
      <p:ext uri="{BB962C8B-B14F-4D97-AF65-F5344CB8AC3E}">
        <p14:creationId xmlns:p14="http://schemas.microsoft.com/office/powerpoint/2010/main" val="2847641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00DEF-2FDF-6E63-B217-17418EE4717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0D1E9FC-2677-EDFF-92D1-EFCE37878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3AC83677-1888-34B1-173C-37032FE42407}"/>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F79B2E40-C13D-5ACE-B23F-114BA39941E7}"/>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EDA4A6AB-6F85-D257-753B-7FF42CCF46A9}"/>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FBD57B46-ABDC-CACA-9067-97AEA5844E68}"/>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28E01375-42A0-6D7A-1604-4153F3FCD3FE}"/>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Camera sensitivity</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B2FCC27E-523A-BAD9-C7F9-47914284A31F}"/>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0CB20302-361B-C1B9-9BE2-A6D38652D061}"/>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25</a:t>
            </a:fld>
            <a:endParaRPr lang="en-US">
              <a:solidFill>
                <a:schemeClr val="tx1"/>
              </a:solidFill>
            </a:endParaRPr>
          </a:p>
        </p:txBody>
      </p:sp>
      <p:pic>
        <p:nvPicPr>
          <p:cNvPr id="5" name="Imagen 4" descr="Gráfico, Gráfico de líneas&#10;&#10;El contenido generado por IA puede ser incorrecto.">
            <a:extLst>
              <a:ext uri="{FF2B5EF4-FFF2-40B4-BE49-F238E27FC236}">
                <a16:creationId xmlns:a16="http://schemas.microsoft.com/office/drawing/2014/main" id="{75730E3B-9869-58C0-E5EB-0B253AA157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773" y="1056438"/>
            <a:ext cx="9205027" cy="5430966"/>
          </a:xfrm>
          <a:prstGeom prst="rect">
            <a:avLst/>
          </a:prstGeom>
        </p:spPr>
      </p:pic>
    </p:spTree>
    <p:extLst>
      <p:ext uri="{BB962C8B-B14F-4D97-AF65-F5344CB8AC3E}">
        <p14:creationId xmlns:p14="http://schemas.microsoft.com/office/powerpoint/2010/main" val="3580894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7A4ED-D8F1-F1AE-7397-C4C7F56B46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C33AF074-80AF-1C6E-5842-40C401EF6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F0A73BBA-07CE-5243-724D-8B74A55631F6}"/>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A7AF1B59-6293-F3C1-87D6-13E358E5E807}"/>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8F6C2A98-4195-EFAA-498F-50C152D801CF}"/>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14D290B0-A7F2-E19D-1129-4AB7A5319F4F}"/>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BDF78BD5-827C-9597-FA1D-5B29A1BC6509}"/>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Numerical Results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A6716C0D-631F-14E1-C537-DB3099875660}"/>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9C160690-8960-5D72-B4FB-6570A2E110AB}"/>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26</a:t>
            </a:fld>
            <a:endParaRPr lang="en-US">
              <a:solidFill>
                <a:schemeClr val="tx1"/>
              </a:solidFill>
            </a:endParaRPr>
          </a:p>
        </p:txBody>
      </p:sp>
      <p:pic>
        <p:nvPicPr>
          <p:cNvPr id="7" name="Imagen 6">
            <a:extLst>
              <a:ext uri="{FF2B5EF4-FFF2-40B4-BE49-F238E27FC236}">
                <a16:creationId xmlns:a16="http://schemas.microsoft.com/office/drawing/2014/main" id="{78DC2614-9562-1AA1-2EB0-A05F32CF4C1C}"/>
              </a:ext>
            </a:extLst>
          </p:cNvPr>
          <p:cNvPicPr>
            <a:picLocks noChangeAspect="1"/>
          </p:cNvPicPr>
          <p:nvPr/>
        </p:nvPicPr>
        <p:blipFill>
          <a:blip r:embed="rId4"/>
          <a:stretch>
            <a:fillRect/>
          </a:stretch>
        </p:blipFill>
        <p:spPr>
          <a:xfrm>
            <a:off x="811104" y="2777081"/>
            <a:ext cx="4754861" cy="1689881"/>
          </a:xfrm>
          <a:prstGeom prst="rect">
            <a:avLst/>
          </a:prstGeom>
        </p:spPr>
      </p:pic>
      <p:pic>
        <p:nvPicPr>
          <p:cNvPr id="16" name="Imagen 15">
            <a:extLst>
              <a:ext uri="{FF2B5EF4-FFF2-40B4-BE49-F238E27FC236}">
                <a16:creationId xmlns:a16="http://schemas.microsoft.com/office/drawing/2014/main" id="{073C35B1-0D5C-E444-22C6-D124D35F7233}"/>
              </a:ext>
            </a:extLst>
          </p:cNvPr>
          <p:cNvPicPr>
            <a:picLocks noChangeAspect="1"/>
          </p:cNvPicPr>
          <p:nvPr/>
        </p:nvPicPr>
        <p:blipFill>
          <a:blip r:embed="rId5"/>
          <a:stretch>
            <a:fillRect/>
          </a:stretch>
        </p:blipFill>
        <p:spPr>
          <a:xfrm>
            <a:off x="6293995" y="1323675"/>
            <a:ext cx="4264805" cy="4596695"/>
          </a:xfrm>
          <a:prstGeom prst="rect">
            <a:avLst/>
          </a:prstGeom>
        </p:spPr>
      </p:pic>
    </p:spTree>
    <p:extLst>
      <p:ext uri="{BB962C8B-B14F-4D97-AF65-F5344CB8AC3E}">
        <p14:creationId xmlns:p14="http://schemas.microsoft.com/office/powerpoint/2010/main" val="140100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28CAD-934E-316F-FCDD-FF3FA83525EF}"/>
            </a:ext>
          </a:extLst>
        </p:cNvPr>
        <p:cNvGrpSpPr/>
        <p:nvPr/>
      </p:nvGrpSpPr>
      <p:grpSpPr>
        <a:xfrm>
          <a:off x="0" y="0"/>
          <a:ext cx="0" cy="0"/>
          <a:chOff x="0" y="0"/>
          <a:chExt cx="0" cy="0"/>
        </a:xfrm>
      </p:grpSpPr>
      <p:pic>
        <p:nvPicPr>
          <p:cNvPr id="12" name="Imagen 11" descr="Gráfico, Gráfico de dispersión&#10;&#10;El contenido generado por IA puede ser incorrecto.">
            <a:extLst>
              <a:ext uri="{FF2B5EF4-FFF2-40B4-BE49-F238E27FC236}">
                <a16:creationId xmlns:a16="http://schemas.microsoft.com/office/drawing/2014/main" id="{501485AE-8348-BE50-CD79-F70D159D3578}"/>
              </a:ext>
            </a:extLst>
          </p:cNvPr>
          <p:cNvPicPr>
            <a:picLocks noChangeAspect="1"/>
          </p:cNvPicPr>
          <p:nvPr/>
        </p:nvPicPr>
        <p:blipFill>
          <a:blip r:embed="rId3">
            <a:extLst>
              <a:ext uri="{28A0092B-C50C-407E-A947-70E740481C1C}">
                <a14:useLocalDpi xmlns:a14="http://schemas.microsoft.com/office/drawing/2010/main" val="0"/>
              </a:ext>
            </a:extLst>
          </a:blip>
          <a:srcRect l="6011" r="8007"/>
          <a:stretch>
            <a:fillRect/>
          </a:stretch>
        </p:blipFill>
        <p:spPr>
          <a:xfrm>
            <a:off x="1716948" y="881061"/>
            <a:ext cx="8918968" cy="6051752"/>
          </a:xfrm>
          <a:prstGeom prst="rect">
            <a:avLst/>
          </a:prstGeom>
        </p:spPr>
      </p:pic>
      <p:pic>
        <p:nvPicPr>
          <p:cNvPr id="2" name="Picture 2">
            <a:extLst>
              <a:ext uri="{FF2B5EF4-FFF2-40B4-BE49-F238E27FC236}">
                <a16:creationId xmlns:a16="http://schemas.microsoft.com/office/drawing/2014/main" id="{B68FAA7F-D4DD-8897-1824-F28BE200A9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0737A9D3-17C1-73CE-D484-192DBB7BE414}"/>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39846612-392C-B44E-FAD0-2058D48CE686}"/>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8617F5A3-05F6-9D3E-5741-9E70D052D06A}"/>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CA5F5347-0EC1-3816-0CDF-60C16B41C6B9}"/>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5459F7B0-9E80-D8BE-BA0A-84304058A9A7}"/>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Per LED Analysis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9E927B87-A01C-71BB-7B1E-5B9EA83AFD04}"/>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78FC55D5-01F8-149F-9670-622AA9CD864D}"/>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27</a:t>
            </a:fld>
            <a:endParaRPr lang="en-US">
              <a:solidFill>
                <a:schemeClr val="tx1"/>
              </a:solidFill>
            </a:endParaRPr>
          </a:p>
        </p:txBody>
      </p:sp>
    </p:spTree>
    <p:extLst>
      <p:ext uri="{BB962C8B-B14F-4D97-AF65-F5344CB8AC3E}">
        <p14:creationId xmlns:p14="http://schemas.microsoft.com/office/powerpoint/2010/main" val="3959881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3543-38E7-BFBA-D45C-9513B5594FD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03632DC-6F71-CF38-9970-146F502BF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5364BB7A-0592-2B8D-DD54-B9052C348E93}"/>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1E687281-49C3-888F-23A3-A4B9495CF65D}"/>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6BE2A514-077E-A04E-D201-4739A6AA718C}"/>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3054C54B-7821-8A2F-F63B-9C92989D844C}"/>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2EF3ED2E-886B-DD61-585A-D3F4335BB2D3}"/>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Per LED Analysis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55AD6296-B350-5F62-47C8-6DF46548D043}"/>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3C1D4BF6-8008-31E5-C058-42C8CABF9671}"/>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28</a:t>
            </a:fld>
            <a:endParaRPr lang="en-US">
              <a:solidFill>
                <a:schemeClr val="tx1"/>
              </a:solidFill>
            </a:endParaRPr>
          </a:p>
        </p:txBody>
      </p:sp>
      <p:pic>
        <p:nvPicPr>
          <p:cNvPr id="5" name="Imagen 4" descr="Gráfico, Gráfico de dispersión&#10;&#10;El contenido generado por IA puede ser incorrecto.">
            <a:extLst>
              <a:ext uri="{FF2B5EF4-FFF2-40B4-BE49-F238E27FC236}">
                <a16:creationId xmlns:a16="http://schemas.microsoft.com/office/drawing/2014/main" id="{42CC9723-D4FD-B56E-47DB-C4F53FAC31E5}"/>
              </a:ext>
            </a:extLst>
          </p:cNvPr>
          <p:cNvPicPr>
            <a:picLocks noChangeAspect="1"/>
          </p:cNvPicPr>
          <p:nvPr/>
        </p:nvPicPr>
        <p:blipFill>
          <a:blip r:embed="rId4">
            <a:extLst>
              <a:ext uri="{28A0092B-C50C-407E-A947-70E740481C1C}">
                <a14:useLocalDpi xmlns:a14="http://schemas.microsoft.com/office/drawing/2010/main" val="0"/>
              </a:ext>
            </a:extLst>
          </a:blip>
          <a:srcRect l="5059" r="7195"/>
          <a:stretch>
            <a:fillRect/>
          </a:stretch>
        </p:blipFill>
        <p:spPr>
          <a:xfrm>
            <a:off x="1716948" y="833882"/>
            <a:ext cx="8902926" cy="5981700"/>
          </a:xfrm>
          <a:prstGeom prst="rect">
            <a:avLst/>
          </a:prstGeom>
        </p:spPr>
      </p:pic>
    </p:spTree>
    <p:extLst>
      <p:ext uri="{BB962C8B-B14F-4D97-AF65-F5344CB8AC3E}">
        <p14:creationId xmlns:p14="http://schemas.microsoft.com/office/powerpoint/2010/main" val="1857593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2F763-4D2C-1FD6-8062-EF316744ED1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367AA2B-0FC4-ED1A-65AC-1D4B4936A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521353ED-ADE6-FD2A-C61D-181D3F4905EC}"/>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DD62EA5C-9C7E-EAF4-6F65-0BFBCD0B5879}"/>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5959455F-C924-D850-2E75-C51F2214E0EF}"/>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8F15F3E8-4A16-5D96-F1BD-987031B70B37}"/>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1911D066-AF65-9EF0-16DE-C9B02AA22479}"/>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Per LED Analysis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E28E9E30-EEB5-C8BC-D24C-FD2EC6A57C99}"/>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47D140B3-1091-AD48-91B8-704AD9CB9EFD}"/>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29</a:t>
            </a:fld>
            <a:endParaRPr lang="en-US">
              <a:solidFill>
                <a:schemeClr val="tx1"/>
              </a:solidFill>
            </a:endParaRPr>
          </a:p>
        </p:txBody>
      </p:sp>
      <p:pic>
        <p:nvPicPr>
          <p:cNvPr id="5" name="Imagen 4" descr="Gráfico, Gráfico de dispersión&#10;&#10;El contenido generado por IA puede ser incorrecto.">
            <a:extLst>
              <a:ext uri="{FF2B5EF4-FFF2-40B4-BE49-F238E27FC236}">
                <a16:creationId xmlns:a16="http://schemas.microsoft.com/office/drawing/2014/main" id="{1D52A1A6-5F42-A2B3-BF08-11A0E1F7C313}"/>
              </a:ext>
            </a:extLst>
          </p:cNvPr>
          <p:cNvPicPr>
            <a:picLocks noChangeAspect="1"/>
          </p:cNvPicPr>
          <p:nvPr/>
        </p:nvPicPr>
        <p:blipFill>
          <a:blip r:embed="rId4">
            <a:extLst>
              <a:ext uri="{28A0092B-C50C-407E-A947-70E740481C1C}">
                <a14:useLocalDpi xmlns:a14="http://schemas.microsoft.com/office/drawing/2010/main" val="0"/>
              </a:ext>
            </a:extLst>
          </a:blip>
          <a:srcRect l="3968" r="6432"/>
          <a:stretch>
            <a:fillRect/>
          </a:stretch>
        </p:blipFill>
        <p:spPr>
          <a:xfrm>
            <a:off x="1595500" y="1006475"/>
            <a:ext cx="8960205" cy="5715000"/>
          </a:xfrm>
          <a:prstGeom prst="rect">
            <a:avLst/>
          </a:prstGeom>
        </p:spPr>
      </p:pic>
    </p:spTree>
    <p:extLst>
      <p:ext uri="{BB962C8B-B14F-4D97-AF65-F5344CB8AC3E}">
        <p14:creationId xmlns:p14="http://schemas.microsoft.com/office/powerpoint/2010/main" val="2848689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07F4-3E8D-89EF-75FC-5B5DC7BD4B0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F9AFDE1-67BE-5F3B-9574-5CC3D329A4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0B0C0AB4-9B8A-40D7-D703-0F50C307E76B}"/>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5D0E7B20-4538-6C49-36CF-B77BD0C025FB}"/>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537DF2D8-51D7-9AB1-6564-B6D0EC38848D}"/>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F89E2699-AC08-FB32-3E3A-CD2732EC60B8}"/>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F1CE5A74-6137-B1F5-B8E0-3CF69582FA4B}"/>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Assumptions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627BF3AB-0988-D532-A0B0-35847160293F}"/>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CC3D1C53-B082-BC2C-D95D-A1A3233FD1BE}"/>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30</a:t>
            </a:fld>
            <a:endParaRPr lang="en-US">
              <a:solidFill>
                <a:schemeClr val="tx1"/>
              </a:solidFill>
            </a:endParaRPr>
          </a:p>
        </p:txBody>
      </p:sp>
      <p:sp>
        <p:nvSpPr>
          <p:cNvPr id="5" name="CuadroTexto 4">
            <a:extLst>
              <a:ext uri="{FF2B5EF4-FFF2-40B4-BE49-F238E27FC236}">
                <a16:creationId xmlns:a16="http://schemas.microsoft.com/office/drawing/2014/main" id="{A1464E02-5591-8406-DBDF-C0B165F75DED}"/>
              </a:ext>
            </a:extLst>
          </p:cNvPr>
          <p:cNvSpPr txBox="1"/>
          <p:nvPr/>
        </p:nvSpPr>
        <p:spPr>
          <a:xfrm>
            <a:off x="1018468" y="1278037"/>
            <a:ext cx="9842037" cy="3785652"/>
          </a:xfrm>
          <a:prstGeom prst="rect">
            <a:avLst/>
          </a:prstGeom>
          <a:noFill/>
        </p:spPr>
        <p:txBody>
          <a:bodyPr wrap="square">
            <a:spAutoFit/>
          </a:bodyPr>
          <a:lstStyle/>
          <a:p>
            <a:pPr marL="342900" indent="-342900">
              <a:buFont typeface="Arial" panose="020B0604020202020204" pitchFamily="34" charset="0"/>
              <a:buChar char="•"/>
            </a:pPr>
            <a:r>
              <a:rPr lang="en-US" sz="2400">
                <a:latin typeface="Abadi Extra Light" panose="020B0204020104020204" pitchFamily="34" charset="0"/>
              </a:rPr>
              <a:t>Each LED was assumed to emit light at a single narrow wavelength, despite its known slight variation. </a:t>
            </a:r>
          </a:p>
          <a:p>
            <a:pPr marL="342900" indent="-342900">
              <a:buFont typeface="Arial" panose="020B0604020202020204" pitchFamily="34" charset="0"/>
              <a:buChar char="•"/>
            </a:pPr>
            <a:r>
              <a:rPr lang="en-US" sz="2400">
                <a:latin typeface="Abadi Extra Light" panose="020B0204020104020204" pitchFamily="34" charset="0"/>
              </a:rPr>
              <a:t>The sensitivity factor of the camera was assumed to be constant for each LED wavelength and assumed to have been corrected in the cameras calibration through the spectral response values provided by the manufacturer. </a:t>
            </a:r>
          </a:p>
          <a:p>
            <a:pPr marL="342900" indent="-342900">
              <a:buFont typeface="Arial" panose="020B0604020202020204" pitchFamily="34" charset="0"/>
              <a:buChar char="•"/>
            </a:pPr>
            <a:r>
              <a:rPr lang="en-US" sz="2400">
                <a:latin typeface="Abadi Extra Light" panose="020B0204020104020204" pitchFamily="34" charset="0"/>
              </a:rPr>
              <a:t>Assumed that the selected point, identified by the spectrometer's laser receives approximately equal and sufficient illumination from all LEDs. </a:t>
            </a:r>
          </a:p>
          <a:p>
            <a:pPr marL="342900" indent="-342900">
              <a:buFont typeface="Arial" panose="020B0604020202020204" pitchFamily="34" charset="0"/>
              <a:buChar char="•"/>
            </a:pPr>
            <a:r>
              <a:rPr lang="en-US" sz="2400">
                <a:latin typeface="Abadi Extra Light" panose="020B0204020104020204" pitchFamily="34" charset="0"/>
              </a:rPr>
              <a:t>Main assumption is that there is a linear relationship between image brightness and material reflectance. This is reasonable for our simplified model, but it may not hold in more complex or uncontrolled conditions. </a:t>
            </a:r>
          </a:p>
        </p:txBody>
      </p:sp>
    </p:spTree>
    <p:extLst>
      <p:ext uri="{BB962C8B-B14F-4D97-AF65-F5344CB8AC3E}">
        <p14:creationId xmlns:p14="http://schemas.microsoft.com/office/powerpoint/2010/main" val="366019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5A08E-2D84-6B98-A38F-3AE8C063F3AB}"/>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9FFB42C-067F-4297-C2B1-A88D50876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88" y="42418"/>
            <a:ext cx="1483360" cy="899287"/>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
            <a:extLst>
              <a:ext uri="{FF2B5EF4-FFF2-40B4-BE49-F238E27FC236}">
                <a16:creationId xmlns:a16="http://schemas.microsoft.com/office/drawing/2014/main" id="{7CE227A6-B8A7-E17D-69E2-A8A7FBB92140}"/>
              </a:ext>
            </a:extLst>
          </p:cNvPr>
          <p:cNvGrpSpPr/>
          <p:nvPr/>
        </p:nvGrpSpPr>
        <p:grpSpPr>
          <a:xfrm rot="14969103">
            <a:off x="9892743" y="-1315570"/>
            <a:ext cx="2534856" cy="2631139"/>
            <a:chOff x="10176075" y="4523784"/>
            <a:chExt cx="2534856" cy="2631139"/>
          </a:xfrm>
        </p:grpSpPr>
        <p:sp>
          <p:nvSpPr>
            <p:cNvPr id="6" name="Triángulo isósceles 5">
              <a:extLst>
                <a:ext uri="{FF2B5EF4-FFF2-40B4-BE49-F238E27FC236}">
                  <a16:creationId xmlns:a16="http://schemas.microsoft.com/office/drawing/2014/main" id="{A322F096-E5D9-7EB6-55CD-D7BCAB55F8DA}"/>
                </a:ext>
              </a:extLst>
            </p:cNvPr>
            <p:cNvSpPr/>
            <p:nvPr/>
          </p:nvSpPr>
          <p:spPr>
            <a:xfrm rot="577482">
              <a:off x="10253250" y="4523784"/>
              <a:ext cx="1875099" cy="2534856"/>
            </a:xfrm>
            <a:prstGeom prst="triangle">
              <a:avLst/>
            </a:prstGeom>
            <a:solidFill>
              <a:srgbClr val="F7EB03"/>
            </a:solidFill>
            <a:ln>
              <a:solidFill>
                <a:srgbClr val="F7EB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ángulo isósceles 8">
              <a:extLst>
                <a:ext uri="{FF2B5EF4-FFF2-40B4-BE49-F238E27FC236}">
                  <a16:creationId xmlns:a16="http://schemas.microsoft.com/office/drawing/2014/main" id="{5C484DA2-36E0-6C66-5530-0751700C3ABF}"/>
                </a:ext>
              </a:extLst>
            </p:cNvPr>
            <p:cNvSpPr/>
            <p:nvPr/>
          </p:nvSpPr>
          <p:spPr>
            <a:xfrm rot="2347628">
              <a:off x="10740552" y="4620067"/>
              <a:ext cx="1875099" cy="2534856"/>
            </a:xfrm>
            <a:prstGeom prst="triangle">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ángulo isósceles 9">
              <a:extLst>
                <a:ext uri="{FF2B5EF4-FFF2-40B4-BE49-F238E27FC236}">
                  <a16:creationId xmlns:a16="http://schemas.microsoft.com/office/drawing/2014/main" id="{1E9427E4-49AC-D1BB-8DD7-76B8EB441919}"/>
                </a:ext>
              </a:extLst>
            </p:cNvPr>
            <p:cNvSpPr/>
            <p:nvPr/>
          </p:nvSpPr>
          <p:spPr>
            <a:xfrm rot="18104676">
              <a:off x="10505953" y="4381672"/>
              <a:ext cx="1875099" cy="2534856"/>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ítulo 1">
            <a:extLst>
              <a:ext uri="{FF2B5EF4-FFF2-40B4-BE49-F238E27FC236}">
                <a16:creationId xmlns:a16="http://schemas.microsoft.com/office/drawing/2014/main" id="{517C412D-50E0-5019-9920-DA5E81929921}"/>
              </a:ext>
            </a:extLst>
          </p:cNvPr>
          <p:cNvSpPr txBox="1">
            <a:spLocks/>
          </p:cNvSpPr>
          <p:nvPr/>
        </p:nvSpPr>
        <p:spPr>
          <a:xfrm>
            <a:off x="2840736" y="200042"/>
            <a:ext cx="6510528" cy="3128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latin typeface="Abadi Extra Light" panose="020B0204020104020204" pitchFamily="34" charset="0"/>
              </a:rPr>
              <a:t>Limitations</a:t>
            </a:r>
            <a:endParaRPr lang="en-US" sz="3200">
              <a:latin typeface="Abadi Extra Light" panose="020B0204020104020204" pitchFamily="34" charset="0"/>
            </a:endParaRPr>
          </a:p>
        </p:txBody>
      </p:sp>
      <p:cxnSp>
        <p:nvCxnSpPr>
          <p:cNvPr id="14" name="Conector recto 13">
            <a:extLst>
              <a:ext uri="{FF2B5EF4-FFF2-40B4-BE49-F238E27FC236}">
                <a16:creationId xmlns:a16="http://schemas.microsoft.com/office/drawing/2014/main" id="{E2FE2EE8-EE59-9CF6-CA83-5BD4BDD643C2}"/>
              </a:ext>
            </a:extLst>
          </p:cNvPr>
          <p:cNvCxnSpPr>
            <a:cxnSpLocks/>
          </p:cNvCxnSpPr>
          <p:nvPr/>
        </p:nvCxnSpPr>
        <p:spPr>
          <a:xfrm>
            <a:off x="2840736" y="680286"/>
            <a:ext cx="6510528" cy="0"/>
          </a:xfrm>
          <a:prstGeom prst="line">
            <a:avLst/>
          </a:prstGeom>
        </p:spPr>
        <p:style>
          <a:lnRef idx="2">
            <a:schemeClr val="dk1"/>
          </a:lnRef>
          <a:fillRef idx="0">
            <a:schemeClr val="dk1"/>
          </a:fillRef>
          <a:effectRef idx="1">
            <a:schemeClr val="dk1"/>
          </a:effectRef>
          <a:fontRef idx="minor">
            <a:schemeClr val="tx1"/>
          </a:fontRef>
        </p:style>
      </p:cxnSp>
      <p:sp>
        <p:nvSpPr>
          <p:cNvPr id="8" name="Slide Number Placeholder 7">
            <a:extLst>
              <a:ext uri="{FF2B5EF4-FFF2-40B4-BE49-F238E27FC236}">
                <a16:creationId xmlns:a16="http://schemas.microsoft.com/office/drawing/2014/main" id="{5EABF5AF-B4F9-C516-BEA9-F44A43BC479D}"/>
              </a:ext>
            </a:extLst>
          </p:cNvPr>
          <p:cNvSpPr>
            <a:spLocks noGrp="1"/>
          </p:cNvSpPr>
          <p:nvPr>
            <p:ph type="sldNum" sz="quarter" idx="12"/>
          </p:nvPr>
        </p:nvSpPr>
        <p:spPr>
          <a:xfrm>
            <a:off x="9187200" y="6356350"/>
            <a:ext cx="2743200" cy="365125"/>
          </a:xfrm>
        </p:spPr>
        <p:txBody>
          <a:bodyPr/>
          <a:lstStyle/>
          <a:p>
            <a:fld id="{44FB0107-420B-4DF9-9FAA-9FA8A7FAF6E3}" type="slidenum">
              <a:rPr lang="en-US" smtClean="0">
                <a:solidFill>
                  <a:schemeClr val="tx1"/>
                </a:solidFill>
              </a:rPr>
              <a:t>31</a:t>
            </a:fld>
            <a:endParaRPr lang="en-US">
              <a:solidFill>
                <a:schemeClr val="tx1"/>
              </a:solidFill>
            </a:endParaRPr>
          </a:p>
        </p:txBody>
      </p:sp>
      <p:sp>
        <p:nvSpPr>
          <p:cNvPr id="5" name="CuadroTexto 4">
            <a:extLst>
              <a:ext uri="{FF2B5EF4-FFF2-40B4-BE49-F238E27FC236}">
                <a16:creationId xmlns:a16="http://schemas.microsoft.com/office/drawing/2014/main" id="{53C747F1-2F8E-28E7-D240-AB0703FD3232}"/>
              </a:ext>
            </a:extLst>
          </p:cNvPr>
          <p:cNvSpPr txBox="1"/>
          <p:nvPr/>
        </p:nvSpPr>
        <p:spPr>
          <a:xfrm>
            <a:off x="1018468" y="1278037"/>
            <a:ext cx="9842037" cy="3785652"/>
          </a:xfrm>
          <a:prstGeom prst="rect">
            <a:avLst/>
          </a:prstGeom>
          <a:noFill/>
        </p:spPr>
        <p:txBody>
          <a:bodyPr wrap="square">
            <a:spAutoFit/>
          </a:bodyPr>
          <a:lstStyle/>
          <a:p>
            <a:pPr marL="342900" indent="-342900">
              <a:buFont typeface="Arial" panose="020B0604020202020204" pitchFamily="34" charset="0"/>
              <a:buChar char="•"/>
            </a:pPr>
            <a:r>
              <a:rPr lang="en-US" sz="2400">
                <a:latin typeface="Abadi Extra Light" panose="020B0204020104020204" pitchFamily="34" charset="0"/>
              </a:rPr>
              <a:t>The samples' reduced reflectance at longer wavelengths, especially under the 880 nm infrared LED, affected the possibility of accurately measure brightness values. </a:t>
            </a:r>
          </a:p>
          <a:p>
            <a:pPr marL="342900" indent="-342900">
              <a:buFont typeface="Arial" panose="020B0604020202020204" pitchFamily="34" charset="0"/>
              <a:buChar char="•"/>
            </a:pPr>
            <a:r>
              <a:rPr lang="en-US" sz="2400">
                <a:latin typeface="Abadi Extra Light" panose="020B0204020104020204" pitchFamily="34" charset="0"/>
              </a:rPr>
              <a:t>Because the samples consisted of smooth colored paper, only a single region of interest was analyzed for each one. Reasonable for homogeneous surfaces.</a:t>
            </a:r>
          </a:p>
          <a:p>
            <a:pPr marL="342900" indent="-342900">
              <a:buFont typeface="Arial" panose="020B0604020202020204" pitchFamily="34" charset="0"/>
              <a:buChar char="•"/>
            </a:pPr>
            <a:r>
              <a:rPr lang="en-US" sz="2400">
                <a:latin typeface="Abadi Extra Light" panose="020B0204020104020204" pitchFamily="34" charset="0"/>
              </a:rPr>
              <a:t>Absence of a calibrated reflectance measurement limited the possibility of absolute material identification. </a:t>
            </a:r>
          </a:p>
          <a:p>
            <a:pPr marL="342900" indent="-342900">
              <a:buFont typeface="Arial" panose="020B0604020202020204" pitchFamily="34" charset="0"/>
              <a:buChar char="•"/>
            </a:pPr>
            <a:r>
              <a:rPr lang="en-US" sz="2400">
                <a:latin typeface="Abadi Extra Light" panose="020B0204020104020204" pitchFamily="34" charset="0"/>
              </a:rPr>
              <a:t>Finally, the number of data points per sample is inherently limited to three (one per LED), which constrains the information obtained and hinders the ability to reliably identify correlations between trends. </a:t>
            </a:r>
          </a:p>
        </p:txBody>
      </p:sp>
    </p:spTree>
    <p:extLst>
      <p:ext uri="{BB962C8B-B14F-4D97-AF65-F5344CB8AC3E}">
        <p14:creationId xmlns:p14="http://schemas.microsoft.com/office/powerpoint/2010/main" val="13285174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d71f32b-c4a3-4f24-b810-05d26ee14cd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F94D195AB9E7447A8F19D4B783219EC" ma:contentTypeVersion="6" ma:contentTypeDescription="Crée un document." ma:contentTypeScope="" ma:versionID="f8c5d739247f007cf774584ce8322ad5">
  <xsd:schema xmlns:xsd="http://www.w3.org/2001/XMLSchema" xmlns:xs="http://www.w3.org/2001/XMLSchema" xmlns:p="http://schemas.microsoft.com/office/2006/metadata/properties" xmlns:ns3="5d71f32b-c4a3-4f24-b810-05d26ee14cd2" targetNamespace="http://schemas.microsoft.com/office/2006/metadata/properties" ma:root="true" ma:fieldsID="fe1878daebf5a8de33eddb5190b787f2" ns3:_="">
    <xsd:import namespace="5d71f32b-c4a3-4f24-b810-05d26ee14cd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71f32b-c4a3-4f24-b810-05d26ee14cd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F4F939-3E0E-4894-8838-624D91810952}">
  <ds:schemaRefs>
    <ds:schemaRef ds:uri="http://schemas.microsoft.com/sharepoint/v3/contenttype/forms"/>
  </ds:schemaRefs>
</ds:datastoreItem>
</file>

<file path=customXml/itemProps2.xml><?xml version="1.0" encoding="utf-8"?>
<ds:datastoreItem xmlns:ds="http://schemas.openxmlformats.org/officeDocument/2006/customXml" ds:itemID="{E5E9F646-94F4-4B70-BEB4-6430EDC7408F}">
  <ds:schemaRefs>
    <ds:schemaRef ds:uri="http://purl.org/dc/elements/1.1/"/>
    <ds:schemaRef ds:uri="http://schemas.microsoft.com/office/infopath/2007/PartnerControls"/>
    <ds:schemaRef ds:uri="5d71f32b-c4a3-4f24-b810-05d26ee14cd2"/>
    <ds:schemaRef ds:uri="http://www.w3.org/XML/1998/namespace"/>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FD401076-6338-46ED-A9CA-FE2FEBA27713}">
  <ds:schemaRefs>
    <ds:schemaRef ds:uri="5d71f32b-c4a3-4f24-b810-05d26ee14c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3905</Words>
  <Application>Microsoft Office PowerPoint</Application>
  <PresentationFormat>Widescreen</PresentationFormat>
  <Paragraphs>549</Paragraphs>
  <Slides>31</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Abadi Extra Light</vt:lpstr>
      <vt:lpstr>Aptos</vt:lpstr>
      <vt:lpstr>Aptos Display</vt:lpstr>
      <vt:lpstr>Arial</vt:lpstr>
      <vt:lpstr>Consolas</vt:lpstr>
      <vt:lpstr>Tema de Office</vt:lpstr>
      <vt:lpstr>Preparing to study the surface of Phobos using IDEFIX WheelCam Images</vt:lpstr>
      <vt:lpstr>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Preparing to study the surface of Phobos using IDEFIX WheelCam Images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Paloma TEJERO-ARANGUREN</dc:creator>
  <cp:lastModifiedBy>Florian MELLAB</cp:lastModifiedBy>
  <cp:revision>2</cp:revision>
  <dcterms:created xsi:type="dcterms:W3CDTF">2025-06-16T12:10:10Z</dcterms:created>
  <dcterms:modified xsi:type="dcterms:W3CDTF">2025-06-23T12:48:58Z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0x0101001F94D195AB9E7447A8F19D4B783219EC</vt:lpwstr>
  </property>
</Properties>
</file>